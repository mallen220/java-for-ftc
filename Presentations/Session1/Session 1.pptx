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68" r:id="rId14"/>
    <p:sldId id="269" r:id="rId15"/>
    <p:sldId id="271" r:id="rId16"/>
    <p:sldId id="272" r:id="rId17"/>
    <p:sldId id="273" r:id="rId18"/>
    <p:sldId id="274" r:id="rId19"/>
    <p:sldId id="270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15" r:id="rId29"/>
    <p:sldId id="316" r:id="rId30"/>
    <p:sldId id="287" r:id="rId31"/>
    <p:sldId id="284" r:id="rId32"/>
    <p:sldId id="311" r:id="rId33"/>
    <p:sldId id="321" r:id="rId34"/>
    <p:sldId id="322" r:id="rId35"/>
    <p:sldId id="285" r:id="rId36"/>
    <p:sldId id="286" r:id="rId37"/>
    <p:sldId id="312" r:id="rId38"/>
    <p:sldId id="319" r:id="rId39"/>
    <p:sldId id="320" r:id="rId40"/>
    <p:sldId id="288" r:id="rId41"/>
    <p:sldId id="289" r:id="rId42"/>
    <p:sldId id="313" r:id="rId43"/>
    <p:sldId id="290" r:id="rId44"/>
    <p:sldId id="314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317" r:id="rId53"/>
    <p:sldId id="299" r:id="rId54"/>
    <p:sldId id="298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8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78"/>
    <p:restoredTop sz="94633"/>
  </p:normalViewPr>
  <p:slideViewPr>
    <p:cSldViewPr snapToGrid="0">
      <p:cViewPr varScale="1">
        <p:scale>
          <a:sx n="116" d="100"/>
          <a:sy n="116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5F4CB-0278-9F44-B9E9-81B157B7B4ED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A2F56-73F2-E24D-8920-A1C8445030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06855-3990-4A92-9C26-81DFE04F3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05939-BF58-B59D-AD9C-1BA816C30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6FED1-8268-3F30-393C-4E53F654F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FEC2F-9E6E-F946-9C69-3B6C525DE0FF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A34BD-529A-0DA1-56FC-492BA4E9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6A6E7-4C78-BA15-769D-ED1A85EBC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4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02CA0-ABDD-CF92-F5BF-E973231D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673C7-65BF-2074-7DDD-D9FFF5B74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43E3A-7086-FAE4-5C2A-C3B8AB629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E1ACD-34BE-AA4B-ACD5-1672EC57E1D8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86422-1D0C-3019-444F-FF708E25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DEE60-0E53-C7BA-BA9A-152966C4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2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FE490-2670-1C39-44A8-BE94171E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05B6C-337C-B060-9D27-4E747BDFA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68E39-EFB5-4954-7735-FB9CAFC9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C0ED-5257-9E4A-BFF2-C26014F0D24E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9E57D-0FFE-3A63-75C0-8E3283E3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CFE24-0F60-B520-D9A6-BD90B30F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24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7381E-0DF0-BAFC-4E8F-3E06BEEF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D8B88-8633-880F-E3F5-3DBB4563A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F9402-D36B-D067-A431-24F497DDC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3CF6A-2D73-5F8E-2752-0241096A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DDCC0-8B6E-614A-B76F-8D957F932626}" type="datetime1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50B20-8CEE-FD3B-96C8-2DC67F56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6A6B1-107C-B592-C23F-36EFD027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96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51A1-905A-DA37-904E-F5D4F0CC0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65CD2-620F-587F-FA66-41ED128C6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DD9F2-0F6A-0452-CE44-CDF44D2C0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D8C24-9E79-220F-D0A0-9EA1B0A5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097047-9C91-207D-E663-A12504676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4D0527-8637-84C2-CDE4-20CCCDADB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9748-401C-2B47-9454-7456364B524B}" type="datetime1">
              <a:rPr lang="en-US" smtClean="0"/>
              <a:t>4/8/25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614B9-7D20-871F-F96C-35391A47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5186E-2AB7-324E-AE3F-246B4085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2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36B9-7C5B-0D2E-AE05-8DB94BED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9B2AF-0DC0-BEFF-81B6-65B58CDC2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3B9D1-482C-EA49-B7D7-44D33DABA1A1}" type="datetime1">
              <a:rPr lang="en-US" smtClean="0"/>
              <a:t>4/8/25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61D39-E8B6-11B1-862F-AF7DA936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FBCC1-4729-1C07-9C49-221D7AF70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1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D9141-6F36-CF8E-0FBE-E4356B428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02CE-140F-F448-9043-77595DF7D7FF}" type="datetime1">
              <a:rPr lang="en-US" smtClean="0"/>
              <a:t>4/8/25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D7328D-A985-46EF-1C0E-67FFACABF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C4240-2307-437D-BC9B-4D05299B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41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E0AA-133E-2A18-B91F-2BA50145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EA981-AE7A-96AD-B9D6-D818CDE40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5D0C3-A75E-41B4-1F6A-C3CD08B84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96029-3CED-1F0A-CC2E-0FB7853D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667F-83E4-E949-9982-2F5B12D86D09}" type="datetime1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7D9E8-B6FD-EB01-DC5C-A2A61177B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CDE32-B248-77E7-C340-04E435C4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15ACF-E119-E2EF-5AF9-E7C562B75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2C2F4-7E9A-F55D-236C-4D2C1131F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23E8F-AA6F-EF64-5389-597CA5E8A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B7ADB-F4FB-6287-993E-B65CD4472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F7725-F5B9-6D4D-BEC8-D188841C7AE7}" type="datetime1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D06DE-1C1E-5CFF-A4EA-98CB0AF64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E1D51-A940-A713-9688-5BB49C21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1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9A71-50C1-5649-961C-F9F547ED7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05845-273F-A518-F262-8BA695932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015FA-36C3-1CD7-B9E3-F92C9D43A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4CBD-DC20-A943-8218-3EA4090BEF4D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EC4C9-8269-4479-62AC-3E8FA8E2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9211E-A92D-6C0E-6531-17519E76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20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2FE97D-14EC-9436-994D-28A57585A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73B45B-E480-2271-5B88-89438E605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2A106-0EF8-4F5A-3E5B-C20DA3AF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7FB8-6074-7D45-BE7B-175B0DF567DF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4818A-10D7-4AB5-B02A-A16D62CC1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D94B8-8E49-435B-6BF0-C40859F20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27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49BEBD-4DE9-EF3C-53A2-D8CC9D33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BEFF1-75A7-57D9-3B95-11252BC0C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6AF33-0EDE-C447-2C60-9EE577496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293C7-F963-2547-AE4C-B4B31A8C0419}" type="datetime1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10DFE-C85D-2A86-EA42-33AE96001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B6072-AD0F-F335-7B50-BBDCA42FB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C6241-0FFB-0A47-90CD-D7CEEB6F0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48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ftc-docs.firstinspires.org/en/latest/programming_resources/android_studio_java/install/install.html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FB11-C0B3-28C9-4732-2B7FD399D7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for FTC 101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708E2-47EC-D5E9-BE11-8EC596E04A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1: Introduction to FTC Programming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2AE80-2BCC-84C5-063E-CE8708D9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344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40AE-5C2B-C142-AF43-18B6122B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57BF1-97C7-8966-417B-45DB1A3E1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Hardware Overview </a:t>
            </a:r>
          </a:p>
          <a:p>
            <a:r>
              <a:rPr lang="en-US" dirty="0"/>
              <a:t>Coding/Java Fundamentals</a:t>
            </a:r>
          </a:p>
          <a:p>
            <a:r>
              <a:rPr lang="en-US" dirty="0"/>
              <a:t>Making Decisions (Logic and their Gates)</a:t>
            </a:r>
          </a:p>
          <a:p>
            <a:r>
              <a:rPr lang="en-US" dirty="0"/>
              <a:t>First OpMode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Depending on speed maybe start Session 2??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E3155-D779-93CA-0B3E-22DE5FA0E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771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FB24-508C-BBB9-0865-210F5455DE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Hardware Overview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7E48-BBF5-819F-729C-84B6C483C3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20B41-A807-C4C8-8201-CA749B7E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551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3F2E-2EA0-DCB8-B0F5-4EFBB067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Robot Controller (RC): Understanding the REV Control Hub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76163A-27A5-90CE-03A1-C7646844D04D}"/>
              </a:ext>
            </a:extLst>
          </p:cNvPr>
          <p:cNvSpPr txBox="1"/>
          <p:nvPr/>
        </p:nvSpPr>
        <p:spPr>
          <a:xfrm>
            <a:off x="0" y="6488668"/>
            <a:ext cx="240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Hardware Overview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9CD05-A190-1C97-909F-045EF38E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4</a:t>
            </a:fld>
            <a:endParaRPr lang="en-US" dirty="0"/>
          </a:p>
        </p:txBody>
      </p:sp>
      <p:pic>
        <p:nvPicPr>
          <p:cNvPr id="1026" name="Picture 2" descr="FTC Control Hubs- Project Robotica">
            <a:extLst>
              <a:ext uri="{FF2B5EF4-FFF2-40B4-BE49-F238E27FC236}">
                <a16:creationId xmlns:a16="http://schemas.microsoft.com/office/drawing/2014/main" id="{3C8B51A9-BA3E-4139-41A3-ECAAFF8FD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659" y="1690688"/>
            <a:ext cx="8228682" cy="4628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491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1824-91A3-AB16-9ED4-84C8A566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Driver Station: Interface and 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AF52B-CA72-F1E1-610A-331D3542E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Connecting to WIFI: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09D0D-4455-92D2-FB75-AC4E8E058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2E4E6-0407-8975-142D-BD93C5722C78}"/>
              </a:ext>
            </a:extLst>
          </p:cNvPr>
          <p:cNvSpPr txBox="1"/>
          <p:nvPr/>
        </p:nvSpPr>
        <p:spPr>
          <a:xfrm>
            <a:off x="0" y="6488668"/>
            <a:ext cx="240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Hardware Overview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E89F1-F6D1-8574-EDCD-5DA98F6BF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988" y="1465610"/>
            <a:ext cx="7474026" cy="483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06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72CF7-4037-2A38-040F-E09F075F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293D-5B58-EB5D-D460-22E25AC5F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Driver Station: Interface and 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0BF2D-8F0D-A65C-85A1-F37B2F10E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04981" cy="4351338"/>
          </a:xfrm>
        </p:spPr>
        <p:txBody>
          <a:bodyPr/>
          <a:lstStyle/>
          <a:p>
            <a:r>
              <a:rPr lang="en-US" dirty="0"/>
              <a:t>Connecting to WIFI:</a:t>
            </a:r>
          </a:p>
          <a:p>
            <a:r>
              <a:rPr lang="en-US" dirty="0"/>
              <a:t>Go to the hubs WIFI</a:t>
            </a:r>
          </a:p>
          <a:p>
            <a:pPr marL="0" indent="0">
              <a:buNone/>
            </a:pPr>
            <a:r>
              <a:rPr lang="en-US" dirty="0"/>
              <a:t>(Scroll down then hold the WIFI option)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CE0FD-789D-D136-610C-93C4D292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880338-E39D-A9D5-A9DF-3CE9552F67A2}"/>
              </a:ext>
            </a:extLst>
          </p:cNvPr>
          <p:cNvSpPr txBox="1"/>
          <p:nvPr/>
        </p:nvSpPr>
        <p:spPr>
          <a:xfrm>
            <a:off x="0" y="6488668"/>
            <a:ext cx="240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Hardware Overview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6044CF-6D27-415E-A62D-233D809EF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128" y="1377259"/>
            <a:ext cx="6349498" cy="410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35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535B0-5CA8-E6B2-2123-5CC84BE0D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30A3-47D9-49D0-AE04-8C3C92CFB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Driver Station: Interface and 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8B859-795D-E82B-7AE4-18BF19D50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04981" cy="4351338"/>
          </a:xfrm>
        </p:spPr>
        <p:txBody>
          <a:bodyPr/>
          <a:lstStyle/>
          <a:p>
            <a:r>
              <a:rPr lang="en-US" dirty="0"/>
              <a:t>Connecting to WIFI:</a:t>
            </a:r>
          </a:p>
          <a:p>
            <a:r>
              <a:rPr lang="en-US" dirty="0"/>
              <a:t>Go to the hubs WIFI</a:t>
            </a:r>
          </a:p>
          <a:p>
            <a:pPr marL="0" indent="0">
              <a:buNone/>
            </a:pPr>
            <a:r>
              <a:rPr lang="en-US" dirty="0"/>
              <a:t>(Scroll down then hold the WIFI option)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8DBFA-8D60-CD6E-C8D8-72D163D1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4687DB-89E6-871C-39B8-DB33DE5EE9AA}"/>
              </a:ext>
            </a:extLst>
          </p:cNvPr>
          <p:cNvSpPr txBox="1"/>
          <p:nvPr/>
        </p:nvSpPr>
        <p:spPr>
          <a:xfrm>
            <a:off x="0" y="6488668"/>
            <a:ext cx="240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Hardware Overview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A6A742-F457-D0CF-10B2-F92D59A15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147" y="1513920"/>
            <a:ext cx="6414583" cy="408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23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84B67-0551-18B4-2898-EFBC5E78E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9BE78-D95D-6546-D5C7-2A571632A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Driver Station: Interface and functionality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80122-E8A8-A5CD-A1BE-52EA1C7AA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60C39-C397-7C62-6D04-311F990F443E}"/>
              </a:ext>
            </a:extLst>
          </p:cNvPr>
          <p:cNvSpPr txBox="1"/>
          <p:nvPr/>
        </p:nvSpPr>
        <p:spPr>
          <a:xfrm>
            <a:off x="0" y="6488668"/>
            <a:ext cx="240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Hardware Overview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3219FC-16B2-A4DC-96B9-94DC1833B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735" y="1392732"/>
            <a:ext cx="7450529" cy="4743279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FF269545-DE42-DC12-F219-CE97E7A79C69}"/>
              </a:ext>
            </a:extLst>
          </p:cNvPr>
          <p:cNvSpPr/>
          <p:nvPr/>
        </p:nvSpPr>
        <p:spPr>
          <a:xfrm>
            <a:off x="1200838" y="3307422"/>
            <a:ext cx="1828801" cy="605927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Auto menu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A6DE850-16F9-F2A7-6B80-2045BDD07BD4}"/>
              </a:ext>
            </a:extLst>
          </p:cNvPr>
          <p:cNvSpPr/>
          <p:nvPr/>
        </p:nvSpPr>
        <p:spPr>
          <a:xfrm rot="12496820" flipV="1">
            <a:off x="5820578" y="3822991"/>
            <a:ext cx="1828801" cy="658784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TeleOp menu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0C124976-71A8-3846-D816-D345F3F3AF5A}"/>
              </a:ext>
            </a:extLst>
          </p:cNvPr>
          <p:cNvSpPr/>
          <p:nvPr/>
        </p:nvSpPr>
        <p:spPr>
          <a:xfrm>
            <a:off x="3481331" y="2110582"/>
            <a:ext cx="2796448" cy="605927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Driver Station Battery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E2EAF85F-0F35-B8AB-BE9E-5804A93AABA0}"/>
              </a:ext>
            </a:extLst>
          </p:cNvPr>
          <p:cNvSpPr/>
          <p:nvPr/>
        </p:nvSpPr>
        <p:spPr>
          <a:xfrm rot="12154638" flipV="1">
            <a:off x="8675396" y="2540256"/>
            <a:ext cx="2401356" cy="816883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Battery Voltage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14A18F13-85A7-964A-A119-E0A66BD30650}"/>
              </a:ext>
            </a:extLst>
          </p:cNvPr>
          <p:cNvSpPr/>
          <p:nvPr/>
        </p:nvSpPr>
        <p:spPr>
          <a:xfrm rot="10178341" flipV="1">
            <a:off x="9070167" y="1392417"/>
            <a:ext cx="2401356" cy="816883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*Additional Stuff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DBC99814-147E-5084-3834-F29B6E430FA1}"/>
              </a:ext>
            </a:extLst>
          </p:cNvPr>
          <p:cNvSpPr/>
          <p:nvPr/>
        </p:nvSpPr>
        <p:spPr>
          <a:xfrm rot="12154638" flipV="1">
            <a:off x="7869486" y="3651646"/>
            <a:ext cx="2814866" cy="1493692"/>
          </a:xfrm>
          <a:prstGeom prst="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Telemetry Data Menu</a:t>
            </a:r>
          </a:p>
          <a:p>
            <a:pPr algn="ctr"/>
            <a:r>
              <a:rPr lang="en-US" dirty="0"/>
              <a:t>(Must be programmed)</a:t>
            </a:r>
          </a:p>
        </p:txBody>
      </p:sp>
    </p:spTree>
    <p:extLst>
      <p:ext uri="{BB962C8B-B14F-4D97-AF65-F5344CB8AC3E}">
        <p14:creationId xmlns:p14="http://schemas.microsoft.com/office/powerpoint/2010/main" val="3921223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95BF5-0E9A-BEE0-042C-558B8354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98F3B-0A4F-F0A6-ED69-751F5C7B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Driver Station: Interface and functionality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DF112-2B97-7C9E-20FE-49B8545DE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DF5F0-58BD-254D-EEF6-FA119B3ED04C}"/>
              </a:ext>
            </a:extLst>
          </p:cNvPr>
          <p:cNvSpPr txBox="1"/>
          <p:nvPr/>
        </p:nvSpPr>
        <p:spPr>
          <a:xfrm>
            <a:off x="0" y="6488668"/>
            <a:ext cx="240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Hardware Overview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7AB8C5-7C19-10E0-2B8A-3FE669AF4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359" y="1233317"/>
            <a:ext cx="4075241" cy="54400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2C2BD4-15F3-D242-9CA6-69F2BD0C297B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743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63F25-AD69-DA80-EDBF-6573E9C3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B91F-33DD-7971-67C7-03D691A66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Driver Station: Interface and functionality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95740-5F6B-89D8-721E-32407A90A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77090-CD2C-A24E-F0CB-58E64EF5846D}"/>
              </a:ext>
            </a:extLst>
          </p:cNvPr>
          <p:cNvSpPr txBox="1"/>
          <p:nvPr/>
        </p:nvSpPr>
        <p:spPr>
          <a:xfrm>
            <a:off x="0" y="6488668"/>
            <a:ext cx="2401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Hardware Overview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20FE0-7AFB-F5F0-17E7-51D194D6DDCA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B3DF5BA-4070-B100-9FAE-954C5F5B5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1"/>
            <a:r>
              <a:rPr lang="en-US" dirty="0"/>
              <a:t>Starting the robot (Safely)</a:t>
            </a:r>
          </a:p>
          <a:p>
            <a:pPr lvl="1"/>
            <a:r>
              <a:rPr lang="en-US" dirty="0"/>
              <a:t>Init, Enable, Disable</a:t>
            </a:r>
          </a:p>
          <a:p>
            <a:pPr lvl="1"/>
            <a:r>
              <a:rPr lang="en-US" dirty="0"/>
              <a:t>Countdown to Auto (and videos </a:t>
            </a:r>
            <a:r>
              <a:rPr lang="en-US" dirty="0">
                <a:sym typeface="Wingdings" pitchFamily="2" charset="2"/>
              </a:rPr>
              <a:t>:O 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72211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255F-8A1C-74B9-03DE-1CC30E929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Coding/Java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6B954-EB4A-300F-8B3C-2B99A9AA06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4707F-0F75-9F2E-1F60-9181D759A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96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FA29A-AD34-BD6E-4B0A-7D620E67A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A672F-9823-FAB0-D757-DED21509E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data types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E246D-54AA-12C5-1B87-185D8087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4ED72-4DA3-5D82-A978-9BEF1EE60FED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Coding/Java Fundamentals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3543E0-788E-3F98-B452-E3691D74B5E8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62C1FF9-965F-F6A9-51C8-B33511A77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/>
              <a:t>Category: Integer…					* Denotes Important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2172FB-9D78-44E5-9DA1-1E0A6D94B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702700"/>
              </p:ext>
            </p:extLst>
          </p:nvPr>
        </p:nvGraphicFramePr>
        <p:xfrm>
          <a:off x="990600" y="2257876"/>
          <a:ext cx="10210800" cy="4054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1897393369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1883245530"/>
                    </a:ext>
                  </a:extLst>
                </a:gridCol>
                <a:gridCol w="8140700">
                  <a:extLst>
                    <a:ext uri="{9D8B030D-6E8A-4147-A177-3AD203B41FA5}">
                      <a16:colId xmlns:a16="http://schemas.microsoft.com/office/drawing/2014/main" val="3041664189"/>
                    </a:ext>
                  </a:extLst>
                </a:gridCol>
              </a:tblGrid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 (Bits)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220142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byte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+127 to -128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990182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Unicode characters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460111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+32,767 to -32,768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868827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+2,147,483,647 to -2,147,483,648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149278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  <a:p>
                      <a:pPr algn="ctr"/>
                      <a:r>
                        <a:rPr lang="en-US" dirty="0"/>
                        <a:t>:O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+9,223,372,036,854,775,807 to -9,223,372,036,854,775,808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8082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735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CC24B-E4BB-922A-C17F-5FE7EC4D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C7A74-E07D-6C41-3A0C-A20AD125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data types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347E2-744F-6FA8-83FD-BDC322F4F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BBBBD-3EC1-6A59-F3DE-15805B8BDB98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Coding/Java Fundamentals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664C6-BFBE-0516-368B-5C997B49937D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2E389AA-253F-C3CB-6C73-EC8A17CC3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/>
              <a:t>Category: Floating Point…				* Denotes Important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6F8115-D36B-B62E-C35A-B6D1687DD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498544"/>
              </p:ext>
            </p:extLst>
          </p:nvPr>
        </p:nvGraphicFramePr>
        <p:xfrm>
          <a:off x="990600" y="2257876"/>
          <a:ext cx="10210800" cy="2027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1897393369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1883245530"/>
                    </a:ext>
                  </a:extLst>
                </a:gridCol>
                <a:gridCol w="8140700">
                  <a:extLst>
                    <a:ext uri="{9D8B030D-6E8A-4147-A177-3AD203B41FA5}">
                      <a16:colId xmlns:a16="http://schemas.microsoft.com/office/drawing/2014/main" val="3041664189"/>
                    </a:ext>
                  </a:extLst>
                </a:gridCol>
              </a:tblGrid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 (Bits)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220142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3.402,823,5 E+38 to 1.4 E-45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990182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double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1.797,693,134,862,315,7 E+308 to 4.9 E-324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460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51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15EF6-66C7-0612-A50D-B9379BEE3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4D15C-14F6-9E61-FF24-FB539CB9A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data types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87CD0-C6CB-C0D3-02B3-6D086379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69C28-6281-6776-4789-3743A5D6F5EF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Coding/Java Fundamentals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7EDCF7-A2B1-2A84-3E9D-EA587EF99CEF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DA027F6-5319-0E15-C56F-BC2EB13BC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n-US" dirty="0"/>
              <a:t>Category: Other…				* Denotes Important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2FD727-3969-0539-D7F8-6CA0D8AF7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291823"/>
              </p:ext>
            </p:extLst>
          </p:nvPr>
        </p:nvGraphicFramePr>
        <p:xfrm>
          <a:off x="990600" y="2257876"/>
          <a:ext cx="10210800" cy="2027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1897393369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1883245530"/>
                    </a:ext>
                  </a:extLst>
                </a:gridCol>
                <a:gridCol w="8140700">
                  <a:extLst>
                    <a:ext uri="{9D8B030D-6E8A-4147-A177-3AD203B41FA5}">
                      <a16:colId xmlns:a16="http://schemas.microsoft.com/office/drawing/2014/main" val="3041664189"/>
                    </a:ext>
                  </a:extLst>
                </a:gridCol>
              </a:tblGrid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Size (Bits)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220142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boolean</a:t>
                      </a:r>
                      <a:r>
                        <a:rPr lang="en-US"/>
                        <a:t>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false,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990182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void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460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163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C2D46-A9F1-6986-D861-DF88B2E1B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9E7FE-2611-A89E-C64B-A508CC1CC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Primitive data types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41DCC-8E6A-D8A7-EAD0-6C8815D7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2FD20-6E7E-2A50-002B-4A88B09B4D2A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Coding/Java Fundamentals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8ACCCE-F774-3EC1-8619-C45568D552E9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4A8466-6C98-04F9-A32A-813808477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n-US"/>
              <a:t>Category: Important</a:t>
            </a:r>
          </a:p>
          <a:p>
            <a:pPr marL="457200" lvl="1" indent="0">
              <a:buNone/>
            </a:pP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C06D23-E261-2774-EF98-FCF6A6630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762525"/>
              </p:ext>
            </p:extLst>
          </p:nvPr>
        </p:nvGraphicFramePr>
        <p:xfrm>
          <a:off x="990600" y="2257876"/>
          <a:ext cx="9309100" cy="3378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1897393369"/>
                    </a:ext>
                  </a:extLst>
                </a:gridCol>
                <a:gridCol w="8140700">
                  <a:extLst>
                    <a:ext uri="{9D8B030D-6E8A-4147-A177-3AD203B41FA5}">
                      <a16:colId xmlns:a16="http://schemas.microsoft.com/office/drawing/2014/main" val="3041664189"/>
                    </a:ext>
                  </a:extLst>
                </a:gridCol>
              </a:tblGrid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Notes – Use them in this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220142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Can only be true or false. Used for flags and logic statements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990182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Used for whole numbers (I.E. Ticks, bool math, indexing etc.)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460111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Used for decimals, helpful but easy to overuse leading to problems.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641015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Used when nothing is returned or stored, this is the same as having a “return returnAddress” which is what java will auto compiles this 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0583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833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92848-865C-CBF6-9D2A-75A1ECAE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EF7B3-5E08-A128-2A83-9A643C669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Primitive data types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37727-F409-E15E-8003-2DC1D696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49165-CC2C-D921-4E74-2D56C4D57227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Coding/Java Fundamentals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0F5C4B-BBBB-3F3C-8594-65269ACAFA52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44EE0A-2BF2-8C02-CC9C-1396F2A39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457200" lvl="1" indent="0">
              <a:buNone/>
            </a:pPr>
            <a:r>
              <a:rPr lang="en-US"/>
              <a:t>ints VS doubles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Math Operations (+, -, *, /)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5B7AE1-9831-5344-BBD4-467C255E6224}"/>
              </a:ext>
            </a:extLst>
          </p:cNvPr>
          <p:cNvSpPr txBox="1"/>
          <p:nvPr/>
        </p:nvSpPr>
        <p:spPr>
          <a:xfrm>
            <a:off x="1333500" y="3286125"/>
            <a:ext cx="82677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effectLst/>
              </a:rPr>
              <a:t>int integerValue = 10;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double doubleValue = 3.14;</a:t>
            </a:r>
            <a:br>
              <a:rPr lang="en-US">
                <a:effectLst/>
              </a:rPr>
            </a:br>
            <a:br>
              <a:rPr lang="en-US">
                <a:effectLst/>
              </a:rPr>
            </a:br>
            <a:br>
              <a:rPr lang="en-US">
                <a:effectLst/>
              </a:rPr>
            </a:br>
            <a:r>
              <a:rPr lang="en-US">
                <a:effectLst/>
              </a:rPr>
              <a:t>int resultInt = 7 / 3;</a:t>
            </a:r>
            <a:br>
              <a:rPr lang="en-US">
                <a:effectLst/>
              </a:rPr>
            </a:br>
            <a:br>
              <a:rPr lang="en-US">
                <a:effectLst/>
              </a:rPr>
            </a:br>
            <a:br>
              <a:rPr lang="en-US">
                <a:effectLst/>
              </a:rPr>
            </a:br>
            <a:r>
              <a:rPr lang="en-US">
                <a:effectLst/>
              </a:rPr>
              <a:t>double resultDouble = 7.0 / 3.0;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49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7F37F-8D2F-98A3-E950-9616940E8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943B-91CE-AAC9-7981-518DBA59B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Primitive data types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7233A-5F08-F75A-E46E-D13C9F8C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159575-3082-6485-70AE-747B24DBFBE8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Coding/Java Fundamentals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EA69D7-A52B-3265-B9CB-A660C84F32D2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7CB539-4D82-77C4-A307-7F8A7CDDD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457200" lvl="1" indent="0">
              <a:buNone/>
            </a:pPr>
            <a:r>
              <a:rPr lang="en-US"/>
              <a:t>ints VS doubles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Math Operations (+, -, *, /)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61229E-2193-3E26-7F4F-4E6A2A34C8D0}"/>
              </a:ext>
            </a:extLst>
          </p:cNvPr>
          <p:cNvSpPr txBox="1"/>
          <p:nvPr/>
        </p:nvSpPr>
        <p:spPr>
          <a:xfrm>
            <a:off x="1333500" y="3286125"/>
            <a:ext cx="82677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effectLst/>
              </a:rPr>
              <a:t>int integerValue = 10;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double doubleValue = 3.14;</a:t>
            </a:r>
            <a:br>
              <a:rPr lang="en-US">
                <a:effectLst/>
              </a:rPr>
            </a:br>
            <a:br>
              <a:rPr lang="en-US">
                <a:effectLst/>
              </a:rPr>
            </a:br>
            <a:r>
              <a:rPr lang="en-US">
                <a:effectLst/>
              </a:rPr>
              <a:t>// Integer division truncates the decimal part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int resultInt = 7 / 3; // result Int will be 2</a:t>
            </a:r>
            <a:br>
              <a:rPr lang="en-US">
                <a:effectLst/>
              </a:rPr>
            </a:br>
            <a:br>
              <a:rPr lang="en-US">
                <a:effectLst/>
              </a:rPr>
            </a:br>
            <a:r>
              <a:rPr lang="en-US">
                <a:effectLst/>
              </a:rPr>
              <a:t>// Double division preserves the decimal part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double resultDouble = 7.0 / 3.0; // result Double will be approximately 2.3333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11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D126A-85ED-A5EB-31F1-A799F154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8EB3-C6E9-D6F3-7434-4601829CF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Primitive data types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F96BA-CA02-DC4F-2CFC-D391E25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58D946-C79B-B60F-C91B-E5D273E83457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Coding/Java Fundamentals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2303DB-710D-9D00-4BDA-86FBF96962AC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796A94-4AA3-7C41-6E43-A3F686916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404082"/>
            <a:ext cx="5511800" cy="477728"/>
          </a:xfrm>
        </p:spPr>
        <p:txBody>
          <a:bodyPr>
            <a:normAutofit fontScale="85000" lnSpcReduction="10000"/>
          </a:bodyPr>
          <a:lstStyle/>
          <a:p>
            <a:pPr marL="457200" lvl="1" indent="0">
              <a:buNone/>
            </a:pPr>
            <a:r>
              <a:rPr lang="en-US"/>
              <a:t>The char: ints are chars but with more steps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FB776B-0720-E64B-BDD3-B5FD4EA2366F}"/>
              </a:ext>
            </a:extLst>
          </p:cNvPr>
          <p:cNvSpPr txBox="1"/>
          <p:nvPr/>
        </p:nvSpPr>
        <p:spPr>
          <a:xfrm>
            <a:off x="8724348" y="1690688"/>
            <a:ext cx="826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effectLst/>
            </a:endParaRPr>
          </a:p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53C96EA-FBAC-35D5-D987-C5243C567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234978"/>
              </p:ext>
            </p:extLst>
          </p:nvPr>
        </p:nvGraphicFramePr>
        <p:xfrm>
          <a:off x="864153" y="1861642"/>
          <a:ext cx="10743649" cy="4323754"/>
        </p:xfrm>
        <a:graphic>
          <a:graphicData uri="http://schemas.openxmlformats.org/drawingml/2006/table">
            <a:tbl>
              <a:tblPr bandCol="1">
                <a:tableStyleId>{073A0DAA-6AF3-43AB-8588-CEC1D06C72B9}</a:tableStyleId>
              </a:tblPr>
              <a:tblGrid>
                <a:gridCol w="1396129">
                  <a:extLst>
                    <a:ext uri="{9D8B030D-6E8A-4147-A177-3AD203B41FA5}">
                      <a16:colId xmlns:a16="http://schemas.microsoft.com/office/drawing/2014/main" val="1809327618"/>
                    </a:ext>
                  </a:extLst>
                </a:gridCol>
                <a:gridCol w="1396129">
                  <a:extLst>
                    <a:ext uri="{9D8B030D-6E8A-4147-A177-3AD203B41FA5}">
                      <a16:colId xmlns:a16="http://schemas.microsoft.com/office/drawing/2014/main" val="883998652"/>
                    </a:ext>
                  </a:extLst>
                </a:gridCol>
                <a:gridCol w="1396129">
                  <a:extLst>
                    <a:ext uri="{9D8B030D-6E8A-4147-A177-3AD203B41FA5}">
                      <a16:colId xmlns:a16="http://schemas.microsoft.com/office/drawing/2014/main" val="1432050874"/>
                    </a:ext>
                  </a:extLst>
                </a:gridCol>
                <a:gridCol w="1396129">
                  <a:extLst>
                    <a:ext uri="{9D8B030D-6E8A-4147-A177-3AD203B41FA5}">
                      <a16:colId xmlns:a16="http://schemas.microsoft.com/office/drawing/2014/main" val="3782793758"/>
                    </a:ext>
                  </a:extLst>
                </a:gridCol>
                <a:gridCol w="1396129">
                  <a:extLst>
                    <a:ext uri="{9D8B030D-6E8A-4147-A177-3AD203B41FA5}">
                      <a16:colId xmlns:a16="http://schemas.microsoft.com/office/drawing/2014/main" val="174667317"/>
                    </a:ext>
                  </a:extLst>
                </a:gridCol>
                <a:gridCol w="1908770">
                  <a:extLst>
                    <a:ext uri="{9D8B030D-6E8A-4147-A177-3AD203B41FA5}">
                      <a16:colId xmlns:a16="http://schemas.microsoft.com/office/drawing/2014/main" val="1784160306"/>
                    </a:ext>
                  </a:extLst>
                </a:gridCol>
                <a:gridCol w="1854234">
                  <a:extLst>
                    <a:ext uri="{9D8B030D-6E8A-4147-A177-3AD203B41FA5}">
                      <a16:colId xmlns:a16="http://schemas.microsoft.com/office/drawing/2014/main" val="727251670"/>
                    </a:ext>
                  </a:extLst>
                </a:gridCol>
              </a:tblGrid>
              <a:tr h="4323754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33: !</a:t>
                      </a:r>
                    </a:p>
                    <a:p>
                      <a:r>
                        <a:rPr lang="en-US">
                          <a:effectLst/>
                        </a:rPr>
                        <a:t>34: "</a:t>
                      </a:r>
                    </a:p>
                    <a:p>
                      <a:r>
                        <a:rPr lang="en-US">
                          <a:effectLst/>
                        </a:rPr>
                        <a:t>35: #</a:t>
                      </a:r>
                    </a:p>
                    <a:p>
                      <a:r>
                        <a:rPr lang="en-US">
                          <a:effectLst/>
                        </a:rPr>
                        <a:t>36: $</a:t>
                      </a:r>
                    </a:p>
                    <a:p>
                      <a:r>
                        <a:rPr lang="en-US">
                          <a:effectLst/>
                        </a:rPr>
                        <a:t>37: %</a:t>
                      </a:r>
                    </a:p>
                    <a:p>
                      <a:r>
                        <a:rPr lang="en-US">
                          <a:effectLst/>
                        </a:rPr>
                        <a:t>38: &amp;</a:t>
                      </a:r>
                    </a:p>
                    <a:p>
                      <a:r>
                        <a:rPr lang="en-US">
                          <a:effectLst/>
                        </a:rPr>
                        <a:t>39: '</a:t>
                      </a:r>
                    </a:p>
                    <a:p>
                      <a:r>
                        <a:rPr lang="en-US">
                          <a:effectLst/>
                        </a:rPr>
                        <a:t>40: (</a:t>
                      </a:r>
                    </a:p>
                    <a:p>
                      <a:r>
                        <a:rPr lang="en-US">
                          <a:effectLst/>
                        </a:rPr>
                        <a:t>41: )</a:t>
                      </a:r>
                    </a:p>
                    <a:p>
                      <a:r>
                        <a:rPr lang="en-US">
                          <a:effectLst/>
                        </a:rPr>
                        <a:t>42: *</a:t>
                      </a:r>
                    </a:p>
                    <a:p>
                      <a:r>
                        <a:rPr lang="en-US">
                          <a:effectLst/>
                        </a:rPr>
                        <a:t>43: +</a:t>
                      </a:r>
                    </a:p>
                    <a:p>
                      <a:r>
                        <a:rPr lang="en-US">
                          <a:effectLst/>
                        </a:rPr>
                        <a:t>44: ,</a:t>
                      </a:r>
                    </a:p>
                    <a:p>
                      <a:r>
                        <a:rPr lang="en-US">
                          <a:effectLst/>
                        </a:rPr>
                        <a:t>45: -</a:t>
                      </a:r>
                    </a:p>
                    <a:p>
                      <a:r>
                        <a:rPr lang="en-US">
                          <a:effectLst/>
                        </a:rPr>
                        <a:t>46: .</a:t>
                      </a:r>
                    </a:p>
                    <a:p>
                      <a:r>
                        <a:rPr lang="en-US">
                          <a:effectLst/>
                        </a:rPr>
                        <a:t>47: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48: 0</a:t>
                      </a:r>
                    </a:p>
                    <a:p>
                      <a:r>
                        <a:rPr lang="en-US">
                          <a:effectLst/>
                        </a:rPr>
                        <a:t>49: 1</a:t>
                      </a:r>
                    </a:p>
                    <a:p>
                      <a:r>
                        <a:rPr lang="en-US">
                          <a:effectLst/>
                        </a:rPr>
                        <a:t>50: 2</a:t>
                      </a:r>
                    </a:p>
                    <a:p>
                      <a:r>
                        <a:rPr lang="en-US">
                          <a:effectLst/>
                        </a:rPr>
                        <a:t>51: 3</a:t>
                      </a:r>
                    </a:p>
                    <a:p>
                      <a:r>
                        <a:rPr lang="en-US">
                          <a:effectLst/>
                        </a:rPr>
                        <a:t>52: 4</a:t>
                      </a:r>
                    </a:p>
                    <a:p>
                      <a:r>
                        <a:rPr lang="en-US">
                          <a:effectLst/>
                        </a:rPr>
                        <a:t>53: 5</a:t>
                      </a:r>
                    </a:p>
                    <a:p>
                      <a:r>
                        <a:rPr lang="en-US">
                          <a:effectLst/>
                        </a:rPr>
                        <a:t>54: 6</a:t>
                      </a:r>
                    </a:p>
                    <a:p>
                      <a:r>
                        <a:rPr lang="en-US">
                          <a:effectLst/>
                        </a:rPr>
                        <a:t>55: 7</a:t>
                      </a:r>
                    </a:p>
                    <a:p>
                      <a:r>
                        <a:rPr lang="en-US">
                          <a:effectLst/>
                        </a:rPr>
                        <a:t>56: 8</a:t>
                      </a:r>
                    </a:p>
                    <a:p>
                      <a:r>
                        <a:rPr lang="en-US">
                          <a:effectLst/>
                        </a:rPr>
                        <a:t>57: 9</a:t>
                      </a:r>
                    </a:p>
                    <a:p>
                      <a:r>
                        <a:rPr lang="en-US">
                          <a:effectLst/>
                        </a:rPr>
                        <a:t>58: :</a:t>
                      </a:r>
                    </a:p>
                    <a:p>
                      <a:r>
                        <a:rPr lang="en-US">
                          <a:effectLst/>
                        </a:rPr>
                        <a:t>59: ;</a:t>
                      </a:r>
                    </a:p>
                    <a:p>
                      <a:r>
                        <a:rPr lang="en-US">
                          <a:effectLst/>
                        </a:rPr>
                        <a:t>60: &lt;</a:t>
                      </a:r>
                    </a:p>
                    <a:p>
                      <a:r>
                        <a:rPr lang="en-US">
                          <a:effectLst/>
                        </a:rPr>
                        <a:t>61: =</a:t>
                      </a:r>
                    </a:p>
                    <a:p>
                      <a:r>
                        <a:rPr lang="en-US">
                          <a:effectLst/>
                        </a:rPr>
                        <a:t>62: 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63: ?</a:t>
                      </a:r>
                    </a:p>
                    <a:p>
                      <a:r>
                        <a:rPr lang="en-US" dirty="0">
                          <a:effectLst/>
                        </a:rPr>
                        <a:t>64: @</a:t>
                      </a:r>
                    </a:p>
                    <a:p>
                      <a:r>
                        <a:rPr lang="en-US" dirty="0">
                          <a:effectLst/>
                        </a:rPr>
                        <a:t>65: A</a:t>
                      </a:r>
                    </a:p>
                    <a:p>
                      <a:r>
                        <a:rPr lang="en-US" dirty="0">
                          <a:effectLst/>
                        </a:rPr>
                        <a:t>66: B</a:t>
                      </a:r>
                    </a:p>
                    <a:p>
                      <a:r>
                        <a:rPr lang="en-US" dirty="0">
                          <a:effectLst/>
                        </a:rPr>
                        <a:t>67: C</a:t>
                      </a:r>
                    </a:p>
                    <a:p>
                      <a:r>
                        <a:rPr lang="en-US" dirty="0">
                          <a:effectLst/>
                        </a:rPr>
                        <a:t>68: D</a:t>
                      </a:r>
                    </a:p>
                    <a:p>
                      <a:r>
                        <a:rPr lang="en-US" dirty="0">
                          <a:effectLst/>
                        </a:rPr>
                        <a:t>69: E</a:t>
                      </a:r>
                    </a:p>
                    <a:p>
                      <a:r>
                        <a:rPr lang="en-US" dirty="0">
                          <a:effectLst/>
                        </a:rPr>
                        <a:t>70: F</a:t>
                      </a:r>
                    </a:p>
                    <a:p>
                      <a:r>
                        <a:rPr lang="en-US" dirty="0">
                          <a:effectLst/>
                        </a:rPr>
                        <a:t>71: G</a:t>
                      </a:r>
                    </a:p>
                    <a:p>
                      <a:r>
                        <a:rPr lang="en-US" dirty="0">
                          <a:effectLst/>
                        </a:rPr>
                        <a:t>72: H</a:t>
                      </a:r>
                    </a:p>
                    <a:p>
                      <a:r>
                        <a:rPr lang="en-US" dirty="0">
                          <a:effectLst/>
                        </a:rPr>
                        <a:t>73: I</a:t>
                      </a:r>
                    </a:p>
                    <a:p>
                      <a:r>
                        <a:rPr lang="en-US" dirty="0">
                          <a:effectLst/>
                        </a:rPr>
                        <a:t>74: J</a:t>
                      </a:r>
                    </a:p>
                    <a:p>
                      <a:r>
                        <a:rPr lang="en-US" dirty="0">
                          <a:effectLst/>
                        </a:rPr>
                        <a:t>75: K</a:t>
                      </a:r>
                    </a:p>
                    <a:p>
                      <a:r>
                        <a:rPr lang="en-US" dirty="0">
                          <a:effectLst/>
                        </a:rPr>
                        <a:t>76: L</a:t>
                      </a:r>
                    </a:p>
                    <a:p>
                      <a:r>
                        <a:rPr lang="en-US" dirty="0">
                          <a:effectLst/>
                        </a:rPr>
                        <a:t>77: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78: N</a:t>
                      </a:r>
                    </a:p>
                    <a:p>
                      <a:r>
                        <a:rPr lang="en-US">
                          <a:effectLst/>
                        </a:rPr>
                        <a:t>79: O</a:t>
                      </a:r>
                    </a:p>
                    <a:p>
                      <a:r>
                        <a:rPr lang="en-US">
                          <a:effectLst/>
                        </a:rPr>
                        <a:t>80: P</a:t>
                      </a:r>
                    </a:p>
                    <a:p>
                      <a:r>
                        <a:rPr lang="en-US">
                          <a:effectLst/>
                        </a:rPr>
                        <a:t>81: Q</a:t>
                      </a:r>
                    </a:p>
                    <a:p>
                      <a:r>
                        <a:rPr lang="en-US">
                          <a:effectLst/>
                        </a:rPr>
                        <a:t>82: R</a:t>
                      </a:r>
                    </a:p>
                    <a:p>
                      <a:r>
                        <a:rPr lang="en-US">
                          <a:effectLst/>
                        </a:rPr>
                        <a:t>83: S</a:t>
                      </a:r>
                    </a:p>
                    <a:p>
                      <a:r>
                        <a:rPr lang="en-US">
                          <a:effectLst/>
                        </a:rPr>
                        <a:t>84: T</a:t>
                      </a:r>
                    </a:p>
                    <a:p>
                      <a:r>
                        <a:rPr lang="en-US">
                          <a:effectLst/>
                        </a:rPr>
                        <a:t>85: U</a:t>
                      </a:r>
                    </a:p>
                    <a:p>
                      <a:r>
                        <a:rPr lang="en-US">
                          <a:effectLst/>
                        </a:rPr>
                        <a:t>86: V</a:t>
                      </a:r>
                    </a:p>
                    <a:p>
                      <a:r>
                        <a:rPr lang="en-US">
                          <a:effectLst/>
                        </a:rPr>
                        <a:t>87: W</a:t>
                      </a:r>
                    </a:p>
                    <a:p>
                      <a:r>
                        <a:rPr lang="en-US">
                          <a:effectLst/>
                        </a:rPr>
                        <a:t>88: X</a:t>
                      </a:r>
                    </a:p>
                    <a:p>
                      <a:r>
                        <a:rPr lang="en-US">
                          <a:effectLst/>
                        </a:rPr>
                        <a:t>89: Y</a:t>
                      </a:r>
                    </a:p>
                    <a:p>
                      <a:r>
                        <a:rPr lang="en-US">
                          <a:effectLst/>
                        </a:rPr>
                        <a:t>90: Z</a:t>
                      </a:r>
                    </a:p>
                    <a:p>
                      <a:r>
                        <a:rPr lang="en-US">
                          <a:effectLst/>
                        </a:rPr>
                        <a:t>91: [</a:t>
                      </a:r>
                    </a:p>
                    <a:p>
                      <a:r>
                        <a:rPr lang="en-US">
                          <a:effectLst/>
                        </a:rPr>
                        <a:t>92: \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93: ]</a:t>
                      </a:r>
                    </a:p>
                    <a:p>
                      <a:r>
                        <a:rPr lang="en-US" dirty="0">
                          <a:effectLst/>
                        </a:rPr>
                        <a:t>94: ^</a:t>
                      </a:r>
                    </a:p>
                    <a:p>
                      <a:r>
                        <a:rPr lang="en-US" dirty="0">
                          <a:effectLst/>
                        </a:rPr>
                        <a:t>95: _</a:t>
                      </a:r>
                    </a:p>
                    <a:p>
                      <a:r>
                        <a:rPr lang="en-US" dirty="0">
                          <a:effectLst/>
                        </a:rPr>
                        <a:t>96: `</a:t>
                      </a:r>
                    </a:p>
                    <a:p>
                      <a:r>
                        <a:rPr lang="en-US" dirty="0">
                          <a:effectLst/>
                        </a:rPr>
                        <a:t>97: a</a:t>
                      </a:r>
                    </a:p>
                    <a:p>
                      <a:r>
                        <a:rPr lang="en-US" dirty="0">
                          <a:effectLst/>
                        </a:rPr>
                        <a:t>98: b</a:t>
                      </a:r>
                    </a:p>
                    <a:p>
                      <a:r>
                        <a:rPr lang="en-US" dirty="0">
                          <a:effectLst/>
                        </a:rPr>
                        <a:t>99: c</a:t>
                      </a:r>
                    </a:p>
                    <a:p>
                      <a:r>
                        <a:rPr lang="en-US" dirty="0">
                          <a:effectLst/>
                        </a:rPr>
                        <a:t>100: d</a:t>
                      </a:r>
                    </a:p>
                    <a:p>
                      <a:r>
                        <a:rPr lang="en-US" dirty="0">
                          <a:effectLst/>
                        </a:rPr>
                        <a:t>101: e</a:t>
                      </a:r>
                    </a:p>
                    <a:p>
                      <a:r>
                        <a:rPr lang="en-US" dirty="0">
                          <a:effectLst/>
                        </a:rPr>
                        <a:t>102: f</a:t>
                      </a:r>
                    </a:p>
                    <a:p>
                      <a:r>
                        <a:rPr lang="en-US" dirty="0">
                          <a:effectLst/>
                        </a:rPr>
                        <a:t>103: g</a:t>
                      </a:r>
                    </a:p>
                    <a:p>
                      <a:r>
                        <a:rPr lang="en-US" dirty="0">
                          <a:effectLst/>
                        </a:rPr>
                        <a:t>104: h</a:t>
                      </a:r>
                    </a:p>
                    <a:p>
                      <a:r>
                        <a:rPr lang="en-US" dirty="0">
                          <a:effectLst/>
                        </a:rPr>
                        <a:t>105: i</a:t>
                      </a:r>
                    </a:p>
                    <a:p>
                      <a:r>
                        <a:rPr lang="en-US" dirty="0">
                          <a:effectLst/>
                        </a:rPr>
                        <a:t>106: j</a:t>
                      </a:r>
                    </a:p>
                    <a:p>
                      <a:r>
                        <a:rPr lang="en-US" dirty="0">
                          <a:effectLst/>
                        </a:rPr>
                        <a:t>107: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108: l</a:t>
                      </a:r>
                    </a:p>
                    <a:p>
                      <a:r>
                        <a:rPr lang="en-US">
                          <a:effectLst/>
                        </a:rPr>
                        <a:t>109: m</a:t>
                      </a:r>
                    </a:p>
                    <a:p>
                      <a:r>
                        <a:rPr lang="en-US">
                          <a:effectLst/>
                        </a:rPr>
                        <a:t>110: n</a:t>
                      </a:r>
                    </a:p>
                    <a:p>
                      <a:r>
                        <a:rPr lang="en-US">
                          <a:effectLst/>
                        </a:rPr>
                        <a:t>111: o</a:t>
                      </a:r>
                    </a:p>
                    <a:p>
                      <a:r>
                        <a:rPr lang="en-US">
                          <a:effectLst/>
                        </a:rPr>
                        <a:t>112: p</a:t>
                      </a:r>
                    </a:p>
                    <a:p>
                      <a:r>
                        <a:rPr lang="en-US">
                          <a:effectLst/>
                        </a:rPr>
                        <a:t>113: q</a:t>
                      </a:r>
                    </a:p>
                    <a:p>
                      <a:r>
                        <a:rPr lang="en-US">
                          <a:effectLst/>
                        </a:rPr>
                        <a:t>114: r</a:t>
                      </a:r>
                    </a:p>
                    <a:p>
                      <a:r>
                        <a:rPr lang="en-US">
                          <a:effectLst/>
                        </a:rPr>
                        <a:t>115: s</a:t>
                      </a:r>
                    </a:p>
                    <a:p>
                      <a:r>
                        <a:rPr lang="en-US">
                          <a:effectLst/>
                        </a:rPr>
                        <a:t>116: t</a:t>
                      </a:r>
                    </a:p>
                    <a:p>
                      <a:r>
                        <a:rPr lang="en-US">
                          <a:effectLst/>
                        </a:rPr>
                        <a:t>117: u</a:t>
                      </a:r>
                    </a:p>
                    <a:p>
                      <a:r>
                        <a:rPr lang="en-US">
                          <a:effectLst/>
                        </a:rPr>
                        <a:t>118: v</a:t>
                      </a:r>
                    </a:p>
                    <a:p>
                      <a:r>
                        <a:rPr lang="en-US">
                          <a:effectLst/>
                        </a:rPr>
                        <a:t>119: w</a:t>
                      </a:r>
                    </a:p>
                    <a:p>
                      <a:r>
                        <a:rPr lang="en-US">
                          <a:effectLst/>
                        </a:rPr>
                        <a:t>120: x</a:t>
                      </a:r>
                    </a:p>
                    <a:p>
                      <a:r>
                        <a:rPr lang="en-US">
                          <a:effectLst/>
                        </a:rPr>
                        <a:t>121: y</a:t>
                      </a:r>
                    </a:p>
                    <a:p>
                      <a:r>
                        <a:rPr lang="en-US">
                          <a:effectLst/>
                        </a:rPr>
                        <a:t>122: 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effectLst/>
                        </a:rPr>
                        <a:t>123: {</a:t>
                      </a:r>
                    </a:p>
                    <a:p>
                      <a:r>
                        <a:rPr lang="en-US">
                          <a:effectLst/>
                        </a:rPr>
                        <a:t>124: |</a:t>
                      </a:r>
                    </a:p>
                    <a:p>
                      <a:r>
                        <a:rPr lang="en-US">
                          <a:effectLst/>
                        </a:rPr>
                        <a:t>125: }</a:t>
                      </a:r>
                    </a:p>
                    <a:p>
                      <a:r>
                        <a:rPr lang="en-US">
                          <a:effectLst/>
                        </a:rPr>
                        <a:t>126: ~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2785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9167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DD3FC-1DE7-5FD6-B3A8-4468C135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875FB-6882-D7D9-1D2A-420F8E22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(Other) Variables and Data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B26E3-D0CB-83FC-65EE-AD86C145F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6A5CF-7114-99A9-20B8-A222B115F84F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Coding/Java Fundamentals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4755F8-D76F-7319-774C-35971A442F47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B89958-71C3-4798-741A-21C351823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558"/>
            <a:ext cx="105156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n-US"/>
              <a:t>Category: Other…				* Denotes Important</a:t>
            </a:r>
          </a:p>
          <a:p>
            <a:pPr marL="457200" lvl="1" indent="0">
              <a:buNone/>
            </a:pP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835B64-7835-CA08-638E-68EC86AE0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404221"/>
              </p:ext>
            </p:extLst>
          </p:nvPr>
        </p:nvGraphicFramePr>
        <p:xfrm>
          <a:off x="990600" y="1881809"/>
          <a:ext cx="9601200" cy="44044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1897393369"/>
                    </a:ext>
                  </a:extLst>
                </a:gridCol>
                <a:gridCol w="8026400">
                  <a:extLst>
                    <a:ext uri="{9D8B030D-6E8A-4147-A177-3AD203B41FA5}">
                      <a16:colId xmlns:a16="http://schemas.microsoft.com/office/drawing/2014/main" val="3041664189"/>
                    </a:ext>
                  </a:extLst>
                </a:gridCol>
              </a:tblGrid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Notes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220142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String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Represents a sequence of characters. Strings are immutable, meaning their values cannot be changed after creation.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7990182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Arrays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Ordered collections of elements of the same type. Arrays can hold primitives or references.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460111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Classes 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Blueprints for creating objects. Objects are instances of classes and encapsulate data (fields) and behavior (methods).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– We’ll cover this in a different Session because they’re complicated and large.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5386261"/>
                  </a:ext>
                </a:extLst>
              </a:tr>
              <a:tr h="6756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Collections *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We will touch on this way later.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Framework for storing and manipulating groups of objects, including: </a:t>
                      </a:r>
                    </a:p>
                    <a:p>
                      <a:r>
                        <a:rPr lang="en-US" b="1"/>
                        <a:t>Lists:</a:t>
                      </a:r>
                      <a:r>
                        <a:rPr lang="en-US"/>
                        <a:t> Ordered collections that allow duplicate elements (e.g., ArrayList, LinkedList). </a:t>
                      </a:r>
                    </a:p>
                    <a:p>
                      <a:r>
                        <a:rPr lang="en-US" b="1"/>
                        <a:t>Sets:</a:t>
                      </a:r>
                      <a:r>
                        <a:rPr lang="en-US"/>
                        <a:t> Collections that do not allow duplicate elements (e.g., HashSet, TreeSet). </a:t>
                      </a:r>
                    </a:p>
                    <a:p>
                      <a:r>
                        <a:rPr lang="en-US" b="1"/>
                        <a:t>Maps:</a:t>
                      </a:r>
                      <a:r>
                        <a:rPr lang="en-US"/>
                        <a:t> Collections that store key-value pairs (e.g., HashMap, TreeMap).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693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47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D6DEA-15BB-C263-CD57-1C2B3A0B8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2451-713E-EDF0-4C0E-4612B7DF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D9D11-70DB-712F-326E-0E25E2BB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A9D20-46ED-B2CA-40FA-F40980AEC2E4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Coding/Java Fundamentals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23509-4457-73C5-C909-DD7DEBE69782}"/>
              </a:ext>
            </a:extLst>
          </p:cNvPr>
          <p:cNvSpPr/>
          <p:nvPr/>
        </p:nvSpPr>
        <p:spPr>
          <a:xfrm>
            <a:off x="6692348" y="1233317"/>
            <a:ext cx="1918252" cy="648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450EAA-391C-7A91-0776-A466D30B8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558"/>
            <a:ext cx="105156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n-US"/>
              <a:t>By convention we name variables starting with a lower case letter and then every word after that starts with a capital letter. For example: </a:t>
            </a:r>
            <a:r>
              <a:rPr lang="en-US" b="1"/>
              <a:t>motorSpeed </a:t>
            </a:r>
            <a:r>
              <a:rPr lang="en-US"/>
              <a:t>or</a:t>
            </a:r>
            <a:r>
              <a:rPr lang="en-US" b="1"/>
              <a:t> gyroHeading.</a:t>
            </a:r>
          </a:p>
          <a:p>
            <a:pPr marL="457200" lvl="1" indent="0">
              <a:buNone/>
            </a:pPr>
            <a:r>
              <a:rPr lang="en-US"/>
              <a:t>Variables that are </a:t>
            </a:r>
            <a:r>
              <a:rPr lang="en-US" b="1"/>
              <a:t>final</a:t>
            </a:r>
            <a:r>
              <a:rPr lang="en-US"/>
              <a:t> are always all caps with underscores. For example: </a:t>
            </a:r>
            <a:r>
              <a:rPr lang="en-US" b="1"/>
              <a:t>RIGHT_MOTOR_ID</a:t>
            </a:r>
            <a:r>
              <a:rPr lang="en-US"/>
              <a:t> or </a:t>
            </a:r>
            <a:r>
              <a:rPr lang="en-US" b="1"/>
              <a:t>MAX_ARM_LENGTH</a:t>
            </a:r>
          </a:p>
          <a:p>
            <a:pPr marL="457200" lvl="1" indent="0">
              <a:buNone/>
            </a:pPr>
            <a:endParaRPr lang="en-US" b="1"/>
          </a:p>
          <a:p>
            <a:pPr marL="457200" lvl="1" indent="0">
              <a:buNone/>
            </a:pPr>
            <a:r>
              <a:rPr lang="en-US"/>
              <a:t>If you do not give a variable a value then one will automatically be assigned (0, 0.0, false, or null for int, double, boolean, and everything else respectively)</a:t>
            </a:r>
          </a:p>
        </p:txBody>
      </p:sp>
    </p:spTree>
    <p:extLst>
      <p:ext uri="{BB962C8B-B14F-4D97-AF65-F5344CB8AC3E}">
        <p14:creationId xmlns:p14="http://schemas.microsoft.com/office/powerpoint/2010/main" val="2461039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A493F-AF2A-834C-D8FF-7124DF5E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A9A97-E167-78E9-42C5-F1B751B80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42BE4-B404-4541-021E-52B0E177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8A44F-0558-D0E1-45AD-9997000514A4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Coding/Java Fundamentals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E957C4-F234-74C6-553F-AEEF646A9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31" y="3237098"/>
            <a:ext cx="11009938" cy="2260318"/>
          </a:xfrm>
          <a:prstGeom prst="rect">
            <a:avLst/>
          </a:prstGeom>
        </p:spPr>
      </p:pic>
      <p:sp>
        <p:nvSpPr>
          <p:cNvPr id="12" name="Right Arrow 11">
            <a:extLst>
              <a:ext uri="{FF2B5EF4-FFF2-40B4-BE49-F238E27FC236}">
                <a16:creationId xmlns:a16="http://schemas.microsoft.com/office/drawing/2014/main" id="{B9CB0D92-4F05-6939-6F21-5F864CDF46A0}"/>
              </a:ext>
            </a:extLst>
          </p:cNvPr>
          <p:cNvSpPr/>
          <p:nvPr/>
        </p:nvSpPr>
        <p:spPr>
          <a:xfrm rot="19404814">
            <a:off x="452365" y="5342368"/>
            <a:ext cx="1538747" cy="96773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Type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3378890C-5CB4-11F2-2C5F-2E41F0A88F30}"/>
              </a:ext>
            </a:extLst>
          </p:cNvPr>
          <p:cNvSpPr/>
          <p:nvPr/>
        </p:nvSpPr>
        <p:spPr>
          <a:xfrm rot="1016847">
            <a:off x="1329371" y="2347820"/>
            <a:ext cx="1538747" cy="96773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Name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D6752F7A-16CA-435B-FEFD-EE3D660A2E1F}"/>
              </a:ext>
            </a:extLst>
          </p:cNvPr>
          <p:cNvSpPr/>
          <p:nvPr/>
        </p:nvSpPr>
        <p:spPr>
          <a:xfrm rot="1016847">
            <a:off x="4764974" y="2337154"/>
            <a:ext cx="1538747" cy="96773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Value*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589BFD-1923-8D7A-75C8-39BAE7070BDD}"/>
              </a:ext>
            </a:extLst>
          </p:cNvPr>
          <p:cNvSpPr txBox="1"/>
          <p:nvPr/>
        </p:nvSpPr>
        <p:spPr>
          <a:xfrm>
            <a:off x="7425368" y="1150658"/>
            <a:ext cx="4336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* Denotes the ability to be assigned later. Unlike other values</a:t>
            </a:r>
          </a:p>
        </p:txBody>
      </p:sp>
    </p:spTree>
    <p:extLst>
      <p:ext uri="{BB962C8B-B14F-4D97-AF65-F5344CB8AC3E}">
        <p14:creationId xmlns:p14="http://schemas.microsoft.com/office/powerpoint/2010/main" val="1094741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BFAB0-A9DF-348F-8702-6ADCD7EF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67BFC-B1BE-FA6E-3482-BB9121854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 b="1" u="sng"/>
              <a:t>S</a:t>
            </a:r>
            <a:r>
              <a:rPr lang="en-US"/>
              <a:t>tring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275EE-E0DD-DFD1-DC20-3B6836BB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EDF64-8D30-4479-D2E0-16C8159E241F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Coding/Java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D2C0A-EA3F-A265-ADB5-EE92D88A2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558"/>
            <a:ext cx="105156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n-US"/>
              <a:t>String is really a class that we treat as a variable (Array of char’s). 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By convention, class names start with a Capital letter and then every other word is also capitalized. (PascalCase)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Once defined, String’s cannot be changed, but they can be replaced.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Strings use “” while chars use ‘’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FC121-D988-9AED-95B9-0DE4AEB38530}"/>
              </a:ext>
            </a:extLst>
          </p:cNvPr>
          <p:cNvSpPr txBox="1"/>
          <p:nvPr/>
        </p:nvSpPr>
        <p:spPr>
          <a:xfrm>
            <a:off x="991518" y="4885635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/>
              <a:t>S</a:t>
            </a:r>
            <a:r>
              <a:rPr lang="en-US" sz="3600"/>
              <a:t>tring </a:t>
            </a:r>
            <a:r>
              <a:rPr lang="en-US" sz="3600" err="1"/>
              <a:t>myName</a:t>
            </a:r>
            <a:r>
              <a:rPr lang="en-US" sz="3600"/>
              <a:t> = “Matthew Allen”;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27D2D-BC8A-5FF8-9BA4-4E5F5D528E66}"/>
              </a:ext>
            </a:extLst>
          </p:cNvPr>
          <p:cNvSpPr txBox="1"/>
          <p:nvPr/>
        </p:nvSpPr>
        <p:spPr>
          <a:xfrm>
            <a:off x="1144836" y="5453473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Note that: String </a:t>
            </a:r>
            <a:r>
              <a:rPr lang="en-US" err="1"/>
              <a:t>myName</a:t>
            </a:r>
            <a:r>
              <a:rPr lang="en-US"/>
              <a:t> = ‘Matthew Allen’; -- Throws an error</a:t>
            </a:r>
          </a:p>
        </p:txBody>
      </p:sp>
    </p:spTree>
    <p:extLst>
      <p:ext uri="{BB962C8B-B14F-4D97-AF65-F5344CB8AC3E}">
        <p14:creationId xmlns:p14="http://schemas.microsoft.com/office/powerpoint/2010/main" val="2138258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7EFCE-5825-E7D2-799C-F684640F4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C286D-4EFE-33B3-C870-FD443D2E9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String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224EF-940B-03AE-C3F4-6418C63F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60824F-520F-0D40-5193-A453F6E712D8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Coding/Java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6F9B7-0012-F5BB-429D-8180B1A5C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55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US"/>
              <a:t>Strings are objects so must be treated with strange rules. For example…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String A = "Hello";</a:t>
            </a:r>
          </a:p>
          <a:p>
            <a:pPr marL="457200" lvl="1" indent="0">
              <a:buNone/>
            </a:pPr>
            <a:r>
              <a:rPr lang="en-US"/>
              <a:t>String B = "Hello";</a:t>
            </a:r>
          </a:p>
          <a:p>
            <a:pPr marL="457200" lvl="1" indent="0">
              <a:buNone/>
            </a:pPr>
            <a:r>
              <a:rPr lang="en-US"/>
              <a:t>return (A == B);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Will return false because it will use the </a:t>
            </a:r>
            <a:r>
              <a:rPr lang="en-US" b="1"/>
              <a:t>addresses</a:t>
            </a:r>
            <a:r>
              <a:rPr lang="en-US"/>
              <a:t> of A and B. Where as…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String A = "Hello";</a:t>
            </a:r>
          </a:p>
          <a:p>
            <a:pPr marL="457200" lvl="1" indent="0">
              <a:buNone/>
            </a:pPr>
            <a:r>
              <a:rPr lang="en-US"/>
              <a:t>String B = "Hello";</a:t>
            </a:r>
          </a:p>
          <a:p>
            <a:pPr marL="457200" lvl="1" indent="0">
              <a:buNone/>
            </a:pPr>
            <a:r>
              <a:rPr lang="en-US"/>
              <a:t>return </a:t>
            </a:r>
            <a:r>
              <a:rPr lang="en-US" err="1"/>
              <a:t>A.equals</a:t>
            </a:r>
            <a:r>
              <a:rPr lang="en-US"/>
              <a:t>(B);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Returns true because .equals() is a custom method that will compare strings. </a:t>
            </a:r>
          </a:p>
          <a:p>
            <a:pPr marL="4572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69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3DFE6-B8F7-3DF8-65F2-306D38187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A72B-D7E6-611A-BE6A-0FA33C4E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String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8DC81-09E6-3A5A-B5A7-9A46C0E3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C2EBA-9486-334C-CB1E-BA5C8995F202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Coding/Java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901AF-0B8D-D338-8F4B-BB16F385C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558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/>
              <a:t>Notable String Methods include…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/>
              <a:t>String A = “</a:t>
            </a:r>
            <a:r>
              <a:rPr lang="en-US" err="1"/>
              <a:t>Abc</a:t>
            </a:r>
            <a:r>
              <a:rPr lang="en-US"/>
              <a:t>  ”;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r>
              <a:rPr lang="en-US" err="1"/>
              <a:t>A.trim</a:t>
            </a:r>
            <a:r>
              <a:rPr lang="en-US"/>
              <a:t>();				“</a:t>
            </a:r>
            <a:r>
              <a:rPr lang="en-US" err="1"/>
              <a:t>Abc</a:t>
            </a:r>
            <a:r>
              <a:rPr lang="en-US"/>
              <a:t>”</a:t>
            </a:r>
          </a:p>
          <a:p>
            <a:pPr marL="457200" lvl="1" indent="0">
              <a:buNone/>
            </a:pPr>
            <a:r>
              <a:rPr lang="en-US" err="1"/>
              <a:t>A.length</a:t>
            </a:r>
            <a:r>
              <a:rPr lang="en-US"/>
              <a:t>();				6 (Includes whitespace, otherwise 3)</a:t>
            </a:r>
          </a:p>
          <a:p>
            <a:pPr marL="457200" lvl="1" indent="0">
              <a:buNone/>
            </a:pPr>
            <a:r>
              <a:rPr lang="en-US" err="1"/>
              <a:t>A.toLowerCase</a:t>
            </a:r>
            <a:r>
              <a:rPr lang="en-US"/>
              <a:t>();			“</a:t>
            </a:r>
            <a:r>
              <a:rPr lang="en-US" err="1"/>
              <a:t>abc</a:t>
            </a:r>
            <a:r>
              <a:rPr lang="en-US"/>
              <a:t>”</a:t>
            </a:r>
          </a:p>
          <a:p>
            <a:pPr marL="457200" lvl="1" indent="0">
              <a:buNone/>
            </a:pPr>
            <a:r>
              <a:rPr lang="en-US" err="1"/>
              <a:t>A.toUpperCase</a:t>
            </a:r>
            <a:r>
              <a:rPr lang="en-US"/>
              <a:t>();			“ABC”</a:t>
            </a:r>
          </a:p>
          <a:p>
            <a:pPr marL="457200" lvl="1" indent="0">
              <a:buNone/>
            </a:pPr>
            <a:r>
              <a:rPr lang="en-US" err="1"/>
              <a:t>A.charAt</a:t>
            </a:r>
            <a:r>
              <a:rPr lang="en-US"/>
              <a:t>(0);			‘A’</a:t>
            </a:r>
          </a:p>
          <a:p>
            <a:pPr marL="457200" lvl="1" indent="0">
              <a:buNone/>
            </a:pPr>
            <a:r>
              <a:rPr lang="en-US" err="1"/>
              <a:t>A.substring</a:t>
            </a:r>
            <a:r>
              <a:rPr lang="en-US"/>
              <a:t>(1, (Optional)</a:t>
            </a:r>
            <a:r>
              <a:rPr lang="en-US">
                <a:sym typeface="Wingdings" pitchFamily="2" charset="2"/>
              </a:rPr>
              <a:t> </a:t>
            </a:r>
            <a:r>
              <a:rPr lang="en-US"/>
              <a:t>5);	“</a:t>
            </a:r>
            <a:r>
              <a:rPr lang="en-US" err="1"/>
              <a:t>bc</a:t>
            </a:r>
            <a:r>
              <a:rPr lang="en-US"/>
              <a:t>.  ”</a:t>
            </a:r>
          </a:p>
          <a:p>
            <a:pPr marL="457200" lvl="1" indent="0">
              <a:buNone/>
            </a:pPr>
            <a:r>
              <a:rPr lang="en-US" err="1"/>
              <a:t>A.equals</a:t>
            </a:r>
            <a:r>
              <a:rPr lang="en-US"/>
              <a:t>(A);			true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6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E1068-3FBC-9B40-35A1-FBF03090B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83B32-35DA-97C5-1B29-3762226C8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Inline Math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8868B-88BF-F95E-A0BC-2B9BCE66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D8D79-8014-0529-2558-3EBC8292803A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Coding/Java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CD0CD-FEA6-37D6-22CB-00F54FB8B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795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/>
              <a:t>You can (And will) do math in line!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419404-A549-C41D-32DE-0BF2AC4AF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728358"/>
              </p:ext>
            </p:extLst>
          </p:nvPr>
        </p:nvGraphicFramePr>
        <p:xfrm>
          <a:off x="1435100" y="2010685"/>
          <a:ext cx="8128000" cy="441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841">
                  <a:extLst>
                    <a:ext uri="{9D8B030D-6E8A-4147-A177-3AD203B41FA5}">
                      <a16:colId xmlns:a16="http://schemas.microsoft.com/office/drawing/2014/main" val="2181159470"/>
                    </a:ext>
                  </a:extLst>
                </a:gridCol>
                <a:gridCol w="6998159">
                  <a:extLst>
                    <a:ext uri="{9D8B030D-6E8A-4147-A177-3AD203B41FA5}">
                      <a16:colId xmlns:a16="http://schemas.microsoft.com/office/drawing/2014/main" val="3732650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Math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468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Assignment Operator. int A = 1;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431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==, &gt;, &gt;=, &lt;, 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Comparison Operator. A == B, A &gt;= B, etc.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087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Addition Operator. int A = 1 + 1;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867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Subtraction Operator AND negative operator. int A = 1 - 1; int B = -5;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858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Multiplication Operator. int A = 5 * 5; //25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714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Division operator - be aware that if you are using integers only the whole part is kept. It is NOT rounded. int A = (5 / 2); //2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795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Modulo Operator - This gives the remainder. int A = 5 % 2; //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197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         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These are parenthesis and they allow you to specify the order of operations just like in regular math.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37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3526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DB150-474E-F5A6-064A-A57C012F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7759-1304-1B8E-BC87-542A40EBE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Inline Math++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B0017-0103-449C-9FD7-6D6746F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CF1B81-1448-C81B-E766-45313392033A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Coding/Java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C65F4-30F2-319C-CD01-E5091A973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795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/>
              <a:t>These are some more…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75C764-4C57-F474-2C70-452853D4C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651211"/>
              </p:ext>
            </p:extLst>
          </p:nvPr>
        </p:nvGraphicFramePr>
        <p:xfrm>
          <a:off x="1435100" y="2010685"/>
          <a:ext cx="887668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146">
                  <a:extLst>
                    <a:ext uri="{9D8B030D-6E8A-4147-A177-3AD203B41FA5}">
                      <a16:colId xmlns:a16="http://schemas.microsoft.com/office/drawing/2014/main" val="2181159470"/>
                    </a:ext>
                  </a:extLst>
                </a:gridCol>
                <a:gridCol w="7157542">
                  <a:extLst>
                    <a:ext uri="{9D8B030D-6E8A-4147-A177-3AD203B41FA5}">
                      <a16:colId xmlns:a16="http://schemas.microsoft.com/office/drawing/2014/main" val="3732650345"/>
                    </a:ext>
                  </a:extLst>
                </a:gridCol>
              </a:tblGrid>
              <a:tr h="735446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Math 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468009"/>
                  </a:ext>
                </a:extLst>
              </a:tr>
              <a:tr h="42609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x++ means the same as x = x + 1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431785"/>
                  </a:ext>
                </a:extLst>
              </a:tr>
              <a:tr h="42609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x-- means the same as x = x - 1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087577"/>
                  </a:ext>
                </a:extLst>
              </a:tr>
              <a:tr h="42609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+=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x += 2 means the same as x = x + 2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8675194"/>
                  </a:ext>
                </a:extLst>
              </a:tr>
              <a:tr h="42609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-=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x -= 2 means the same as x = x - 2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177870"/>
                  </a:ext>
                </a:extLst>
              </a:tr>
              <a:tr h="42609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*=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x *= 2 means the same as x = x *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858384"/>
                  </a:ext>
                </a:extLst>
              </a:tr>
              <a:tr h="42609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x /= 2 means the same as x = x /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714898"/>
                  </a:ext>
                </a:extLst>
              </a:tr>
              <a:tr h="42609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%=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x %= 2 means the same as x = x %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795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965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F9F9-708A-D2C4-8C28-7E0B6F7D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28112-51F2-E249-3DD1-2FA866F1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34E7C-B026-1E81-FA83-6C697110D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12EC8F-B7F5-EA8B-AF10-8C046AE00DE2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Coding/Java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87ED7-60C1-8B55-E3C0-DD3DE15E4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/>
              <a:t>You can (and should) add comments to the program which the computer ignores and are for human readers only. </a:t>
            </a:r>
            <a:r>
              <a:rPr lang="en-US" b="1"/>
              <a:t>Comments should explain why and not what.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6437F7-BE52-550F-7234-304DDBD55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865494"/>
              </p:ext>
            </p:extLst>
          </p:nvPr>
        </p:nvGraphicFramePr>
        <p:xfrm>
          <a:off x="1532263" y="2562324"/>
          <a:ext cx="8128000" cy="366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3735922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6469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Example(s)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97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Single 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// This is a 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085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Block comment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/* This is also a comment */</a:t>
                      </a:r>
                    </a:p>
                    <a:p>
                      <a:endParaRPr lang="en-US"/>
                    </a:p>
                    <a:p>
                      <a:r>
                        <a:rPr lang="en-US"/>
                        <a:t>/* So is this */</a:t>
                      </a:r>
                    </a:p>
                    <a:p>
                      <a:endParaRPr lang="en-US"/>
                    </a:p>
                    <a:p>
                      <a:r>
                        <a:rPr lang="en-US"/>
                        <a:t>/*</a:t>
                      </a:r>
                    </a:p>
                    <a:p>
                      <a:r>
                        <a:rPr lang="en-US"/>
                        <a:t>* me</a:t>
                      </a:r>
                    </a:p>
                    <a:p>
                      <a:r>
                        <a:rPr lang="en-US"/>
                        <a:t>* too!! */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92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Javadoc comment (For later)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/**</a:t>
                      </a:r>
                    </a:p>
                    <a:p>
                      <a:r>
                        <a:rPr lang="en-US"/>
                        <a:t>* This is a </a:t>
                      </a:r>
                      <a:r>
                        <a:rPr lang="en-US" err="1"/>
                        <a:t>javadoc</a:t>
                      </a:r>
                      <a:r>
                        <a:rPr lang="en-US"/>
                        <a:t> comment</a:t>
                      </a:r>
                    </a:p>
                    <a:p>
                      <a:r>
                        <a:rPr lang="en-US"/>
                        <a:t>*/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810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658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9257C-5BA1-3748-A2AB-E0FE822BB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CC7E-5CBC-44E9-C602-C78880179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8301" y="1041400"/>
            <a:ext cx="7553899" cy="2387600"/>
          </a:xfrm>
        </p:spPr>
        <p:txBody>
          <a:bodyPr>
            <a:normAutofit/>
          </a:bodyPr>
          <a:lstStyle/>
          <a:p>
            <a:r>
              <a:rPr lang="en-US"/>
              <a:t>What did you learn in the last section?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7ABE2-4143-5FA2-A035-767818AA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28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B7C020C-EBD9-3DC2-6234-214173D0E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9050" y="3546953"/>
            <a:ext cx="7553899" cy="1655762"/>
          </a:xfrm>
        </p:spPr>
        <p:txBody>
          <a:bodyPr/>
          <a:lstStyle/>
          <a:p>
            <a:r>
              <a:rPr lang="en-US"/>
              <a:t>Talk about it with a friend then everyone will tell me 1 (or more) things they learned or have a question about :)</a:t>
            </a:r>
          </a:p>
        </p:txBody>
      </p:sp>
    </p:spTree>
    <p:extLst>
      <p:ext uri="{BB962C8B-B14F-4D97-AF65-F5344CB8AC3E}">
        <p14:creationId xmlns:p14="http://schemas.microsoft.com/office/powerpoint/2010/main" val="253280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BC26A-66A2-2F0A-AB42-674B00FC4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B22A-202D-FD0B-70E8-BE9F0264B8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Making Decisions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F9890-8B09-4EFE-5538-9E7841BD4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(Scary)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DAFD8-A3AE-26CB-BBEB-F31BBE52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A5CD1D-182B-F3C0-5C90-AAB5662F2B80}"/>
              </a:ext>
            </a:extLst>
          </p:cNvPr>
          <p:cNvSpPr txBox="1"/>
          <p:nvPr/>
        </p:nvSpPr>
        <p:spPr>
          <a:xfrm>
            <a:off x="5602884" y="6171684"/>
            <a:ext cx="98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Break??</a:t>
            </a:r>
          </a:p>
        </p:txBody>
      </p:sp>
    </p:spTree>
    <p:extLst>
      <p:ext uri="{BB962C8B-B14F-4D97-AF65-F5344CB8AC3E}">
        <p14:creationId xmlns:p14="http://schemas.microsoft.com/office/powerpoint/2010/main" val="4083111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2487-6C30-E001-41A5-628032D29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327B2-0310-3F7B-9F1A-797AAE6E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EED18-CB48-65C1-3AA3-31F196F1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C30ED-0567-F199-D155-E729D4327B6D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1D301-D7F0-4563-3CA3-EF82A13DD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D2062A-91D3-3345-FD8A-4930C0010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360505"/>
              </p:ext>
            </p:extLst>
          </p:nvPr>
        </p:nvGraphicFramePr>
        <p:xfrm>
          <a:off x="1657656" y="1819803"/>
          <a:ext cx="8876688" cy="3478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146">
                  <a:extLst>
                    <a:ext uri="{9D8B030D-6E8A-4147-A177-3AD203B41FA5}">
                      <a16:colId xmlns:a16="http://schemas.microsoft.com/office/drawing/2014/main" val="2181159470"/>
                    </a:ext>
                  </a:extLst>
                </a:gridCol>
                <a:gridCol w="7157542">
                  <a:extLst>
                    <a:ext uri="{9D8B030D-6E8A-4147-A177-3AD203B41FA5}">
                      <a16:colId xmlns:a16="http://schemas.microsoft.com/office/drawing/2014/main" val="3732650345"/>
                    </a:ext>
                  </a:extLst>
                </a:gridCol>
              </a:tblGrid>
              <a:tr h="735446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468009"/>
                  </a:ext>
                </a:extLst>
              </a:tr>
              <a:tr h="42609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is 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431785"/>
                  </a:ext>
                </a:extLst>
              </a:tr>
              <a:tr h="42609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is not 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087577"/>
                  </a:ext>
                </a:extLst>
              </a:tr>
              <a:tr h="42609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is less than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8675194"/>
                  </a:ext>
                </a:extLst>
              </a:tr>
              <a:tr h="42609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is greater than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177870"/>
                  </a:ext>
                </a:extLst>
              </a:tr>
              <a:tr h="42609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is less than or 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858384"/>
                  </a:ext>
                </a:extLst>
              </a:tr>
              <a:tr h="426091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is greater than or 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7148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926C34B-1817-8607-8C10-C66BA8F17B3D}"/>
              </a:ext>
            </a:extLst>
          </p:cNvPr>
          <p:cNvSpPr txBox="1"/>
          <p:nvPr/>
        </p:nvSpPr>
        <p:spPr>
          <a:xfrm>
            <a:off x="2422333" y="5540744"/>
            <a:ext cx="7347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 common mistake is trying to test for equality with the assignment operator = instead of the equality operator ==.</a:t>
            </a:r>
          </a:p>
        </p:txBody>
      </p:sp>
    </p:spTree>
    <p:extLst>
      <p:ext uri="{BB962C8B-B14F-4D97-AF65-F5344CB8AC3E}">
        <p14:creationId xmlns:p14="http://schemas.microsoft.com/office/powerpoint/2010/main" val="37530293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35DEB-0DD6-4537-4227-C4EB33167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EF32-2389-D935-9E58-C21DDE00B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Logical operators (AND, OR, NOT)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9B219-A887-0F3B-879C-409FEA77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C70E42-3E2F-93D1-CF03-199A15BB05FB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93960-5DB5-0CEF-E580-91A7BA47F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</p:txBody>
      </p:sp>
      <p:pic>
        <p:nvPicPr>
          <p:cNvPr id="1026" name="Picture 2" descr="The Logic in Logical Operators. Explaining the concept of logical… | by  Shafi Sahal | Geek Culture | Medium">
            <a:extLst>
              <a:ext uri="{FF2B5EF4-FFF2-40B4-BE49-F238E27FC236}">
                <a16:creationId xmlns:a16="http://schemas.microsoft.com/office/drawing/2014/main" id="{9C71A2AB-903F-A871-2B6B-F506A968F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200" y="1383457"/>
            <a:ext cx="63373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0307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ECC72-390E-A7BC-E2AA-2056B4820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A56E-9E8D-16D8-7F8B-A1487AE15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52" y="136525"/>
            <a:ext cx="11874803" cy="1325563"/>
          </a:xfrm>
        </p:spPr>
        <p:txBody>
          <a:bodyPr/>
          <a:lstStyle/>
          <a:p>
            <a:r>
              <a:rPr lang="en-US"/>
              <a:t>Logical operators (AND, OR, NOT)</a:t>
            </a:r>
            <a:r>
              <a:rPr lang="en-US" sz="2000"/>
              <a:t> – Way to advanced but cool imo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572A4-5D58-5E7F-0A20-0A6CEC21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F79B8-A33F-2103-54ED-242DC15BE478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CCEDE-6399-2F9B-37D3-C6411BC12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D0446D-376E-A093-4F24-A14467FE5B53}"/>
              </a:ext>
            </a:extLst>
          </p:cNvPr>
          <p:cNvSpPr txBox="1"/>
          <p:nvPr/>
        </p:nvSpPr>
        <p:spPr>
          <a:xfrm>
            <a:off x="228143" y="1383457"/>
            <a:ext cx="1173571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Conditional Identity: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P → q ≡ !P V Q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De Morgan's Laws: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!(P ^ Q) ≡ !P V !Q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!(P V Q) ≡ !P ^ !Q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A ∩ B  ≡ A U B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 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U B = A ∩ B </a:t>
            </a:r>
            <a:endParaRPr lang="en-US" sz="1800" b="0" i="0" u="none" strike="noStrike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Identity Laws: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^ T ≡ P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V F ≡ P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Domination Laws: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V/U T = T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P ^/∩ F = F</a:t>
            </a:r>
            <a:endParaRPr lang="en-US" sz="1800" b="1" i="0" u="none" strike="noStrike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Idempotent Laws: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^/∩ P ≡ P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V/U P ≡ P</a:t>
            </a:r>
            <a:endParaRPr lang="en-US" sz="1800" b="1" i="0" u="none" strike="noStrike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Double Negation Law: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!!P ≡ P</a:t>
            </a:r>
            <a:endParaRPr lang="en-US" sz="1800" b="1" i="0" u="none" strike="noStrike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Commutative Laws: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^/∩ Q ≡ Q ^/∩ P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v/U Q ≡ Q v/U P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^/∩ Q ^/∩ R ≡ Q ^/∩ R ^ /∩ P ≡ R ^/∩ P ^/∩ Q</a:t>
            </a:r>
            <a:endParaRPr lang="en-US" sz="1800" b="1" i="0" u="none" strike="noStrike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Associative Laws: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(p ^/∩ q) ^/∩ r ≡ p ^/∩ (q ^/∩ r)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(p v/U q) v/U ≡ p ≡ (q v/U r)</a:t>
            </a:r>
            <a:endParaRPr lang="en-US" sz="1800" b="1" i="0" u="none" strike="noStrike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Distributive Laws: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^/∩ (q V/U r) ≡ (p ^/∩ q) V/U (p ^/∩ r)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P V/U (q ^/∩ r) ≡ (p v/U q) ^/∩ (p v/U r)</a:t>
            </a:r>
            <a:endParaRPr lang="en-US" sz="1800" b="1" i="0" u="none" strike="noStrike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Complement / Negation Laws: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^/∩ !p ≡ F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P V/U !p ≡ T</a:t>
            </a:r>
            <a:endParaRPr lang="en-US" sz="1800" b="1" i="0" u="none" strike="noStrike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Absorption Laws: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^/∩ (p v/U q) ≡ p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v/U (p ^/∩ q) ≡ p</a:t>
            </a:r>
            <a:endParaRPr lang="en-US" sz="1800" b="1" i="0" u="none" strike="noStrike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Lab 1: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¬p∧(</a:t>
            </a:r>
            <a:r>
              <a:rPr lang="en-US" sz="1800" b="0" i="0" u="none" strike="noStrike" err="1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p∨q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) ≡ ¬</a:t>
            </a:r>
            <a:r>
              <a:rPr lang="en-US" sz="1800" b="0" i="0" u="none" strike="noStrike" err="1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p∧q</a:t>
            </a:r>
            <a:endParaRPr lang="en-US" sz="1800" b="1" i="0" u="none" strike="noStrike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Biconditional Law: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↔ q ≡ (</a:t>
            </a:r>
            <a:r>
              <a:rPr lang="en-US" sz="1800" b="0" i="0" u="none" strike="noStrike" err="1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p∧q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)∨(¬p∧¬q)</a:t>
            </a:r>
            <a:endParaRPr lang="en-US" sz="1800" b="1" i="0" u="none" strike="noStrike">
              <a:solidFill>
                <a:srgbClr val="000000"/>
              </a:solidFill>
              <a:effectLst/>
              <a:latin typeface="Cambria" panose="02040503050406030204" pitchFamily="18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De Morgan’s Laws for Quantified Statements:</a:t>
            </a:r>
          </a:p>
          <a:p>
            <a:pPr marL="457200" rtl="0"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!∀x: P(x ) ≡ </a:t>
            </a:r>
            <a:r>
              <a:rPr lang="en-US" sz="1800" b="0" i="0" u="none" strike="noStrike" err="1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Ǝx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: !P(x)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!</a:t>
            </a:r>
            <a:r>
              <a:rPr lang="en-US" sz="1800" b="0" i="0" u="none" strike="noStrike" err="1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Ǝx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: P(x ) ≡ ∀x*: !P(x)</a:t>
            </a:r>
            <a:endParaRPr lang="en-US">
              <a:effectLst/>
            </a:endParaRPr>
          </a:p>
          <a:p>
            <a:pPr>
              <a:buNone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 → Q ≡ !Q → !P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A B = A B </a:t>
            </a:r>
            <a:r>
              <a:rPr lang="en-US" sz="1800" b="1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OR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 A B = A 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281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3E558-0373-3C3D-0D04-C5DA1300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4D3-B838-E689-9C99-65F4170B5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884"/>
            <a:ext cx="10515600" cy="1325563"/>
          </a:xfrm>
        </p:spPr>
        <p:txBody>
          <a:bodyPr/>
          <a:lstStyle/>
          <a:p>
            <a:r>
              <a:rPr lang="en-US" dirty="0"/>
              <a:t>Convert to logic statements: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B2644-A4F3-709F-956B-9F3A6B502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DB5A0-C677-A7C1-46F1-50599EB72808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673CA6-2C5A-13A9-E5E6-A0D21D7AC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5955"/>
            <a:ext cx="7772400" cy="59120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318B2C-5EB6-3ED7-0A08-60AC927638E9}"/>
              </a:ext>
            </a:extLst>
          </p:cNvPr>
          <p:cNvSpPr txBox="1"/>
          <p:nvPr/>
        </p:nvSpPr>
        <p:spPr>
          <a:xfrm>
            <a:off x="7976212" y="5376231"/>
            <a:ext cx="3460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 These last two are a bit trickier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64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30937-049C-AB7D-24D7-41761AFD1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C88F-D1E4-E18B-C11F-172287AC5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215509"/>
            <a:ext cx="4335137" cy="1325563"/>
          </a:xfrm>
        </p:spPr>
        <p:txBody>
          <a:bodyPr/>
          <a:lstStyle/>
          <a:p>
            <a:r>
              <a:rPr lang="en-US" dirty="0"/>
              <a:t>How many did </a:t>
            </a:r>
            <a:br>
              <a:rPr lang="en-US" dirty="0"/>
            </a:br>
            <a:r>
              <a:rPr lang="en-US" dirty="0"/>
              <a:t>you get??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09B2C-E007-C157-A370-F6ED8E5DD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053DF-3355-D73E-3A53-83FD83052078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51CC04-A45D-055B-9118-9C081EAA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509"/>
            <a:ext cx="7772400" cy="66424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62F076-0D4D-9ACE-1A29-F1A1E613CD76}"/>
              </a:ext>
            </a:extLst>
          </p:cNvPr>
          <p:cNvSpPr txBox="1"/>
          <p:nvPr/>
        </p:nvSpPr>
        <p:spPr>
          <a:xfrm>
            <a:off x="7976212" y="6184804"/>
            <a:ext cx="2871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 Did anyone get this one?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2920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49673-A66A-A366-B224-26FAE2ED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5072-CF99-DE13-31C9-54224197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If/Else Statements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32F0A-C1F2-197B-4744-EDED8922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69DF7-A670-7563-2EA8-20B0F13A41EA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28764-57DF-24D0-CC6B-DC13FC4CF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3074" name="Picture 2" descr="Java if statement - GeeksforGeeks">
            <a:extLst>
              <a:ext uri="{FF2B5EF4-FFF2-40B4-BE49-F238E27FC236}">
                <a16:creationId xmlns:a16="http://schemas.microsoft.com/office/drawing/2014/main" id="{6003FAA0-B239-5704-6CEE-F2370987A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740" y="1383457"/>
            <a:ext cx="8006519" cy="547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5797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D0C9-66A4-DC74-C7DB-E24C705B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84D8-9D46-9BED-2D63-3AB35A29C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If/Else Statements – What Prints?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A01A1-CFC7-C5AA-F101-ABE0F3DC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8BDE2-FEE3-8F4D-7EC5-EC68558C6086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E91C-B3E2-0BF2-190B-9FA92357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6FBC62-37AE-B4B3-1BC2-79D5F5B38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397" y="1383457"/>
            <a:ext cx="5847203" cy="519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54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8FA09-7AF3-432A-8328-08E6EB295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D3CD-7E88-76A1-62EF-D1B16F1F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If/Else Statements – What Prints?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36B52-EA9D-C699-C262-1521B175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4CBE6-A0C9-8F5E-6766-7AF05930E459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24122-8673-0F73-31DF-4485DC11F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7CD8AB-6874-849A-64EE-FF46C8D8B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397" y="1383457"/>
            <a:ext cx="5847203" cy="51928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C1B7F1-80DD-4876-CE89-EB61D2F7D2D7}"/>
              </a:ext>
            </a:extLst>
          </p:cNvPr>
          <p:cNvSpPr txBox="1"/>
          <p:nvPr/>
        </p:nvSpPr>
        <p:spPr>
          <a:xfrm>
            <a:off x="8868578" y="2912795"/>
            <a:ext cx="1895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is 5 and y is 10</a:t>
            </a:r>
          </a:p>
          <a:p>
            <a:r>
              <a:rPr lang="en-US" dirty="0"/>
              <a:t>z is greater than x</a:t>
            </a:r>
          </a:p>
        </p:txBody>
      </p:sp>
    </p:spTree>
    <p:extLst>
      <p:ext uri="{BB962C8B-B14F-4D97-AF65-F5344CB8AC3E}">
        <p14:creationId xmlns:p14="http://schemas.microsoft.com/office/powerpoint/2010/main" val="22123267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5DF9-DE77-8D38-53C3-42C95747F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DDD8-F2D8-A0D1-045E-B6111D191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if -- quirky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E0EDB-CA33-DC5B-8FAF-4E91F47F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9233F-6E5C-8431-68D7-27FA447A7342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39B75-5613-5AAB-CFD2-0602503B7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CEB04A-C857-D885-8EBE-FD0D6EF53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74" y="1767534"/>
            <a:ext cx="9461652" cy="135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846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2FF6C-E91C-54EA-D73A-A122E71EF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D0BEA-0715-166A-6716-D34A3AAA8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Common Offense…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9E866-B46F-3EBD-CA8B-DC46CA89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77FA5-7AB4-9A5E-3E60-C6F5F81451FC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66014-B746-E2E0-DA3E-ED8F4DD3A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B43AC9-FC5E-0EE1-4D33-10DCA77E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53" y="1806766"/>
            <a:ext cx="9305093" cy="244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851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F7CF8-F4EA-25AF-0859-62835801A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57E84-D28A-5D27-927E-5A2A1728C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(Do) While Loops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8826A-1C79-6271-0977-33BBE94C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40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773548-1621-87A3-F080-7A834F8FF019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D8D3B-C9E7-2D92-47AA-C3E7E20C3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8194" name="Picture 2" descr="Java while Loop - GeeksforGeeks">
            <a:extLst>
              <a:ext uri="{FF2B5EF4-FFF2-40B4-BE49-F238E27FC236}">
                <a16:creationId xmlns:a16="http://schemas.microsoft.com/office/drawing/2014/main" id="{4FF43B8E-BEF1-DAC4-827D-EE93FCC2E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8" y="1387399"/>
            <a:ext cx="7563769" cy="465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Java Do While Loop - GeeksforGeeks">
            <a:extLst>
              <a:ext uri="{FF2B5EF4-FFF2-40B4-BE49-F238E27FC236}">
                <a16:creationId xmlns:a16="http://schemas.microsoft.com/office/drawing/2014/main" id="{748F506F-D3D2-FE0C-7DA1-B6A7089B6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662" y="1785654"/>
            <a:ext cx="5762140" cy="3546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2071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B0FB-C71A-9662-4175-618F3721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F86F-19E0-6E63-20E9-8AB93893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(Do) While Loops – What Prints?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A2443-1937-B68D-5C6D-6D6FBE34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41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6776F-2647-4152-6743-A39C79A02FDC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1E32A-94A6-BA89-6678-E45F5E7D8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7C3D31-3241-44C9-6399-BE452C1CE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282" y="1732252"/>
            <a:ext cx="6096318" cy="468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40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A88D-6EB1-A768-6B81-BA79EDB34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894B1-A0EF-8143-13C0-7B491551C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(Do) While Loops – What Prints?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4CEDB-A01C-2169-8710-985C2618B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42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872F7-3067-3278-3A83-0DB96AFE59FD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781D0-32D0-2885-CEFF-D12CEB39D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8D2155-23F3-43E1-2C52-505340958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282" y="1732252"/>
            <a:ext cx="6096318" cy="4689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396F4A-7524-8937-AFF2-4E04ED542D31}"/>
              </a:ext>
            </a:extLst>
          </p:cNvPr>
          <p:cNvSpPr txBox="1"/>
          <p:nvPr/>
        </p:nvSpPr>
        <p:spPr>
          <a:xfrm>
            <a:off x="9132983" y="2941503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2</a:t>
            </a:r>
          </a:p>
        </p:txBody>
      </p:sp>
    </p:spTree>
    <p:extLst>
      <p:ext uri="{BB962C8B-B14F-4D97-AF65-F5344CB8AC3E}">
        <p14:creationId xmlns:p14="http://schemas.microsoft.com/office/powerpoint/2010/main" val="21612936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54DC7-B550-B942-91E7-FA22F65D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E533F-343C-BA95-F189-B6C9F636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(Do) While Loops – What Prints?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99676-DC5B-C3E0-86C3-116A3D5F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43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21751-DC06-466E-82C0-72A87248FC32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A9BDB-8586-8865-005B-77CBFE6A9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F16761-0B34-A330-1E5A-0B3526D76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761" y="1956172"/>
            <a:ext cx="6156478" cy="320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68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4A76-885F-E91D-0A97-4C6446496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8C27E-348E-3DDD-0CBF-6CFD0EEE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(Do) While Loops – What Prints?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62E30-6445-2FFD-850E-7EE9F79B9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3E5E3-22B6-7831-3AD2-9AFE9F2B3233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2FCF3-40B7-83A8-216E-651B8ABFB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953818-BBA3-A323-F249-1EBFD9DA2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761" y="1956172"/>
            <a:ext cx="6156478" cy="32059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6DE8D-DA3F-AA39-D2F4-57BDBC68A30D}"/>
              </a:ext>
            </a:extLst>
          </p:cNvPr>
          <p:cNvSpPr txBox="1"/>
          <p:nvPr/>
        </p:nvSpPr>
        <p:spPr>
          <a:xfrm>
            <a:off x="9529590" y="2709020"/>
            <a:ext cx="3080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725069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84E1-4ED9-D2E4-B74E-66B160BA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503AD-4FC4-3935-DFF4-E7DA2022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C2642-327D-44B3-A857-F2813B31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45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72821-D9B3-C1C7-2FC3-1E1511F3AE29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AD2BC-ACCA-43DC-F7A4-1B6F5BAD1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0242" name="Picture 2" descr="Java For Loop - GeeksforGeeks">
            <a:extLst>
              <a:ext uri="{FF2B5EF4-FFF2-40B4-BE49-F238E27FC236}">
                <a16:creationId xmlns:a16="http://schemas.microsoft.com/office/drawing/2014/main" id="{3A827F71-D75C-1975-8E57-BA78C03A2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942" y="1299991"/>
            <a:ext cx="8442593" cy="5188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7739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36784-F1A0-69F2-8AA1-6D52CAFC8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B190-C068-F0D2-FBBF-15FB4FD31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  – What Prints?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EC5C5-F4AE-C420-C8CB-02461027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46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DD5A1-48E1-A79A-6B96-2F83701BC67D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435F3-DDA7-8EAD-00E8-05E6E4BBE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C0DA5-5590-4687-3088-ACF15DC27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01" y="1566406"/>
            <a:ext cx="7654367" cy="175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9463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29466-5548-A871-2F29-08A6AD820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9F8A-4D23-12C8-058E-6B507318D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 – What Prints?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93B28-6103-DA72-7469-AA12EE3DF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47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3EC8BB-B23B-FF67-6876-1B1519BD81D0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64599-1707-B4B7-257B-EBCC1DD80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CAA4FF-0AB2-2819-4326-FA34C85D8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01" y="1566406"/>
            <a:ext cx="7654367" cy="17563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6D3FF3-6A33-DEED-7AE8-229E562F24A4}"/>
              </a:ext>
            </a:extLst>
          </p:cNvPr>
          <p:cNvSpPr txBox="1"/>
          <p:nvPr/>
        </p:nvSpPr>
        <p:spPr>
          <a:xfrm>
            <a:off x="9031788" y="1277859"/>
            <a:ext cx="52129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: 0</a:t>
            </a:r>
          </a:p>
          <a:p>
            <a:r>
              <a:rPr lang="en-US" dirty="0"/>
              <a:t>i : 1</a:t>
            </a:r>
          </a:p>
          <a:p>
            <a:r>
              <a:rPr lang="en-US" dirty="0"/>
              <a:t>i : 2</a:t>
            </a:r>
          </a:p>
          <a:p>
            <a:r>
              <a:rPr lang="en-US" dirty="0"/>
              <a:t>i : 3</a:t>
            </a:r>
          </a:p>
          <a:p>
            <a:r>
              <a:rPr lang="en-US" dirty="0"/>
              <a:t>i : 4</a:t>
            </a:r>
          </a:p>
          <a:p>
            <a:r>
              <a:rPr lang="en-US" dirty="0"/>
              <a:t>i : 5</a:t>
            </a:r>
          </a:p>
          <a:p>
            <a:r>
              <a:rPr lang="en-US" dirty="0"/>
              <a:t>i : 6</a:t>
            </a:r>
          </a:p>
          <a:p>
            <a:r>
              <a:rPr lang="en-US" dirty="0"/>
              <a:t>i : 7</a:t>
            </a:r>
          </a:p>
          <a:p>
            <a:r>
              <a:rPr lang="en-US" dirty="0"/>
              <a:t>i : 8</a:t>
            </a:r>
          </a:p>
          <a:p>
            <a:r>
              <a:rPr lang="en-US" dirty="0"/>
              <a:t>i : 9</a:t>
            </a:r>
          </a:p>
        </p:txBody>
      </p:sp>
    </p:spTree>
    <p:extLst>
      <p:ext uri="{BB962C8B-B14F-4D97-AF65-F5344CB8AC3E}">
        <p14:creationId xmlns:p14="http://schemas.microsoft.com/office/powerpoint/2010/main" val="4738668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F57A5-F76F-033C-6932-C73EEE4D0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633A-24E0-7C12-67E4-B4C74491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 – What Prints Now?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6375D-4E16-9E85-AA81-998E373C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48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4EFF23-AE47-7B31-1FA7-B34D3292E211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F803E-AA2D-6C80-CB72-0A88DB1FA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D8E1EF-CCFE-2CF2-B89E-96766890E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46" y="2016087"/>
            <a:ext cx="8590745" cy="21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893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1E7C-B5DC-99CB-8178-3EC554C7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79E1-5CF5-B404-1C7F-1D293350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 – What Prints Now?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9452D-D396-F1E0-0702-A843290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49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09761-5FF0-0B8B-1E1B-AC8F074C2257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89F4E-A0A0-25C3-90EF-384974220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87887-1C29-30CD-A58D-3844CBDD8C22}"/>
              </a:ext>
            </a:extLst>
          </p:cNvPr>
          <p:cNvSpPr txBox="1"/>
          <p:nvPr/>
        </p:nvSpPr>
        <p:spPr>
          <a:xfrm>
            <a:off x="10111441" y="1752090"/>
            <a:ext cx="64472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: 10</a:t>
            </a:r>
          </a:p>
          <a:p>
            <a:r>
              <a:rPr lang="en-US" dirty="0"/>
              <a:t>i : 9</a:t>
            </a:r>
          </a:p>
          <a:p>
            <a:r>
              <a:rPr lang="en-US" dirty="0"/>
              <a:t>i : 8</a:t>
            </a:r>
          </a:p>
          <a:p>
            <a:r>
              <a:rPr lang="en-US" dirty="0"/>
              <a:t>i : 7</a:t>
            </a:r>
          </a:p>
          <a:p>
            <a:r>
              <a:rPr lang="en-US" dirty="0"/>
              <a:t>i : 6</a:t>
            </a:r>
          </a:p>
          <a:p>
            <a:r>
              <a:rPr lang="en-US" dirty="0"/>
              <a:t>i : 5</a:t>
            </a:r>
          </a:p>
          <a:p>
            <a:r>
              <a:rPr lang="en-US" dirty="0"/>
              <a:t>i : 4</a:t>
            </a:r>
          </a:p>
          <a:p>
            <a:r>
              <a:rPr lang="en-US" dirty="0"/>
              <a:t>i : 3</a:t>
            </a:r>
          </a:p>
          <a:p>
            <a:r>
              <a:rPr lang="en-US" dirty="0"/>
              <a:t>i : 2</a:t>
            </a:r>
          </a:p>
          <a:p>
            <a:r>
              <a:rPr lang="en-US" dirty="0"/>
              <a:t>i : 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AE2F50-055E-98DB-7950-4342E9598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46" y="2016087"/>
            <a:ext cx="8590745" cy="216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681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32686-6382-0340-7650-CFB51AB8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AEF4A-6F72-6098-DDC7-E1B95BEC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Switch(es)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7AE51-847C-137F-816E-7948A470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50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0EC29-017C-87C8-D76E-D09800901CA4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0C771-675C-925E-EB51-25866CFFE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457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5880C8-D429-D2A1-C662-8D8BDFDC2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200" y="1529834"/>
            <a:ext cx="72644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761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FAF78-016F-4A68-EA02-1AA8D0A0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DB6F7-DDA5-68F4-0568-51BEAD899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Scope and Visibility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C3AED-0986-425D-040B-CBA06628B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51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5EA3C-E2DA-2E7E-6986-DF5D0C955648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Making Decisions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709D63-6FB3-0199-C4F7-BF293C9A0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352" y="498432"/>
            <a:ext cx="3509791" cy="61749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69E8FE-CB46-B9A5-40D0-5124A590A949}"/>
              </a:ext>
            </a:extLst>
          </p:cNvPr>
          <p:cNvSpPr txBox="1"/>
          <p:nvPr/>
        </p:nvSpPr>
        <p:spPr>
          <a:xfrm>
            <a:off x="1615194" y="2109329"/>
            <a:ext cx="4115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Find the errors </a:t>
            </a:r>
            <a:r>
              <a:rPr lang="en-US" sz="4000" dirty="0">
                <a:sym typeface="Wingdings" pitchFamily="2" charset="2"/>
              </a:rPr>
              <a:t>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750032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D4244-2616-143A-04C0-D9C5C9402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EF75E-E6DB-BE74-6CA2-228D7E14F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8301" y="1041400"/>
            <a:ext cx="7553899" cy="2387600"/>
          </a:xfrm>
        </p:spPr>
        <p:txBody>
          <a:bodyPr>
            <a:normAutofit/>
          </a:bodyPr>
          <a:lstStyle/>
          <a:p>
            <a:r>
              <a:rPr lang="en-US" dirty="0"/>
              <a:t>What did you learn in the last section?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2FC07-51B5-DF44-AF53-A7F40964E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52</a:t>
            </a:fld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4400B6B-6BA6-54E8-5BE7-820DC83F2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9050" y="3546953"/>
            <a:ext cx="7553899" cy="1655762"/>
          </a:xfrm>
        </p:spPr>
        <p:txBody>
          <a:bodyPr/>
          <a:lstStyle/>
          <a:p>
            <a:r>
              <a:rPr lang="en-US" dirty="0"/>
              <a:t>Talk about it with a friend then everyone will tell me 1 </a:t>
            </a:r>
          </a:p>
          <a:p>
            <a:r>
              <a:rPr lang="en-US" dirty="0"/>
              <a:t>(or more) things they learned or have a question about :)</a:t>
            </a:r>
          </a:p>
        </p:txBody>
      </p:sp>
    </p:spTree>
    <p:extLst>
      <p:ext uri="{BB962C8B-B14F-4D97-AF65-F5344CB8AC3E}">
        <p14:creationId xmlns:p14="http://schemas.microsoft.com/office/powerpoint/2010/main" val="32090243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1EA52-57B0-961A-595F-F7640D33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621B2-1A46-6E11-A66D-D68E68A2C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First OpMode /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9BF4F-6CE7-B4F7-831F-270CE9F450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(About time)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06BD3-47D5-8C89-49F5-60A26C8A8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53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2063E-22EB-7BEB-40EF-4F5131B7B3EA}"/>
              </a:ext>
            </a:extLst>
          </p:cNvPr>
          <p:cNvSpPr txBox="1"/>
          <p:nvPr/>
        </p:nvSpPr>
        <p:spPr>
          <a:xfrm>
            <a:off x="5602884" y="6171684"/>
            <a:ext cx="98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Break??</a:t>
            </a:r>
          </a:p>
        </p:txBody>
      </p:sp>
    </p:spTree>
    <p:extLst>
      <p:ext uri="{BB962C8B-B14F-4D97-AF65-F5344CB8AC3E}">
        <p14:creationId xmlns:p14="http://schemas.microsoft.com/office/powerpoint/2010/main" val="27336763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5FF15-073B-3D5F-5DD3-687D70FBF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DF20-4AAC-AF13-8A91-0FB7AA33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an OpMode? </a:t>
            </a:r>
            <a:r>
              <a:rPr lang="en-US" sz="3600" dirty="0"/>
              <a:t>(TeleOp vs Autonomous)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A4B3E-AC36-9CB2-C744-F13FA5E73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54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058FA-0AF9-EA6C-26BF-9E143913A79D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OpMode / Program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73A5E6-8541-7AF3-9A4E-1987CE7A171D}"/>
              </a:ext>
            </a:extLst>
          </p:cNvPr>
          <p:cNvSpPr txBox="1"/>
          <p:nvPr/>
        </p:nvSpPr>
        <p:spPr>
          <a:xfrm>
            <a:off x="725576" y="1828801"/>
            <a:ext cx="107408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FTC, An OpMode is a program for our robot. We can have multiple OpModes. They are all stored in the TeamCode package. They are all of type TeleOp or Autonomous (for now). </a:t>
            </a:r>
          </a:p>
          <a:p>
            <a:endParaRPr lang="en-US" sz="2800" dirty="0"/>
          </a:p>
          <a:p>
            <a:r>
              <a:rPr lang="en-US" sz="2800" dirty="0"/>
              <a:t>OpModes are required to have two methods: init() and loop()</a:t>
            </a:r>
          </a:p>
          <a:p>
            <a:endParaRPr lang="en-US" sz="2800" dirty="0"/>
          </a:p>
          <a:p>
            <a:r>
              <a:rPr lang="en-US" sz="2800" dirty="0"/>
              <a:t>There are three optional methods. These are less common but can be very useful: init_loop(), start(), and stop()</a:t>
            </a:r>
          </a:p>
        </p:txBody>
      </p:sp>
    </p:spTree>
    <p:extLst>
      <p:ext uri="{BB962C8B-B14F-4D97-AF65-F5344CB8AC3E}">
        <p14:creationId xmlns:p14="http://schemas.microsoft.com/office/powerpoint/2010/main" val="29568493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59F40-9EC2-5C99-C955-C9DE40FC9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D5E53-7F36-A6F7-48C5-D697206D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Understanding OpMode structure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491E1-147C-505C-3C0C-C902BAB7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55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CA7276-DE2D-9AFC-3C93-E0D6637BC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906235"/>
              </p:ext>
            </p:extLst>
          </p:nvPr>
        </p:nvGraphicFramePr>
        <p:xfrm>
          <a:off x="1435100" y="1585105"/>
          <a:ext cx="8128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393">
                  <a:extLst>
                    <a:ext uri="{9D8B030D-6E8A-4147-A177-3AD203B41FA5}">
                      <a16:colId xmlns:a16="http://schemas.microsoft.com/office/drawing/2014/main" val="2934929289"/>
                    </a:ext>
                  </a:extLst>
                </a:gridCol>
                <a:gridCol w="5984607">
                  <a:extLst>
                    <a:ext uri="{9D8B030D-6E8A-4147-A177-3AD203B41FA5}">
                      <a16:colId xmlns:a16="http://schemas.microsoft.com/office/drawing/2014/main" val="1090338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Required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90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init()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is run once when the driver presses INIT.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482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loop()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is run repeatedly (every 20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) after driver presses PLAY but before STOP.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64775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58AF394-B40F-A83A-47FF-393E79177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835039"/>
              </p:ext>
            </p:extLst>
          </p:nvPr>
        </p:nvGraphicFramePr>
        <p:xfrm>
          <a:off x="1435100" y="3459890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393">
                  <a:extLst>
                    <a:ext uri="{9D8B030D-6E8A-4147-A177-3AD203B41FA5}">
                      <a16:colId xmlns:a16="http://schemas.microsoft.com/office/drawing/2014/main" val="2934929289"/>
                    </a:ext>
                  </a:extLst>
                </a:gridCol>
                <a:gridCol w="5984607">
                  <a:extLst>
                    <a:ext uri="{9D8B030D-6E8A-4147-A177-3AD203B41FA5}">
                      <a16:colId xmlns:a16="http://schemas.microsoft.com/office/drawing/2014/main" val="1090338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Optional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90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init_loop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is run repeatedly (every 20 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) after driver presses INIT but before PLAY.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482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start()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This is run once when the driver presses PLAY.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647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stop()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This is run once when the driver presses STOP.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18043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EF1A069-5DEE-1439-90A7-07AE7FED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100" y="1210555"/>
            <a:ext cx="2628900" cy="4965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840BBC-C596-537C-6E56-A1A4BAED90B8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OpMode / Program</a:t>
            </a:r>
          </a:p>
        </p:txBody>
      </p:sp>
    </p:spTree>
    <p:extLst>
      <p:ext uri="{BB962C8B-B14F-4D97-AF65-F5344CB8AC3E}">
        <p14:creationId xmlns:p14="http://schemas.microsoft.com/office/powerpoint/2010/main" val="6901250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2AEFA-3F2B-8FF0-B87D-9D6B738C8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1C4C3-21BD-D443-F484-0FCA521D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Bonus: Quick Definitions </a:t>
            </a:r>
            <a:br>
              <a:rPr lang="en-US"/>
            </a:br>
            <a:r>
              <a:rPr lang="en-US" sz="2800"/>
              <a:t>(You don’t need to know these YET)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2BF06-DC8F-3B9F-5F3C-D7DA7C39A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56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A74E6A5-A2E8-8E21-BCB2-8BE2759FE9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888124"/>
              </p:ext>
            </p:extLst>
          </p:nvPr>
        </p:nvGraphicFramePr>
        <p:xfrm>
          <a:off x="974379" y="1777285"/>
          <a:ext cx="10240792" cy="3931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4580">
                  <a:extLst>
                    <a:ext uri="{9D8B030D-6E8A-4147-A177-3AD203B41FA5}">
                      <a16:colId xmlns:a16="http://schemas.microsoft.com/office/drawing/2014/main" val="1866528665"/>
                    </a:ext>
                  </a:extLst>
                </a:gridCol>
                <a:gridCol w="7976212">
                  <a:extLst>
                    <a:ext uri="{9D8B030D-6E8A-4147-A177-3AD203B41FA5}">
                      <a16:colId xmlns:a16="http://schemas.microsoft.com/office/drawing/2014/main" val="3000909811"/>
                    </a:ext>
                  </a:extLst>
                </a:gridCol>
              </a:tblGrid>
              <a:tr h="1206993">
                <a:tc>
                  <a:txBody>
                    <a:bodyPr/>
                    <a:lstStyle/>
                    <a:p>
                      <a:pPr algn="ctr"/>
                      <a:r>
                        <a:rPr lang="en-US" sz="400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In Java all code is grouped together in classes. For now, just know that a class groups like code together and in Java, each class is in its own file that is named the same as the class with .java at the end</a:t>
                      </a:r>
                    </a:p>
                    <a:p>
                      <a:r>
                        <a:rPr lang="en-US" sz="2000"/>
                        <a:t>For example: </a:t>
                      </a:r>
                      <a:r>
                        <a:rPr lang="en-US" sz="2000" err="1"/>
                        <a:t>HelloWorld.java</a:t>
                      </a:r>
                      <a:r>
                        <a:rPr lang="en-US" sz="2000"/>
                        <a:t> has the class “HelloWorld”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49895"/>
                  </a:ext>
                </a:extLst>
              </a:tr>
              <a:tr h="1206993">
                <a:tc>
                  <a:txBody>
                    <a:bodyPr/>
                    <a:lstStyle/>
                    <a:p>
                      <a:pPr algn="ctr"/>
                      <a:r>
                        <a:rPr lang="en-US" sz="400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 method is a group of code within a class. Methods are the smallest group of code that can be executed. It is like a function (Python anyone??) in some languages or a </a:t>
                      </a:r>
                      <a:r>
                        <a:rPr lang="en-US" sz="2000" err="1"/>
                        <a:t>MyBlock</a:t>
                      </a:r>
                      <a:r>
                        <a:rPr lang="en-US" sz="2000"/>
                        <a:t> in EV3-G.</a:t>
                      </a:r>
                    </a:p>
                    <a:p>
                      <a:r>
                        <a:rPr lang="en-US" sz="2000"/>
                        <a:t>For example: int add(int a, int b) {…} //Adds two </a:t>
                      </a:r>
                      <a:r>
                        <a:rPr lang="en-US" sz="2000" err="1"/>
                        <a:t>ints</a:t>
                      </a: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798834"/>
                  </a:ext>
                </a:extLst>
              </a:tr>
              <a:tr h="1206993">
                <a:tc>
                  <a:txBody>
                    <a:bodyPr/>
                    <a:lstStyle/>
                    <a:p>
                      <a:pPr algn="ctr"/>
                      <a:r>
                        <a:rPr lang="en-US" sz="4000"/>
                        <a:t>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directory in JAVA. It is where the code is located. Files in the same package have special privileges with each other. A package can have packages within it</a:t>
                      </a:r>
                    </a:p>
                    <a:p>
                      <a:r>
                        <a:rPr lang="en-US" sz="2000" dirty="0"/>
                        <a:t>For example: “package </a:t>
                      </a:r>
                      <a:r>
                        <a:rPr lang="en-US" sz="2000" dirty="0" err="1"/>
                        <a:t>org.firstinspires.ftc.teamcode</a:t>
                      </a:r>
                      <a:r>
                        <a:rPr lang="en-US" sz="2000" dirty="0"/>
                        <a:t>;”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1107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F7BB53-E957-AC57-C9C1-16C9377B0D82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OpMode / Program</a:t>
            </a:r>
          </a:p>
        </p:txBody>
      </p:sp>
    </p:spTree>
    <p:extLst>
      <p:ext uri="{BB962C8B-B14F-4D97-AF65-F5344CB8AC3E}">
        <p14:creationId xmlns:p14="http://schemas.microsoft.com/office/powerpoint/2010/main" val="11427134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F8131-5B44-93AC-BAEF-026AD82A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90A6-5548-80AD-622E-3A246719F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OpMode vs Regular Java</a:t>
            </a:r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FA980-606A-6248-BDC6-A02CFD07B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57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9AA60-97DD-7578-91B6-BEF8E9245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59" y="1402773"/>
            <a:ext cx="6653068" cy="45663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BE46E3-BF9B-CF54-79E9-EC462566E9F6}"/>
              </a:ext>
            </a:extLst>
          </p:cNvPr>
          <p:cNvSpPr txBox="1"/>
          <p:nvPr/>
        </p:nvSpPr>
        <p:spPr>
          <a:xfrm>
            <a:off x="8356819" y="2359004"/>
            <a:ext cx="1625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“Regular Java”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D2105C-A2FF-8234-4FCD-33847D4C802B}"/>
              </a:ext>
            </a:extLst>
          </p:cNvPr>
          <p:cNvSpPr txBox="1"/>
          <p:nvPr/>
        </p:nvSpPr>
        <p:spPr>
          <a:xfrm>
            <a:off x="5160092" y="1402773"/>
            <a:ext cx="2184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“OpMode/FTC Java”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244EAD-625D-97C9-F84F-FFF22436F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567" y="2710944"/>
            <a:ext cx="6206501" cy="21915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D699C8-F9A1-F1BC-8C69-D830D3D70B24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OpMode / Program</a:t>
            </a:r>
          </a:p>
        </p:txBody>
      </p:sp>
    </p:spTree>
    <p:extLst>
      <p:ext uri="{BB962C8B-B14F-4D97-AF65-F5344CB8AC3E}">
        <p14:creationId xmlns:p14="http://schemas.microsoft.com/office/powerpoint/2010/main" val="18446160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F6AEF-9326-77F4-F2F3-BCF729F1B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8702-01D2-58BC-0F87-6A4403A5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582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Creating a "Hello World" program</a:t>
            </a:r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2DD17-8385-4E4B-9E5C-15EA615B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58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E42A0B-9045-467A-23C9-2A92C1AD9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59" y="1402773"/>
            <a:ext cx="6653068" cy="45663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91202D-6993-9550-1B0F-1A42A93B22BE}"/>
              </a:ext>
            </a:extLst>
          </p:cNvPr>
          <p:cNvSpPr txBox="1"/>
          <p:nvPr/>
        </p:nvSpPr>
        <p:spPr>
          <a:xfrm>
            <a:off x="6908001" y="1364588"/>
            <a:ext cx="4705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Line 1 basically says where this file is located.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7B5456-D75F-C8FD-3D50-6B0E96B0A9AD}"/>
              </a:ext>
            </a:extLst>
          </p:cNvPr>
          <p:cNvSpPr txBox="1"/>
          <p:nvPr/>
        </p:nvSpPr>
        <p:spPr>
          <a:xfrm>
            <a:off x="6957715" y="1858736"/>
            <a:ext cx="4944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 and 4 bring in code from the FTC SDK </a:t>
            </a:r>
          </a:p>
          <a:p>
            <a:r>
              <a:rPr lang="en-US"/>
              <a:t>(Software Development Kit) so we can use them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6A6C14-9370-58CF-F8F0-C7FD8B698B40}"/>
              </a:ext>
            </a:extLst>
          </p:cNvPr>
          <p:cNvSpPr/>
          <p:nvPr/>
        </p:nvSpPr>
        <p:spPr>
          <a:xfrm>
            <a:off x="592859" y="1277957"/>
            <a:ext cx="6347768" cy="1242280"/>
          </a:xfrm>
          <a:prstGeom prst="rect">
            <a:avLst/>
          </a:prstGeom>
          <a:noFill/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5C96B-68C6-1673-9E53-F2B7F7552A41}"/>
              </a:ext>
            </a:extLst>
          </p:cNvPr>
          <p:cNvSpPr txBox="1"/>
          <p:nvPr/>
        </p:nvSpPr>
        <p:spPr>
          <a:xfrm>
            <a:off x="1607372" y="927768"/>
            <a:ext cx="4776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Android Studio (and other IDE’s) do this for you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2719EB-1861-CF8E-C9CE-3F32EF13F3CB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OpMode / Program</a:t>
            </a:r>
          </a:p>
        </p:txBody>
      </p:sp>
    </p:spTree>
    <p:extLst>
      <p:ext uri="{BB962C8B-B14F-4D97-AF65-F5344CB8AC3E}">
        <p14:creationId xmlns:p14="http://schemas.microsoft.com/office/powerpoint/2010/main" val="21939316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7415C-0F86-BB03-E408-CF14A9B36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EC11-C947-F4FE-BCD8-C686E22EE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582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Creating a "Hello World" program</a:t>
            </a:r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FDE98-BDC3-76AB-9755-2C622F34A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59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3EFDC9-9DDB-B414-0E67-20C4EBA18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59" y="1402773"/>
            <a:ext cx="6653068" cy="4566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0D12FF-D297-D34F-4236-EDA0CB27682E}"/>
              </a:ext>
            </a:extLst>
          </p:cNvPr>
          <p:cNvSpPr txBox="1"/>
          <p:nvPr/>
        </p:nvSpPr>
        <p:spPr>
          <a:xfrm>
            <a:off x="5585552" y="2633030"/>
            <a:ext cx="63714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</a:t>
            </a:r>
            <a:r>
              <a:rPr lang="en-US" b="1" dirty="0"/>
              <a:t>CRITICAL</a:t>
            </a:r>
            <a:r>
              <a:rPr lang="en-US" dirty="0"/>
              <a:t>. (Mainly for Robot Container) If you forget this line, it won’t show up on the </a:t>
            </a:r>
            <a:r>
              <a:rPr lang="en-US" dirty="0" err="1"/>
              <a:t>DriverStation</a:t>
            </a:r>
            <a:r>
              <a:rPr lang="en-US" dirty="0"/>
              <a:t> as an OpMode to select from. </a:t>
            </a:r>
          </a:p>
          <a:p>
            <a:endParaRPr lang="en-US" dirty="0"/>
          </a:p>
          <a:p>
            <a:r>
              <a:rPr lang="en-US" b="1" dirty="0"/>
              <a:t>Any line that starts with an @ is called an annotation. </a:t>
            </a:r>
          </a:p>
          <a:p>
            <a:r>
              <a:rPr lang="en-US" dirty="0"/>
              <a:t>You can choose from @</a:t>
            </a:r>
            <a:r>
              <a:rPr lang="en-US" dirty="0" err="1"/>
              <a:t>Teleop</a:t>
            </a:r>
            <a:r>
              <a:rPr lang="en-US" dirty="0"/>
              <a:t>() or @Autonomous(). </a:t>
            </a:r>
          </a:p>
          <a:p>
            <a:endParaRPr lang="en-US" dirty="0"/>
          </a:p>
          <a:p>
            <a:r>
              <a:rPr lang="en-US" dirty="0"/>
              <a:t>You can optionally give it a name and a group, but if you leave those off then it will use your class name as the name.</a:t>
            </a:r>
          </a:p>
          <a:p>
            <a:endParaRPr lang="en-US" dirty="0"/>
          </a:p>
          <a:p>
            <a:r>
              <a:rPr lang="en-US" dirty="0"/>
              <a:t>Another annotation is @Disabled. If you have that, then your code will compile but it won’t be shown in the list of OpModes.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34CFC8-0AE8-9B25-9D1F-3BAC543DC397}"/>
              </a:ext>
            </a:extLst>
          </p:cNvPr>
          <p:cNvSpPr/>
          <p:nvPr/>
        </p:nvSpPr>
        <p:spPr>
          <a:xfrm>
            <a:off x="473725" y="2633030"/>
            <a:ext cx="1311008" cy="395559"/>
          </a:xfrm>
          <a:prstGeom prst="rect">
            <a:avLst/>
          </a:prstGeom>
          <a:noFill/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146814-E849-14A2-4D31-28AC33D0204B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OpMode / Program</a:t>
            </a:r>
          </a:p>
        </p:txBody>
      </p:sp>
    </p:spTree>
    <p:extLst>
      <p:ext uri="{BB962C8B-B14F-4D97-AF65-F5344CB8AC3E}">
        <p14:creationId xmlns:p14="http://schemas.microsoft.com/office/powerpoint/2010/main" val="31555933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7078-AC63-F135-4C8E-2B078AE56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8EFF0-4EE7-BA8F-0DBC-72FB87770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582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Creating a "Hello World" program</a:t>
            </a:r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6A007-5A80-D1B3-627D-4CB8713A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60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0C054D-7D96-345A-D847-E375E0F0D7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22"/>
          <a:stretch/>
        </p:blipFill>
        <p:spPr>
          <a:xfrm>
            <a:off x="517793" y="1483038"/>
            <a:ext cx="6653068" cy="44328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59025D-3B02-242D-AB84-B67D051B892C}"/>
              </a:ext>
            </a:extLst>
          </p:cNvPr>
          <p:cNvSpPr txBox="1"/>
          <p:nvPr/>
        </p:nvSpPr>
        <p:spPr>
          <a:xfrm>
            <a:off x="5585552" y="2633030"/>
            <a:ext cx="637145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public</a:t>
            </a:r>
            <a:r>
              <a:rPr lang="en-US" dirty="0"/>
              <a:t> - means others can see it. Required for OpModes and most classes. We’ll learn about this later. </a:t>
            </a:r>
          </a:p>
          <a:p>
            <a:endParaRPr lang="en-US" dirty="0"/>
          </a:p>
          <a:p>
            <a:r>
              <a:rPr lang="en-US" i="1" dirty="0"/>
              <a:t>class</a:t>
            </a:r>
            <a:r>
              <a:rPr lang="en-US" dirty="0"/>
              <a:t> - means we are defining a class. A class is defined from the opening curly brace “{“ to the closing curly brace</a:t>
            </a:r>
          </a:p>
          <a:p>
            <a:r>
              <a:rPr lang="en-US" dirty="0"/>
              <a:t>“}”</a:t>
            </a:r>
          </a:p>
          <a:p>
            <a:endParaRPr lang="en-US" dirty="0"/>
          </a:p>
          <a:p>
            <a:r>
              <a:rPr lang="en-US" i="1" dirty="0"/>
              <a:t>HelloWorld</a:t>
            </a:r>
            <a:r>
              <a:rPr lang="en-US" dirty="0"/>
              <a:t> - this is the name of the class. It must be the same as the filename (except the filename has .java on it). By convention, it should be started with a capital letter and each new word is a capital letter (Pascal case).</a:t>
            </a:r>
          </a:p>
          <a:p>
            <a:endParaRPr lang="en-US" dirty="0"/>
          </a:p>
          <a:p>
            <a:r>
              <a:rPr lang="en-US" i="1" dirty="0"/>
              <a:t>extends OpMode</a:t>
            </a:r>
            <a:r>
              <a:rPr lang="en-US" dirty="0"/>
              <a:t> - This means the class is a child of OpMode . A child gets all of the behavior of its parent and then can add (or replace) functionality. We will talk about this way later.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4C0E35-CBB8-764D-7840-5644DCF2237E}"/>
              </a:ext>
            </a:extLst>
          </p:cNvPr>
          <p:cNvSpPr/>
          <p:nvPr/>
        </p:nvSpPr>
        <p:spPr>
          <a:xfrm>
            <a:off x="561860" y="3022423"/>
            <a:ext cx="4693185" cy="395559"/>
          </a:xfrm>
          <a:prstGeom prst="rect">
            <a:avLst/>
          </a:prstGeom>
          <a:noFill/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86ECE5-3CF4-7215-74F1-69FFCA41E1C1}"/>
              </a:ext>
            </a:extLst>
          </p:cNvPr>
          <p:cNvSpPr/>
          <p:nvPr/>
        </p:nvSpPr>
        <p:spPr>
          <a:xfrm>
            <a:off x="394771" y="5653791"/>
            <a:ext cx="651831" cy="395559"/>
          </a:xfrm>
          <a:prstGeom prst="rect">
            <a:avLst/>
          </a:prstGeom>
          <a:noFill/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47F48C-8293-FF36-84D0-1B3363C3ECD6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OpMode / Program</a:t>
            </a:r>
          </a:p>
        </p:txBody>
      </p:sp>
    </p:spTree>
    <p:extLst>
      <p:ext uri="{BB962C8B-B14F-4D97-AF65-F5344CB8AC3E}">
        <p14:creationId xmlns:p14="http://schemas.microsoft.com/office/powerpoint/2010/main" val="39637640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28E31-ECF5-8C4D-77FE-7A650C8C3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11F99-9F15-E90B-E758-482EB22D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582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Creating a "Hello World" program</a:t>
            </a:r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E59BC-33DD-3700-A8E7-C73150670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61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7186C-3142-7D7D-8E12-966044828FEE}"/>
              </a:ext>
            </a:extLst>
          </p:cNvPr>
          <p:cNvSpPr txBox="1"/>
          <p:nvPr/>
        </p:nvSpPr>
        <p:spPr>
          <a:xfrm>
            <a:off x="5257800" y="892364"/>
            <a:ext cx="63714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@Override</a:t>
            </a:r>
            <a:r>
              <a:rPr lang="en-US" dirty="0"/>
              <a:t> tells the compiler that we are meaning to override (replace) functionality in our parent class. We’ll discuss this later.</a:t>
            </a:r>
          </a:p>
          <a:p>
            <a:endParaRPr lang="en-US" dirty="0"/>
          </a:p>
          <a:p>
            <a:r>
              <a:rPr lang="en-US" dirty="0"/>
              <a:t>public means this method is callable from outside the class. We’ll discuss this later. </a:t>
            </a:r>
          </a:p>
          <a:p>
            <a:endParaRPr lang="en-US" dirty="0"/>
          </a:p>
          <a:p>
            <a:r>
              <a:rPr lang="en-US" dirty="0"/>
              <a:t>void means it doesn’t return anything. </a:t>
            </a:r>
          </a:p>
          <a:p>
            <a:endParaRPr lang="en-US" dirty="0"/>
          </a:p>
          <a:p>
            <a:r>
              <a:rPr lang="en-US" dirty="0"/>
              <a:t>init is the name of a method. </a:t>
            </a:r>
          </a:p>
          <a:p>
            <a:endParaRPr lang="en-US" dirty="0"/>
          </a:p>
          <a:p>
            <a:r>
              <a:rPr lang="en-US" dirty="0"/>
              <a:t>Inside of the parenthesis are any parameters passed in or none. (as in this case) </a:t>
            </a:r>
          </a:p>
          <a:p>
            <a:endParaRPr lang="en-US" dirty="0"/>
          </a:p>
          <a:p>
            <a:r>
              <a:rPr lang="en-US" dirty="0"/>
              <a:t>The method is defined from the opening curly brace “{“ to the closing curly brace “}”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2D12B8-0950-0560-F968-D751E9793FF1}"/>
              </a:ext>
            </a:extLst>
          </p:cNvPr>
          <p:cNvSpPr/>
          <p:nvPr/>
        </p:nvSpPr>
        <p:spPr>
          <a:xfrm>
            <a:off x="236632" y="892364"/>
            <a:ext cx="4910579" cy="1156771"/>
          </a:xfrm>
          <a:prstGeom prst="rect">
            <a:avLst/>
          </a:prstGeom>
          <a:noFill/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7C52A9-6614-244F-CED7-C8694818A1FD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OpMode / Program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28C65-51EF-B505-4B23-A4BB6C32C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33" y="1005170"/>
            <a:ext cx="4673946" cy="99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534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607FE-19D5-1619-7A3D-01F4ECB2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31D0-07C2-A144-E045-23E6E449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582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Creating a "Hello World" program</a:t>
            </a:r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F09A8-19C4-EFEA-1C1B-916BB4A7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62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109BC-FDE3-AC23-E84E-D1F43FF00A28}"/>
              </a:ext>
            </a:extLst>
          </p:cNvPr>
          <p:cNvSpPr txBox="1"/>
          <p:nvPr/>
        </p:nvSpPr>
        <p:spPr>
          <a:xfrm>
            <a:off x="5257800" y="892364"/>
            <a:ext cx="63714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telemetry.addData</a:t>
            </a:r>
            <a:r>
              <a:rPr lang="en-US"/>
              <a:t>(caption, value); This is very cool because it sends data to the driver station which lets us debug problems. </a:t>
            </a:r>
          </a:p>
          <a:p>
            <a:endParaRPr lang="en-US"/>
          </a:p>
          <a:p>
            <a:r>
              <a:rPr lang="en-US"/>
              <a:t>In this case we sent back a string, but you can (and will) also send back numbers or variables. You’ll notice that this ends in a semi-colon “;” All statements in JAVA either end with a semi-colon or have a set of curly braces attached.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5602A-5EF2-CE80-DBDC-96133EA2E710}"/>
              </a:ext>
            </a:extLst>
          </p:cNvPr>
          <p:cNvSpPr/>
          <p:nvPr/>
        </p:nvSpPr>
        <p:spPr>
          <a:xfrm>
            <a:off x="236632" y="892364"/>
            <a:ext cx="4910579" cy="1156771"/>
          </a:xfrm>
          <a:prstGeom prst="rect">
            <a:avLst/>
          </a:prstGeom>
          <a:noFill/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F0DD81-A026-A479-AA08-4DC5625A3462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OpMode / Program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2BBCE7-EA79-24FE-C488-1B52AB170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33" y="1005170"/>
            <a:ext cx="4673946" cy="99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188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39D9B-8A90-AD20-69EE-921FF65BD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2AD3-93D5-F0C4-E105-DFC0F6B1F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582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Creating a "Hello World" program</a:t>
            </a:r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25D7D-2901-FD13-A6F1-96AEA0B7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63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954504-F180-1CD5-6608-683F3C4EC6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22"/>
          <a:stretch/>
        </p:blipFill>
        <p:spPr>
          <a:xfrm>
            <a:off x="517793" y="1483038"/>
            <a:ext cx="6653068" cy="44328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56FDB3-563A-2212-32C8-222FE2336A8B}"/>
              </a:ext>
            </a:extLst>
          </p:cNvPr>
          <p:cNvSpPr txBox="1"/>
          <p:nvPr/>
        </p:nvSpPr>
        <p:spPr>
          <a:xfrm>
            <a:off x="4605051" y="4229408"/>
            <a:ext cx="6371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loop() </a:t>
            </a:r>
            <a:r>
              <a:rPr lang="en-US" dirty="0"/>
              <a:t>looks much the same as our init() method, but there is no code in the loop() method, so the program won’t do anything here. </a:t>
            </a:r>
          </a:p>
          <a:p>
            <a:r>
              <a:rPr lang="en-US" dirty="0"/>
              <a:t>(We included it because it is required as a child of OpMode.)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D9A1D6-63B9-7E4E-6FF8-2B7AC3AE6F40}"/>
              </a:ext>
            </a:extLst>
          </p:cNvPr>
          <p:cNvSpPr/>
          <p:nvPr/>
        </p:nvSpPr>
        <p:spPr>
          <a:xfrm>
            <a:off x="936434" y="4571999"/>
            <a:ext cx="2500829" cy="1134737"/>
          </a:xfrm>
          <a:prstGeom prst="rect">
            <a:avLst/>
          </a:prstGeom>
          <a:noFill/>
          <a:ln w="762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134D94-5359-A388-C081-304194AE7D7D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OpMode / Program</a:t>
            </a:r>
          </a:p>
        </p:txBody>
      </p:sp>
    </p:spTree>
    <p:extLst>
      <p:ext uri="{BB962C8B-B14F-4D97-AF65-F5344CB8AC3E}">
        <p14:creationId xmlns:p14="http://schemas.microsoft.com/office/powerpoint/2010/main" val="24326282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AD3F8-3FD3-9D95-C9A5-5068604B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D50DB-9AA0-A7FA-B788-956FFB4AE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910" y="0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Now you! Creating a "Hello World" program</a:t>
            </a:r>
            <a:endParaRPr lang="en-US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4887D-576D-7637-3D04-87221811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64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0DEA94-0F66-73D7-D55F-62E369DCF908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OpMode /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FB22D2-68E2-C8DE-8081-03BEE7E930FB}"/>
              </a:ext>
            </a:extLst>
          </p:cNvPr>
          <p:cNvSpPr txBox="1"/>
          <p:nvPr/>
        </p:nvSpPr>
        <p:spPr>
          <a:xfrm>
            <a:off x="460910" y="1244906"/>
            <a:ext cx="9161226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Install Android Studio with a copy of the FTC SDK. </a:t>
            </a:r>
          </a:p>
          <a:p>
            <a:r>
              <a:rPr lang="en-US" sz="1400"/>
              <a:t>(</a:t>
            </a:r>
            <a:r>
              <a:rPr lang="en-US" sz="1400">
                <a:hlinkClick r:id="rId2"/>
              </a:rPr>
              <a:t>https://ftc-docs.firstinspires.org/en/latest/programming_resources/android_studio_java/install/install.html</a:t>
            </a:r>
            <a:r>
              <a:rPr lang="en-US" sz="1400"/>
              <a:t> for help)</a:t>
            </a:r>
          </a:p>
          <a:p>
            <a:endParaRPr lang="en-US" sz="1400"/>
          </a:p>
          <a:p>
            <a:r>
              <a:rPr lang="en-US"/>
              <a:t> Create a java class file named “HelloWorld”</a:t>
            </a:r>
          </a:p>
          <a:p>
            <a:r>
              <a:rPr lang="en-US"/>
              <a:t>It should generate this:</a:t>
            </a:r>
          </a:p>
        </p:txBody>
      </p:sp>
      <p:pic>
        <p:nvPicPr>
          <p:cNvPr id="12" name="Picture 11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89A70F88-148B-42C7-CE54-1BAD318B7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77" y="2676241"/>
            <a:ext cx="7294340" cy="16919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541913-260D-1C0F-C8D0-314D628C3BAE}"/>
              </a:ext>
            </a:extLst>
          </p:cNvPr>
          <p:cNvSpPr txBox="1"/>
          <p:nvPr/>
        </p:nvSpPr>
        <p:spPr>
          <a:xfrm>
            <a:off x="2346593" y="4368227"/>
            <a:ext cx="7384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Update this to “extends OpMode” it will have a warning at first. This is ok.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637D62-EB6D-68D0-2F4B-09F0A27306A2}"/>
              </a:ext>
            </a:extLst>
          </p:cNvPr>
          <p:cNvCxnSpPr/>
          <p:nvPr/>
        </p:nvCxnSpPr>
        <p:spPr>
          <a:xfrm flipH="1" flipV="1">
            <a:off x="4869455" y="3844029"/>
            <a:ext cx="172068" cy="44904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DAB5E0A-4370-2001-D4BE-7D648AB421F2}"/>
              </a:ext>
            </a:extLst>
          </p:cNvPr>
          <p:cNvSpPr txBox="1"/>
          <p:nvPr/>
        </p:nvSpPr>
        <p:spPr>
          <a:xfrm>
            <a:off x="440675" y="5651653"/>
            <a:ext cx="2812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Can you do the rest alone?</a:t>
            </a:r>
          </a:p>
        </p:txBody>
      </p:sp>
    </p:spTree>
    <p:extLst>
      <p:ext uri="{BB962C8B-B14F-4D97-AF65-F5344CB8AC3E}">
        <p14:creationId xmlns:p14="http://schemas.microsoft.com/office/powerpoint/2010/main" val="27899639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EFE70-9903-C02C-6DF6-92505DED3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AFB8F-7558-310E-526A-07EC14B56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65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04E81-C066-243D-D5E0-79B0F1E3FA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22"/>
          <a:stretch/>
        </p:blipFill>
        <p:spPr>
          <a:xfrm>
            <a:off x="1542361" y="1325563"/>
            <a:ext cx="7550480" cy="50307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5FD403-1CD4-FBB4-64D8-C236F53392AE}"/>
              </a:ext>
            </a:extLst>
          </p:cNvPr>
          <p:cNvSpPr txBox="1"/>
          <p:nvPr/>
        </p:nvSpPr>
        <p:spPr>
          <a:xfrm>
            <a:off x="0" y="6488668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OpMode / Program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29F3F0E-CB22-0CB5-7386-39CCAC76D0A1}"/>
              </a:ext>
            </a:extLst>
          </p:cNvPr>
          <p:cNvSpPr txBox="1">
            <a:spLocks/>
          </p:cNvSpPr>
          <p:nvPr/>
        </p:nvSpPr>
        <p:spPr>
          <a:xfrm>
            <a:off x="46091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(Answer) Creating a "Hello World" program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7356428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C898-B489-1FE9-66C2-55365298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702CE-62B5-5151-95CD-E93377EF3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8301" y="1041400"/>
            <a:ext cx="7553899" cy="2387600"/>
          </a:xfrm>
        </p:spPr>
        <p:txBody>
          <a:bodyPr>
            <a:normAutofit/>
          </a:bodyPr>
          <a:lstStyle/>
          <a:p>
            <a:r>
              <a:rPr lang="en-US"/>
              <a:t>What did you learn in the last section?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06564-D95F-0366-ADB8-BDF42ED95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C6241-0FFB-0A47-90CD-D7CEEB6F00AC}" type="slidenum">
              <a:rPr lang="en-US" smtClean="0"/>
              <a:t>66</a:t>
            </a:fld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D272305-8E41-B8B1-D55D-1593C2AFE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9050" y="3546953"/>
            <a:ext cx="7553899" cy="1655762"/>
          </a:xfrm>
        </p:spPr>
        <p:txBody>
          <a:bodyPr/>
          <a:lstStyle/>
          <a:p>
            <a:r>
              <a:rPr lang="en-US"/>
              <a:t>Talk about it with a friend then everyone will tell me 1 </a:t>
            </a:r>
          </a:p>
          <a:p>
            <a:r>
              <a:rPr lang="en-US"/>
              <a:t>(or more) things they learned or have a question about :)</a:t>
            </a:r>
          </a:p>
        </p:txBody>
      </p:sp>
    </p:spTree>
    <p:extLst>
      <p:ext uri="{BB962C8B-B14F-4D97-AF65-F5344CB8AC3E}">
        <p14:creationId xmlns:p14="http://schemas.microsoft.com/office/powerpoint/2010/main" val="3166499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3748</Words>
  <Application>Microsoft Macintosh PowerPoint</Application>
  <PresentationFormat>Widescreen</PresentationFormat>
  <Paragraphs>624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Aptos</vt:lpstr>
      <vt:lpstr>Aptos Display</vt:lpstr>
      <vt:lpstr>Arial</vt:lpstr>
      <vt:lpstr>Cambria</vt:lpstr>
      <vt:lpstr>Wingdings</vt:lpstr>
      <vt:lpstr>Office Theme</vt:lpstr>
      <vt:lpstr>Java for FTC 101 </vt:lpstr>
      <vt:lpstr>Overview</vt:lpstr>
      <vt:lpstr>Hardware Overview </vt:lpstr>
      <vt:lpstr>Robot Controller (RC): Understanding the REV Control Hub</vt:lpstr>
      <vt:lpstr>Driver Station: Interface and functionality</vt:lpstr>
      <vt:lpstr>Driver Station: Interface and functionality</vt:lpstr>
      <vt:lpstr>Driver Station: Interface and functionality</vt:lpstr>
      <vt:lpstr>Driver Station: Interface and functionality</vt:lpstr>
      <vt:lpstr>Driver Station: Interface and functionality</vt:lpstr>
      <vt:lpstr>Driver Station: Interface and functionality</vt:lpstr>
      <vt:lpstr>Coding/Java Fundamentals</vt:lpstr>
      <vt:lpstr>Primitive data types </vt:lpstr>
      <vt:lpstr>Primitive data types </vt:lpstr>
      <vt:lpstr>Primitive data types </vt:lpstr>
      <vt:lpstr>Primitive data types </vt:lpstr>
      <vt:lpstr>Primitive data types </vt:lpstr>
      <vt:lpstr>Primitive data types </vt:lpstr>
      <vt:lpstr>Primitive data types </vt:lpstr>
      <vt:lpstr>(Other) Variables and Data Types</vt:lpstr>
      <vt:lpstr>Variables Rules</vt:lpstr>
      <vt:lpstr>Variables Rules</vt:lpstr>
      <vt:lpstr>The String Class</vt:lpstr>
      <vt:lpstr>The String Class</vt:lpstr>
      <vt:lpstr>The String Class</vt:lpstr>
      <vt:lpstr>Inline Math</vt:lpstr>
      <vt:lpstr>Inline Math++</vt:lpstr>
      <vt:lpstr>Comments</vt:lpstr>
      <vt:lpstr>What did you learn in the last section?</vt:lpstr>
      <vt:lpstr>Making Decisions</vt:lpstr>
      <vt:lpstr>Comparison Operators</vt:lpstr>
      <vt:lpstr>Logical operators (AND, OR, NOT)</vt:lpstr>
      <vt:lpstr>Logical operators (AND, OR, NOT) – Way to advanced but cool imo</vt:lpstr>
      <vt:lpstr>Convert to logic statements:</vt:lpstr>
      <vt:lpstr>How many did  you get??</vt:lpstr>
      <vt:lpstr>If/Else Statements</vt:lpstr>
      <vt:lpstr>If/Else Statements – What Prints?</vt:lpstr>
      <vt:lpstr>If/Else Statements – What Prints?</vt:lpstr>
      <vt:lpstr>Inline if -- quirky</vt:lpstr>
      <vt:lpstr>A Common Offense…</vt:lpstr>
      <vt:lpstr>(Do) While Loops</vt:lpstr>
      <vt:lpstr>(Do) While Loops – What Prints?</vt:lpstr>
      <vt:lpstr>(Do) While Loops – What Prints?</vt:lpstr>
      <vt:lpstr>(Do) While Loops – What Prints?</vt:lpstr>
      <vt:lpstr>(Do) While Loops – What Prints?</vt:lpstr>
      <vt:lpstr>For Loops</vt:lpstr>
      <vt:lpstr>For Loops  – What Prints?</vt:lpstr>
      <vt:lpstr>For Loops – What Prints?</vt:lpstr>
      <vt:lpstr>For Loops – What Prints Now?</vt:lpstr>
      <vt:lpstr>For Loops – What Prints Now?</vt:lpstr>
      <vt:lpstr>Switch(es)</vt:lpstr>
      <vt:lpstr>Variable Scope and Visibility</vt:lpstr>
      <vt:lpstr>What did you learn in the last section?</vt:lpstr>
      <vt:lpstr>First OpMode / Program</vt:lpstr>
      <vt:lpstr>What is an OpMode? (TeleOp vs Autonomous)</vt:lpstr>
      <vt:lpstr>Understanding OpMode structure</vt:lpstr>
      <vt:lpstr>Bonus: Quick Definitions  (You don’t need to know these YET)</vt:lpstr>
      <vt:lpstr>OpMode vs Regular Java</vt:lpstr>
      <vt:lpstr>Creating a "Hello World" program</vt:lpstr>
      <vt:lpstr>Creating a "Hello World" program</vt:lpstr>
      <vt:lpstr>Creating a "Hello World" program</vt:lpstr>
      <vt:lpstr>Creating a "Hello World" program</vt:lpstr>
      <vt:lpstr>Creating a "Hello World" program</vt:lpstr>
      <vt:lpstr>Creating a "Hello World" program</vt:lpstr>
      <vt:lpstr>Now you! Creating a "Hello World" program</vt:lpstr>
      <vt:lpstr>PowerPoint Presentation</vt:lpstr>
      <vt:lpstr>What did you learn in the last section?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Allen, Matthew</dc:creator>
  <cp:lastModifiedBy>Allen, Matthew</cp:lastModifiedBy>
  <cp:revision>50</cp:revision>
  <dcterms:created xsi:type="dcterms:W3CDTF">2025-03-03T17:48:21Z</dcterms:created>
  <dcterms:modified xsi:type="dcterms:W3CDTF">2025-04-09T03:29:22Z</dcterms:modified>
</cp:coreProperties>
</file>