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66" r:id="rId4"/>
    <p:sldId id="271" r:id="rId5"/>
    <p:sldId id="270" r:id="rId6"/>
    <p:sldId id="280" r:id="rId7"/>
    <p:sldId id="281" r:id="rId8"/>
    <p:sldId id="300" r:id="rId9"/>
    <p:sldId id="301" r:id="rId10"/>
    <p:sldId id="302" r:id="rId11"/>
    <p:sldId id="303" r:id="rId12"/>
    <p:sldId id="304" r:id="rId13"/>
    <p:sldId id="307" r:id="rId14"/>
    <p:sldId id="305" r:id="rId15"/>
    <p:sldId id="306" r:id="rId16"/>
    <p:sldId id="308" r:id="rId17"/>
    <p:sldId id="309" r:id="rId18"/>
    <p:sldId id="312" r:id="rId19"/>
    <p:sldId id="311" r:id="rId20"/>
    <p:sldId id="313" r:id="rId21"/>
    <p:sldId id="314" r:id="rId22"/>
    <p:sldId id="310" r:id="rId23"/>
    <p:sldId id="315" r:id="rId24"/>
    <p:sldId id="316" r:id="rId25"/>
    <p:sldId id="317" r:id="rId26"/>
    <p:sldId id="318" r:id="rId27"/>
    <p:sldId id="319" r:id="rId28"/>
    <p:sldId id="320" r:id="rId29"/>
    <p:sldId id="321" r:id="rId30"/>
    <p:sldId id="322" r:id="rId31"/>
    <p:sldId id="323" r:id="rId32"/>
    <p:sldId id="324" r:id="rId33"/>
    <p:sldId id="32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46"/>
    <p:restoredTop sz="94633"/>
  </p:normalViewPr>
  <p:slideViewPr>
    <p:cSldViewPr snapToGrid="0">
      <p:cViewPr varScale="1">
        <p:scale>
          <a:sx n="116" d="100"/>
          <a:sy n="116" d="100"/>
        </p:scale>
        <p:origin x="2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95F4CB-0278-9F44-B9E9-81B157B7B4ED}" type="datetimeFigureOut">
              <a:rPr lang="en-US" smtClean="0"/>
              <a:t>4/14/25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8A2F56-73F2-E24D-8920-A1C8445030B6}" type="slidenum">
              <a:rPr lang="en-US" smtClean="0"/>
              <a:t>‹#›</a:t>
            </a:fld>
            <a:endParaRPr lang="en-US" dirty="0"/>
          </a:p>
        </p:txBody>
      </p:sp>
    </p:spTree>
    <p:extLst>
      <p:ext uri="{BB962C8B-B14F-4D97-AF65-F5344CB8AC3E}">
        <p14:creationId xmlns:p14="http://schemas.microsoft.com/office/powerpoint/2010/main" val="264546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06855-3990-4A92-9C26-81DFE04F34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605939-BF58-B59D-AD9C-1BA816C309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26FED1-8268-3F30-393C-4E53F654FFF9}"/>
              </a:ext>
            </a:extLst>
          </p:cNvPr>
          <p:cNvSpPr>
            <a:spLocks noGrp="1"/>
          </p:cNvSpPr>
          <p:nvPr>
            <p:ph type="dt" sz="half" idx="10"/>
          </p:nvPr>
        </p:nvSpPr>
        <p:spPr/>
        <p:txBody>
          <a:bodyPr/>
          <a:lstStyle/>
          <a:p>
            <a:fld id="{D50FEC2F-9E6E-F946-9C69-3B6C525DE0FF}" type="datetime1">
              <a:rPr lang="en-US" smtClean="0"/>
              <a:t>4/14/25</a:t>
            </a:fld>
            <a:endParaRPr lang="en-US" dirty="0"/>
          </a:p>
        </p:txBody>
      </p:sp>
      <p:sp>
        <p:nvSpPr>
          <p:cNvPr id="5" name="Footer Placeholder 4">
            <a:extLst>
              <a:ext uri="{FF2B5EF4-FFF2-40B4-BE49-F238E27FC236}">
                <a16:creationId xmlns:a16="http://schemas.microsoft.com/office/drawing/2014/main" id="{466A34BD-529A-0DA1-56FC-492BA4E936F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A16A6E7-4C78-BA15-769D-ED1A85EBC018}"/>
              </a:ext>
            </a:extLst>
          </p:cNvPr>
          <p:cNvSpPr>
            <a:spLocks noGrp="1"/>
          </p:cNvSpPr>
          <p:nvPr>
            <p:ph type="sldNum" sz="quarter" idx="12"/>
          </p:nvPr>
        </p:nvSpPr>
        <p:spPr/>
        <p:txBody>
          <a:bodyPr/>
          <a:lstStyle/>
          <a:p>
            <a:fld id="{545C6241-0FFB-0A47-90CD-D7CEEB6F00AC}" type="slidenum">
              <a:rPr lang="en-US" smtClean="0"/>
              <a:t>‹#›</a:t>
            </a:fld>
            <a:endParaRPr lang="en-US" dirty="0"/>
          </a:p>
        </p:txBody>
      </p:sp>
    </p:spTree>
    <p:extLst>
      <p:ext uri="{BB962C8B-B14F-4D97-AF65-F5344CB8AC3E}">
        <p14:creationId xmlns:p14="http://schemas.microsoft.com/office/powerpoint/2010/main" val="2768048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02CA0-ABDD-CF92-F5BF-E973231D59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8673C7-65BF-2074-7DDD-D9FFF5B747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743E3A-7086-FAE4-5C2A-C3B8AB629FA7}"/>
              </a:ext>
            </a:extLst>
          </p:cNvPr>
          <p:cNvSpPr>
            <a:spLocks noGrp="1"/>
          </p:cNvSpPr>
          <p:nvPr>
            <p:ph type="dt" sz="half" idx="10"/>
          </p:nvPr>
        </p:nvSpPr>
        <p:spPr/>
        <p:txBody>
          <a:bodyPr/>
          <a:lstStyle/>
          <a:p>
            <a:fld id="{50CE1ACD-34BE-AA4B-ACD5-1672EC57E1D8}" type="datetime1">
              <a:rPr lang="en-US" smtClean="0"/>
              <a:t>4/14/25</a:t>
            </a:fld>
            <a:endParaRPr lang="en-US" dirty="0"/>
          </a:p>
        </p:txBody>
      </p:sp>
      <p:sp>
        <p:nvSpPr>
          <p:cNvPr id="5" name="Footer Placeholder 4">
            <a:extLst>
              <a:ext uri="{FF2B5EF4-FFF2-40B4-BE49-F238E27FC236}">
                <a16:creationId xmlns:a16="http://schemas.microsoft.com/office/drawing/2014/main" id="{4A486422-1D0C-3019-444F-FF708E2577A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CADEE60-0E53-C7BA-BA9A-152966C49BB3}"/>
              </a:ext>
            </a:extLst>
          </p:cNvPr>
          <p:cNvSpPr>
            <a:spLocks noGrp="1"/>
          </p:cNvSpPr>
          <p:nvPr>
            <p:ph type="sldNum" sz="quarter" idx="12"/>
          </p:nvPr>
        </p:nvSpPr>
        <p:spPr/>
        <p:txBody>
          <a:bodyPr/>
          <a:lstStyle/>
          <a:p>
            <a:fld id="{545C6241-0FFB-0A47-90CD-D7CEEB6F00AC}" type="slidenum">
              <a:rPr lang="en-US" smtClean="0"/>
              <a:t>‹#›</a:t>
            </a:fld>
            <a:endParaRPr lang="en-US" dirty="0"/>
          </a:p>
        </p:txBody>
      </p:sp>
    </p:spTree>
    <p:extLst>
      <p:ext uri="{BB962C8B-B14F-4D97-AF65-F5344CB8AC3E}">
        <p14:creationId xmlns:p14="http://schemas.microsoft.com/office/powerpoint/2010/main" val="1174425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FE490-2670-1C39-44A8-BE94171E3F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405B6C-337C-B060-9D27-4E747BDFAD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568E39-EFB5-4954-7735-FB9CAFC9D13D}"/>
              </a:ext>
            </a:extLst>
          </p:cNvPr>
          <p:cNvSpPr>
            <a:spLocks noGrp="1"/>
          </p:cNvSpPr>
          <p:nvPr>
            <p:ph type="dt" sz="half" idx="10"/>
          </p:nvPr>
        </p:nvSpPr>
        <p:spPr/>
        <p:txBody>
          <a:bodyPr/>
          <a:lstStyle/>
          <a:p>
            <a:fld id="{E3DCC0ED-5257-9E4A-BFF2-C26014F0D24E}" type="datetime1">
              <a:rPr lang="en-US" smtClean="0"/>
              <a:t>4/14/25</a:t>
            </a:fld>
            <a:endParaRPr lang="en-US" dirty="0"/>
          </a:p>
        </p:txBody>
      </p:sp>
      <p:sp>
        <p:nvSpPr>
          <p:cNvPr id="5" name="Footer Placeholder 4">
            <a:extLst>
              <a:ext uri="{FF2B5EF4-FFF2-40B4-BE49-F238E27FC236}">
                <a16:creationId xmlns:a16="http://schemas.microsoft.com/office/drawing/2014/main" id="{5F99E57D-0FFE-3A63-75C0-8E3283E3B5B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FCFE24-0F60-B520-D9A6-BD90B30F94EB}"/>
              </a:ext>
            </a:extLst>
          </p:cNvPr>
          <p:cNvSpPr>
            <a:spLocks noGrp="1"/>
          </p:cNvSpPr>
          <p:nvPr>
            <p:ph type="sldNum" sz="quarter" idx="12"/>
          </p:nvPr>
        </p:nvSpPr>
        <p:spPr/>
        <p:txBody>
          <a:bodyPr/>
          <a:lstStyle/>
          <a:p>
            <a:fld id="{545C6241-0FFB-0A47-90CD-D7CEEB6F00AC}" type="slidenum">
              <a:rPr lang="en-US" smtClean="0"/>
              <a:t>‹#›</a:t>
            </a:fld>
            <a:endParaRPr lang="en-US" dirty="0"/>
          </a:p>
        </p:txBody>
      </p:sp>
    </p:spTree>
    <p:extLst>
      <p:ext uri="{BB962C8B-B14F-4D97-AF65-F5344CB8AC3E}">
        <p14:creationId xmlns:p14="http://schemas.microsoft.com/office/powerpoint/2010/main" val="3225124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7381E-0DF0-BAFC-4E8F-3E06BEEF7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8D8B88-8633-880F-E3F5-3DBB4563A0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3F9402-D36B-D067-A431-24F497DDCE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103CF6A-2D73-5F8E-2752-0241096A64B1}"/>
              </a:ext>
            </a:extLst>
          </p:cNvPr>
          <p:cNvSpPr>
            <a:spLocks noGrp="1"/>
          </p:cNvSpPr>
          <p:nvPr>
            <p:ph type="dt" sz="half" idx="10"/>
          </p:nvPr>
        </p:nvSpPr>
        <p:spPr/>
        <p:txBody>
          <a:bodyPr/>
          <a:lstStyle/>
          <a:p>
            <a:fld id="{08CDDCC0-8B6E-614A-B76F-8D957F932626}" type="datetime1">
              <a:rPr lang="en-US" smtClean="0"/>
              <a:t>4/14/25</a:t>
            </a:fld>
            <a:endParaRPr lang="en-US" dirty="0"/>
          </a:p>
        </p:txBody>
      </p:sp>
      <p:sp>
        <p:nvSpPr>
          <p:cNvPr id="6" name="Footer Placeholder 5">
            <a:extLst>
              <a:ext uri="{FF2B5EF4-FFF2-40B4-BE49-F238E27FC236}">
                <a16:creationId xmlns:a16="http://schemas.microsoft.com/office/drawing/2014/main" id="{13650B20-8CEE-FD3B-96C8-2DC67F56B14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C96A6B1-107C-B592-C23F-36EFD027643C}"/>
              </a:ext>
            </a:extLst>
          </p:cNvPr>
          <p:cNvSpPr>
            <a:spLocks noGrp="1"/>
          </p:cNvSpPr>
          <p:nvPr>
            <p:ph type="sldNum" sz="quarter" idx="12"/>
          </p:nvPr>
        </p:nvSpPr>
        <p:spPr/>
        <p:txBody>
          <a:bodyPr/>
          <a:lstStyle/>
          <a:p>
            <a:fld id="{545C6241-0FFB-0A47-90CD-D7CEEB6F00AC}" type="slidenum">
              <a:rPr lang="en-US" smtClean="0"/>
              <a:t>‹#›</a:t>
            </a:fld>
            <a:endParaRPr lang="en-US" dirty="0"/>
          </a:p>
        </p:txBody>
      </p:sp>
    </p:spTree>
    <p:extLst>
      <p:ext uri="{BB962C8B-B14F-4D97-AF65-F5344CB8AC3E}">
        <p14:creationId xmlns:p14="http://schemas.microsoft.com/office/powerpoint/2010/main" val="3157996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F51A1-905A-DA37-904E-F5D4F0CC01D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565CD2-620F-587F-FA66-41ED128C6A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FDD9F2-0F6A-0452-CE44-CDF44D2C04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6D8C24-9E79-220F-D0A0-9EA1B0A5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097047-9C91-207D-E663-A12504676F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4D0527-8637-84C2-CDE4-20CCCDADB927}"/>
              </a:ext>
            </a:extLst>
          </p:cNvPr>
          <p:cNvSpPr>
            <a:spLocks noGrp="1"/>
          </p:cNvSpPr>
          <p:nvPr>
            <p:ph type="dt" sz="half" idx="10"/>
          </p:nvPr>
        </p:nvSpPr>
        <p:spPr/>
        <p:txBody>
          <a:bodyPr/>
          <a:lstStyle/>
          <a:p>
            <a:fld id="{32E49748-401C-2B47-9454-7456364B524B}" type="datetime1">
              <a:rPr lang="en-US" smtClean="0"/>
              <a:t>4/14/25</a:t>
            </a:fld>
            <a:endParaRPr lang="en-US" dirty="0"/>
          </a:p>
        </p:txBody>
      </p:sp>
      <p:sp>
        <p:nvSpPr>
          <p:cNvPr id="8" name="Footer Placeholder 7">
            <a:extLst>
              <a:ext uri="{FF2B5EF4-FFF2-40B4-BE49-F238E27FC236}">
                <a16:creationId xmlns:a16="http://schemas.microsoft.com/office/drawing/2014/main" id="{612614B9-7D20-871F-F96C-35391A47424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265186E-2AB7-324E-AE3F-246B4085D5B7}"/>
              </a:ext>
            </a:extLst>
          </p:cNvPr>
          <p:cNvSpPr>
            <a:spLocks noGrp="1"/>
          </p:cNvSpPr>
          <p:nvPr>
            <p:ph type="sldNum" sz="quarter" idx="12"/>
          </p:nvPr>
        </p:nvSpPr>
        <p:spPr/>
        <p:txBody>
          <a:bodyPr/>
          <a:lstStyle/>
          <a:p>
            <a:fld id="{545C6241-0FFB-0A47-90CD-D7CEEB6F00AC}" type="slidenum">
              <a:rPr lang="en-US" smtClean="0"/>
              <a:t>‹#›</a:t>
            </a:fld>
            <a:endParaRPr lang="en-US" dirty="0"/>
          </a:p>
        </p:txBody>
      </p:sp>
    </p:spTree>
    <p:extLst>
      <p:ext uri="{BB962C8B-B14F-4D97-AF65-F5344CB8AC3E}">
        <p14:creationId xmlns:p14="http://schemas.microsoft.com/office/powerpoint/2010/main" val="1591726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F36B9-7C5B-0D2E-AE05-8DB94BED07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A9B2AF-0DC0-BEFF-81B6-65B58CDC2821}"/>
              </a:ext>
            </a:extLst>
          </p:cNvPr>
          <p:cNvSpPr>
            <a:spLocks noGrp="1"/>
          </p:cNvSpPr>
          <p:nvPr>
            <p:ph type="dt" sz="half" idx="10"/>
          </p:nvPr>
        </p:nvSpPr>
        <p:spPr/>
        <p:txBody>
          <a:bodyPr/>
          <a:lstStyle/>
          <a:p>
            <a:fld id="{0CD3B9D1-482C-EA49-B7D7-44D33DABA1A1}" type="datetime1">
              <a:rPr lang="en-US" smtClean="0"/>
              <a:t>4/14/25</a:t>
            </a:fld>
            <a:endParaRPr lang="en-US" dirty="0"/>
          </a:p>
        </p:txBody>
      </p:sp>
      <p:sp>
        <p:nvSpPr>
          <p:cNvPr id="4" name="Footer Placeholder 3">
            <a:extLst>
              <a:ext uri="{FF2B5EF4-FFF2-40B4-BE49-F238E27FC236}">
                <a16:creationId xmlns:a16="http://schemas.microsoft.com/office/drawing/2014/main" id="{D6861D39-E8B6-11B1-862F-AF7DA936783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D3FBCC1-4729-1C07-9C49-221D7AF70FC7}"/>
              </a:ext>
            </a:extLst>
          </p:cNvPr>
          <p:cNvSpPr>
            <a:spLocks noGrp="1"/>
          </p:cNvSpPr>
          <p:nvPr>
            <p:ph type="sldNum" sz="quarter" idx="12"/>
          </p:nvPr>
        </p:nvSpPr>
        <p:spPr/>
        <p:txBody>
          <a:bodyPr/>
          <a:lstStyle/>
          <a:p>
            <a:fld id="{545C6241-0FFB-0A47-90CD-D7CEEB6F00AC}" type="slidenum">
              <a:rPr lang="en-US" smtClean="0"/>
              <a:t>‹#›</a:t>
            </a:fld>
            <a:endParaRPr lang="en-US" dirty="0"/>
          </a:p>
        </p:txBody>
      </p:sp>
    </p:spTree>
    <p:extLst>
      <p:ext uri="{BB962C8B-B14F-4D97-AF65-F5344CB8AC3E}">
        <p14:creationId xmlns:p14="http://schemas.microsoft.com/office/powerpoint/2010/main" val="1062711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BD9141-6F36-CF8E-0FBE-E4356B428DFB}"/>
              </a:ext>
            </a:extLst>
          </p:cNvPr>
          <p:cNvSpPr>
            <a:spLocks noGrp="1"/>
          </p:cNvSpPr>
          <p:nvPr>
            <p:ph type="dt" sz="half" idx="10"/>
          </p:nvPr>
        </p:nvSpPr>
        <p:spPr/>
        <p:txBody>
          <a:bodyPr/>
          <a:lstStyle/>
          <a:p>
            <a:fld id="{624602CE-140F-F448-9043-77595DF7D7FF}" type="datetime1">
              <a:rPr lang="en-US" smtClean="0"/>
              <a:t>4/14/25</a:t>
            </a:fld>
            <a:endParaRPr lang="en-US" dirty="0"/>
          </a:p>
        </p:txBody>
      </p:sp>
      <p:sp>
        <p:nvSpPr>
          <p:cNvPr id="3" name="Footer Placeholder 2">
            <a:extLst>
              <a:ext uri="{FF2B5EF4-FFF2-40B4-BE49-F238E27FC236}">
                <a16:creationId xmlns:a16="http://schemas.microsoft.com/office/drawing/2014/main" id="{19D7328D-A985-46EF-1C0E-67FFACABF0C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023C4240-2307-437D-BC9B-4D05299B3F37}"/>
              </a:ext>
            </a:extLst>
          </p:cNvPr>
          <p:cNvSpPr>
            <a:spLocks noGrp="1"/>
          </p:cNvSpPr>
          <p:nvPr>
            <p:ph type="sldNum" sz="quarter" idx="12"/>
          </p:nvPr>
        </p:nvSpPr>
        <p:spPr/>
        <p:txBody>
          <a:bodyPr/>
          <a:lstStyle/>
          <a:p>
            <a:fld id="{545C6241-0FFB-0A47-90CD-D7CEEB6F00AC}" type="slidenum">
              <a:rPr lang="en-US" smtClean="0"/>
              <a:t>‹#›</a:t>
            </a:fld>
            <a:endParaRPr lang="en-US" dirty="0"/>
          </a:p>
        </p:txBody>
      </p:sp>
    </p:spTree>
    <p:extLst>
      <p:ext uri="{BB962C8B-B14F-4D97-AF65-F5344CB8AC3E}">
        <p14:creationId xmlns:p14="http://schemas.microsoft.com/office/powerpoint/2010/main" val="3859441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FE0AA-133E-2A18-B91F-2BA5014558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CEA981-AE7A-96AD-B9D6-D818CDE40A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05D0C3-A75E-41B4-1F6A-C3CD08B84A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C96029-3CED-1F0A-CC2E-0FB7853D96D8}"/>
              </a:ext>
            </a:extLst>
          </p:cNvPr>
          <p:cNvSpPr>
            <a:spLocks noGrp="1"/>
          </p:cNvSpPr>
          <p:nvPr>
            <p:ph type="dt" sz="half" idx="10"/>
          </p:nvPr>
        </p:nvSpPr>
        <p:spPr/>
        <p:txBody>
          <a:bodyPr/>
          <a:lstStyle/>
          <a:p>
            <a:fld id="{C28F667F-83E4-E949-9982-2F5B12D86D09}" type="datetime1">
              <a:rPr lang="en-US" smtClean="0"/>
              <a:t>4/14/25</a:t>
            </a:fld>
            <a:endParaRPr lang="en-US" dirty="0"/>
          </a:p>
        </p:txBody>
      </p:sp>
      <p:sp>
        <p:nvSpPr>
          <p:cNvPr id="6" name="Footer Placeholder 5">
            <a:extLst>
              <a:ext uri="{FF2B5EF4-FFF2-40B4-BE49-F238E27FC236}">
                <a16:creationId xmlns:a16="http://schemas.microsoft.com/office/drawing/2014/main" id="{AFE7D9E8-B6FD-EB01-DC5C-A2A61177B51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41CDE32-B248-77E7-C340-04E435C4F3B4}"/>
              </a:ext>
            </a:extLst>
          </p:cNvPr>
          <p:cNvSpPr>
            <a:spLocks noGrp="1"/>
          </p:cNvSpPr>
          <p:nvPr>
            <p:ph type="sldNum" sz="quarter" idx="12"/>
          </p:nvPr>
        </p:nvSpPr>
        <p:spPr/>
        <p:txBody>
          <a:bodyPr/>
          <a:lstStyle/>
          <a:p>
            <a:fld id="{545C6241-0FFB-0A47-90CD-D7CEEB6F00AC}" type="slidenum">
              <a:rPr lang="en-US" smtClean="0"/>
              <a:t>‹#›</a:t>
            </a:fld>
            <a:endParaRPr lang="en-US" dirty="0"/>
          </a:p>
        </p:txBody>
      </p:sp>
    </p:spTree>
    <p:extLst>
      <p:ext uri="{BB962C8B-B14F-4D97-AF65-F5344CB8AC3E}">
        <p14:creationId xmlns:p14="http://schemas.microsoft.com/office/powerpoint/2010/main" val="120768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15ACF-E119-E2EF-5AF9-E7C562B757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D2C2F4-7E9A-F55D-236C-4D2C1131F1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89423E8F-AA6F-EF64-5389-597CA5E8A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9B7ADB-F4FB-6287-993E-B65CD447250B}"/>
              </a:ext>
            </a:extLst>
          </p:cNvPr>
          <p:cNvSpPr>
            <a:spLocks noGrp="1"/>
          </p:cNvSpPr>
          <p:nvPr>
            <p:ph type="dt" sz="half" idx="10"/>
          </p:nvPr>
        </p:nvSpPr>
        <p:spPr/>
        <p:txBody>
          <a:bodyPr/>
          <a:lstStyle/>
          <a:p>
            <a:fld id="{494F7725-F5B9-6D4D-BEC8-D188841C7AE7}" type="datetime1">
              <a:rPr lang="en-US" smtClean="0"/>
              <a:t>4/14/25</a:t>
            </a:fld>
            <a:endParaRPr lang="en-US" dirty="0"/>
          </a:p>
        </p:txBody>
      </p:sp>
      <p:sp>
        <p:nvSpPr>
          <p:cNvPr id="6" name="Footer Placeholder 5">
            <a:extLst>
              <a:ext uri="{FF2B5EF4-FFF2-40B4-BE49-F238E27FC236}">
                <a16:creationId xmlns:a16="http://schemas.microsoft.com/office/drawing/2014/main" id="{E4FD06DE-1C1E-5CFF-A4EA-98CB0AF64CD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06E1D51-A940-A713-9688-5BB49C21FEEA}"/>
              </a:ext>
            </a:extLst>
          </p:cNvPr>
          <p:cNvSpPr>
            <a:spLocks noGrp="1"/>
          </p:cNvSpPr>
          <p:nvPr>
            <p:ph type="sldNum" sz="quarter" idx="12"/>
          </p:nvPr>
        </p:nvSpPr>
        <p:spPr/>
        <p:txBody>
          <a:bodyPr/>
          <a:lstStyle/>
          <a:p>
            <a:fld id="{545C6241-0FFB-0A47-90CD-D7CEEB6F00AC}" type="slidenum">
              <a:rPr lang="en-US" smtClean="0"/>
              <a:t>‹#›</a:t>
            </a:fld>
            <a:endParaRPr lang="en-US" dirty="0"/>
          </a:p>
        </p:txBody>
      </p:sp>
    </p:spTree>
    <p:extLst>
      <p:ext uri="{BB962C8B-B14F-4D97-AF65-F5344CB8AC3E}">
        <p14:creationId xmlns:p14="http://schemas.microsoft.com/office/powerpoint/2010/main" val="2971515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59A71-50C1-5649-961C-F9F547ED77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405845-273F-A518-F262-8BA6959326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C015FA-36C3-1CD7-B9E3-F92C9D43ACDB}"/>
              </a:ext>
            </a:extLst>
          </p:cNvPr>
          <p:cNvSpPr>
            <a:spLocks noGrp="1"/>
          </p:cNvSpPr>
          <p:nvPr>
            <p:ph type="dt" sz="half" idx="10"/>
          </p:nvPr>
        </p:nvSpPr>
        <p:spPr/>
        <p:txBody>
          <a:bodyPr/>
          <a:lstStyle/>
          <a:p>
            <a:fld id="{40734CBD-DC20-A943-8218-3EA4090BEF4D}" type="datetime1">
              <a:rPr lang="en-US" smtClean="0"/>
              <a:t>4/14/25</a:t>
            </a:fld>
            <a:endParaRPr lang="en-US" dirty="0"/>
          </a:p>
        </p:txBody>
      </p:sp>
      <p:sp>
        <p:nvSpPr>
          <p:cNvPr id="5" name="Footer Placeholder 4">
            <a:extLst>
              <a:ext uri="{FF2B5EF4-FFF2-40B4-BE49-F238E27FC236}">
                <a16:creationId xmlns:a16="http://schemas.microsoft.com/office/drawing/2014/main" id="{8FBEC4C9-8269-4479-62AC-3E8FA8E243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A9211E-A92D-6C0E-6531-17519E76566F}"/>
              </a:ext>
            </a:extLst>
          </p:cNvPr>
          <p:cNvSpPr>
            <a:spLocks noGrp="1"/>
          </p:cNvSpPr>
          <p:nvPr>
            <p:ph type="sldNum" sz="quarter" idx="12"/>
          </p:nvPr>
        </p:nvSpPr>
        <p:spPr/>
        <p:txBody>
          <a:bodyPr/>
          <a:lstStyle/>
          <a:p>
            <a:fld id="{545C6241-0FFB-0A47-90CD-D7CEEB6F00AC}" type="slidenum">
              <a:rPr lang="en-US" smtClean="0"/>
              <a:t>‹#›</a:t>
            </a:fld>
            <a:endParaRPr lang="en-US" dirty="0"/>
          </a:p>
        </p:txBody>
      </p:sp>
    </p:spTree>
    <p:extLst>
      <p:ext uri="{BB962C8B-B14F-4D97-AF65-F5344CB8AC3E}">
        <p14:creationId xmlns:p14="http://schemas.microsoft.com/office/powerpoint/2010/main" val="594220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2FE97D-14EC-9436-994D-28A57585A4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73B45B-E480-2271-5B88-89438E6055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F2A106-0EF8-4F5A-3E5B-C20DA3AF364E}"/>
              </a:ext>
            </a:extLst>
          </p:cNvPr>
          <p:cNvSpPr>
            <a:spLocks noGrp="1"/>
          </p:cNvSpPr>
          <p:nvPr>
            <p:ph type="dt" sz="half" idx="10"/>
          </p:nvPr>
        </p:nvSpPr>
        <p:spPr/>
        <p:txBody>
          <a:bodyPr/>
          <a:lstStyle/>
          <a:p>
            <a:fld id="{9EE87FB8-6074-7D45-BE7B-175B0DF567DF}" type="datetime1">
              <a:rPr lang="en-US" smtClean="0"/>
              <a:t>4/14/25</a:t>
            </a:fld>
            <a:endParaRPr lang="en-US" dirty="0"/>
          </a:p>
        </p:txBody>
      </p:sp>
      <p:sp>
        <p:nvSpPr>
          <p:cNvPr id="5" name="Footer Placeholder 4">
            <a:extLst>
              <a:ext uri="{FF2B5EF4-FFF2-40B4-BE49-F238E27FC236}">
                <a16:creationId xmlns:a16="http://schemas.microsoft.com/office/drawing/2014/main" id="{9134818A-10D7-4AB5-B02A-A16D62CC15C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A3D94B8-8E49-435B-6BF0-C40859F2022E}"/>
              </a:ext>
            </a:extLst>
          </p:cNvPr>
          <p:cNvSpPr>
            <a:spLocks noGrp="1"/>
          </p:cNvSpPr>
          <p:nvPr>
            <p:ph type="sldNum" sz="quarter" idx="12"/>
          </p:nvPr>
        </p:nvSpPr>
        <p:spPr/>
        <p:txBody>
          <a:bodyPr/>
          <a:lstStyle/>
          <a:p>
            <a:fld id="{545C6241-0FFB-0A47-90CD-D7CEEB6F00AC}" type="slidenum">
              <a:rPr lang="en-US" smtClean="0"/>
              <a:t>‹#›</a:t>
            </a:fld>
            <a:endParaRPr lang="en-US" dirty="0"/>
          </a:p>
        </p:txBody>
      </p:sp>
    </p:spTree>
    <p:extLst>
      <p:ext uri="{BB962C8B-B14F-4D97-AF65-F5344CB8AC3E}">
        <p14:creationId xmlns:p14="http://schemas.microsoft.com/office/powerpoint/2010/main" val="2668827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49BEBD-4DE9-EF3C-53A2-D8CC9D332E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6BEFF1-75A7-57D9-3B95-11252BC0C5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F6AF33-0EDE-C447-2C60-9EE5774969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2293C7-F963-2547-AE4C-B4B31A8C0419}" type="datetime1">
              <a:rPr lang="en-US" smtClean="0"/>
              <a:t>4/14/25</a:t>
            </a:fld>
            <a:endParaRPr lang="en-US" dirty="0"/>
          </a:p>
        </p:txBody>
      </p:sp>
      <p:sp>
        <p:nvSpPr>
          <p:cNvPr id="5" name="Footer Placeholder 4">
            <a:extLst>
              <a:ext uri="{FF2B5EF4-FFF2-40B4-BE49-F238E27FC236}">
                <a16:creationId xmlns:a16="http://schemas.microsoft.com/office/drawing/2014/main" id="{1C210DFE-C85D-2A86-EA42-33AE960019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065B6072-AD0F-F335-7B50-BBDCA42FB9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5C6241-0FFB-0A47-90CD-D7CEEB6F00AC}" type="slidenum">
              <a:rPr lang="en-US" smtClean="0"/>
              <a:t>‹#›</a:t>
            </a:fld>
            <a:endParaRPr lang="en-US" dirty="0"/>
          </a:p>
        </p:txBody>
      </p:sp>
    </p:spTree>
    <p:extLst>
      <p:ext uri="{BB962C8B-B14F-4D97-AF65-F5344CB8AC3E}">
        <p14:creationId xmlns:p14="http://schemas.microsoft.com/office/powerpoint/2010/main" val="2443148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hyperlink" Target="http://192.168.43.1:8080/"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6FB11-C0B3-28C9-4732-2B7FD399D7BC}"/>
              </a:ext>
            </a:extLst>
          </p:cNvPr>
          <p:cNvSpPr>
            <a:spLocks noGrp="1"/>
          </p:cNvSpPr>
          <p:nvPr>
            <p:ph type="ctrTitle"/>
          </p:nvPr>
        </p:nvSpPr>
        <p:spPr/>
        <p:txBody>
          <a:bodyPr/>
          <a:lstStyle/>
          <a:p>
            <a:r>
              <a:rPr lang="en-US" dirty="0"/>
              <a:t>Java for FTC 101 </a:t>
            </a:r>
          </a:p>
        </p:txBody>
      </p:sp>
      <p:sp>
        <p:nvSpPr>
          <p:cNvPr id="3" name="Subtitle 2">
            <a:extLst>
              <a:ext uri="{FF2B5EF4-FFF2-40B4-BE49-F238E27FC236}">
                <a16:creationId xmlns:a16="http://schemas.microsoft.com/office/drawing/2014/main" id="{140708E2-47EC-D5E9-BE11-8EC596E04A4B}"/>
              </a:ext>
            </a:extLst>
          </p:cNvPr>
          <p:cNvSpPr>
            <a:spLocks noGrp="1"/>
          </p:cNvSpPr>
          <p:nvPr>
            <p:ph type="subTitle" idx="1"/>
          </p:nvPr>
        </p:nvSpPr>
        <p:spPr/>
        <p:txBody>
          <a:bodyPr/>
          <a:lstStyle/>
          <a:p>
            <a:r>
              <a:rPr lang="en-US" dirty="0"/>
              <a:t>Session 2: Gamepad Controls and Decision Making </a:t>
            </a:r>
          </a:p>
        </p:txBody>
      </p:sp>
      <p:sp>
        <p:nvSpPr>
          <p:cNvPr id="4" name="Slide Number Placeholder 3">
            <a:extLst>
              <a:ext uri="{FF2B5EF4-FFF2-40B4-BE49-F238E27FC236}">
                <a16:creationId xmlns:a16="http://schemas.microsoft.com/office/drawing/2014/main" id="{34B2AE80-2BCC-84C5-063E-CE8708D93852}"/>
              </a:ext>
            </a:extLst>
          </p:cNvPr>
          <p:cNvSpPr>
            <a:spLocks noGrp="1"/>
          </p:cNvSpPr>
          <p:nvPr>
            <p:ph type="sldNum" sz="quarter" idx="12"/>
          </p:nvPr>
        </p:nvSpPr>
        <p:spPr/>
        <p:txBody>
          <a:bodyPr/>
          <a:lstStyle/>
          <a:p>
            <a:fld id="{545C6241-0FFB-0A47-90CD-D7CEEB6F00AC}" type="slidenum">
              <a:rPr lang="en-US" smtClean="0"/>
              <a:t>1</a:t>
            </a:fld>
            <a:endParaRPr lang="en-US" dirty="0"/>
          </a:p>
        </p:txBody>
      </p:sp>
    </p:spTree>
    <p:extLst>
      <p:ext uri="{BB962C8B-B14F-4D97-AF65-F5344CB8AC3E}">
        <p14:creationId xmlns:p14="http://schemas.microsoft.com/office/powerpoint/2010/main" val="3028344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540AE-5C2B-C142-AF43-18B6122B6886}"/>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22257BF1-97C7-8966-417B-45DB1A3E19C4}"/>
              </a:ext>
            </a:extLst>
          </p:cNvPr>
          <p:cNvSpPr>
            <a:spLocks noGrp="1"/>
          </p:cNvSpPr>
          <p:nvPr>
            <p:ph idx="1"/>
          </p:nvPr>
        </p:nvSpPr>
        <p:spPr/>
        <p:txBody>
          <a:bodyPr>
            <a:normAutofit/>
          </a:bodyPr>
          <a:lstStyle/>
          <a:p>
            <a:r>
              <a:rPr lang="en-US" dirty="0"/>
              <a:t>Recap Session 1, Finish any loose ends</a:t>
            </a:r>
          </a:p>
          <a:p>
            <a:r>
              <a:rPr lang="en-US" dirty="0"/>
              <a:t>Classes and Methods </a:t>
            </a:r>
          </a:p>
          <a:p>
            <a:r>
              <a:rPr lang="en-US" dirty="0"/>
              <a:t>Gamepad Controls</a:t>
            </a:r>
          </a:p>
          <a:p>
            <a:r>
              <a:rPr lang="en-US" dirty="0"/>
              <a:t>Building Your First Interactive Program </a:t>
            </a:r>
          </a:p>
          <a:p>
            <a:r>
              <a:rPr lang="en-US" dirty="0"/>
              <a:t>Sending Code to the Robot Controller </a:t>
            </a:r>
          </a:p>
          <a:p>
            <a:r>
              <a:rPr lang="en-US" dirty="0"/>
              <a:t>GitHub </a:t>
            </a:r>
          </a:p>
        </p:txBody>
      </p:sp>
      <p:sp>
        <p:nvSpPr>
          <p:cNvPr id="4" name="Slide Number Placeholder 3">
            <a:extLst>
              <a:ext uri="{FF2B5EF4-FFF2-40B4-BE49-F238E27FC236}">
                <a16:creationId xmlns:a16="http://schemas.microsoft.com/office/drawing/2014/main" id="{B7CE3155-D779-93CA-0B3E-22DE5FA0EC19}"/>
              </a:ext>
            </a:extLst>
          </p:cNvPr>
          <p:cNvSpPr>
            <a:spLocks noGrp="1"/>
          </p:cNvSpPr>
          <p:nvPr>
            <p:ph type="sldNum" sz="quarter" idx="12"/>
          </p:nvPr>
        </p:nvSpPr>
        <p:spPr/>
        <p:txBody>
          <a:bodyPr/>
          <a:lstStyle/>
          <a:p>
            <a:fld id="{545C6241-0FFB-0A47-90CD-D7CEEB6F00AC}" type="slidenum">
              <a:rPr lang="en-US" smtClean="0"/>
              <a:t>2</a:t>
            </a:fld>
            <a:endParaRPr lang="en-US" dirty="0"/>
          </a:p>
        </p:txBody>
      </p:sp>
    </p:spTree>
    <p:extLst>
      <p:ext uri="{BB962C8B-B14F-4D97-AF65-F5344CB8AC3E}">
        <p14:creationId xmlns:p14="http://schemas.microsoft.com/office/powerpoint/2010/main" val="2148771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3255F-8A1C-74B9-03DE-1CC30E929A2E}"/>
              </a:ext>
            </a:extLst>
          </p:cNvPr>
          <p:cNvSpPr>
            <a:spLocks noGrp="1"/>
          </p:cNvSpPr>
          <p:nvPr>
            <p:ph type="ctrTitle"/>
          </p:nvPr>
        </p:nvSpPr>
        <p:spPr/>
        <p:txBody>
          <a:bodyPr/>
          <a:lstStyle/>
          <a:p>
            <a:r>
              <a:rPr lang="en-US" dirty="0"/>
              <a:t>Recap Session 1</a:t>
            </a:r>
          </a:p>
        </p:txBody>
      </p:sp>
      <p:sp>
        <p:nvSpPr>
          <p:cNvPr id="3" name="Subtitle 2">
            <a:extLst>
              <a:ext uri="{FF2B5EF4-FFF2-40B4-BE49-F238E27FC236}">
                <a16:creationId xmlns:a16="http://schemas.microsoft.com/office/drawing/2014/main" id="{0EB6B954-EB4A-300F-8B3C-2B99A9AA0620}"/>
              </a:ext>
            </a:extLst>
          </p:cNvPr>
          <p:cNvSpPr>
            <a:spLocks noGrp="1"/>
          </p:cNvSpPr>
          <p:nvPr>
            <p:ph type="subTitle" idx="1"/>
          </p:nvPr>
        </p:nvSpPr>
        <p:spPr/>
        <p:txBody>
          <a:bodyPr/>
          <a:lstStyle/>
          <a:p>
            <a:r>
              <a:rPr lang="en-US" dirty="0"/>
              <a:t>Speed run time</a:t>
            </a:r>
          </a:p>
        </p:txBody>
      </p:sp>
      <p:sp>
        <p:nvSpPr>
          <p:cNvPr id="4" name="Slide Number Placeholder 3">
            <a:extLst>
              <a:ext uri="{FF2B5EF4-FFF2-40B4-BE49-F238E27FC236}">
                <a16:creationId xmlns:a16="http://schemas.microsoft.com/office/drawing/2014/main" id="{6494707F-0F75-9F2E-1F60-9181D759A993}"/>
              </a:ext>
            </a:extLst>
          </p:cNvPr>
          <p:cNvSpPr>
            <a:spLocks noGrp="1"/>
          </p:cNvSpPr>
          <p:nvPr>
            <p:ph type="sldNum" sz="quarter" idx="12"/>
          </p:nvPr>
        </p:nvSpPr>
        <p:spPr/>
        <p:txBody>
          <a:bodyPr/>
          <a:lstStyle/>
          <a:p>
            <a:fld id="{545C6241-0FFB-0A47-90CD-D7CEEB6F00AC}" type="slidenum">
              <a:rPr lang="en-US" smtClean="0"/>
              <a:t>3</a:t>
            </a:fld>
            <a:endParaRPr lang="en-US" dirty="0"/>
          </a:p>
        </p:txBody>
      </p:sp>
    </p:spTree>
    <p:extLst>
      <p:ext uri="{BB962C8B-B14F-4D97-AF65-F5344CB8AC3E}">
        <p14:creationId xmlns:p14="http://schemas.microsoft.com/office/powerpoint/2010/main" val="402796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C2D46-A9F1-6986-D861-DF88B2E1B4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B9E7FE-2611-A89E-C64B-A508CC1CCA6D}"/>
              </a:ext>
            </a:extLst>
          </p:cNvPr>
          <p:cNvSpPr>
            <a:spLocks noGrp="1"/>
          </p:cNvSpPr>
          <p:nvPr>
            <p:ph type="title"/>
          </p:nvPr>
        </p:nvSpPr>
        <p:spPr/>
        <p:txBody>
          <a:bodyPr/>
          <a:lstStyle/>
          <a:p>
            <a:r>
              <a:rPr lang="en-US" dirty="0"/>
              <a:t>Primitive data types </a:t>
            </a:r>
          </a:p>
        </p:txBody>
      </p:sp>
      <p:sp>
        <p:nvSpPr>
          <p:cNvPr id="4" name="Slide Number Placeholder 3">
            <a:extLst>
              <a:ext uri="{FF2B5EF4-FFF2-40B4-BE49-F238E27FC236}">
                <a16:creationId xmlns:a16="http://schemas.microsoft.com/office/drawing/2014/main" id="{51241DCC-8E6A-D8A7-EAD0-6C8815D783D0}"/>
              </a:ext>
            </a:extLst>
          </p:cNvPr>
          <p:cNvSpPr>
            <a:spLocks noGrp="1"/>
          </p:cNvSpPr>
          <p:nvPr>
            <p:ph type="sldNum" sz="quarter" idx="12"/>
          </p:nvPr>
        </p:nvSpPr>
        <p:spPr/>
        <p:txBody>
          <a:bodyPr/>
          <a:lstStyle/>
          <a:p>
            <a:fld id="{545C6241-0FFB-0A47-90CD-D7CEEB6F00AC}" type="slidenum">
              <a:rPr lang="en-US" smtClean="0"/>
              <a:t>4</a:t>
            </a:fld>
            <a:endParaRPr lang="en-US" dirty="0"/>
          </a:p>
        </p:txBody>
      </p:sp>
      <p:sp>
        <p:nvSpPr>
          <p:cNvPr id="5" name="TextBox 4">
            <a:extLst>
              <a:ext uri="{FF2B5EF4-FFF2-40B4-BE49-F238E27FC236}">
                <a16:creationId xmlns:a16="http://schemas.microsoft.com/office/drawing/2014/main" id="{83C2FD20-6E7E-2A50-002B-4A88B09B4D2A}"/>
              </a:ext>
            </a:extLst>
          </p:cNvPr>
          <p:cNvSpPr txBox="1"/>
          <p:nvPr/>
        </p:nvSpPr>
        <p:spPr>
          <a:xfrm>
            <a:off x="0" y="6488668"/>
            <a:ext cx="2870200" cy="369332"/>
          </a:xfrm>
          <a:prstGeom prst="rect">
            <a:avLst/>
          </a:prstGeom>
          <a:noFill/>
        </p:spPr>
        <p:txBody>
          <a:bodyPr wrap="square" rtlCol="0">
            <a:spAutoFit/>
          </a:bodyPr>
          <a:lstStyle/>
          <a:p>
            <a:r>
              <a:rPr lang="en-US" dirty="0"/>
              <a:t>Recap Session 1</a:t>
            </a:r>
          </a:p>
        </p:txBody>
      </p:sp>
      <p:sp>
        <p:nvSpPr>
          <p:cNvPr id="6" name="Rectangle 5">
            <a:extLst>
              <a:ext uri="{FF2B5EF4-FFF2-40B4-BE49-F238E27FC236}">
                <a16:creationId xmlns:a16="http://schemas.microsoft.com/office/drawing/2014/main" id="{D78ACCCE-F774-3EC1-8619-C45568D552E9}"/>
              </a:ext>
            </a:extLst>
          </p:cNvPr>
          <p:cNvSpPr/>
          <p:nvPr/>
        </p:nvSpPr>
        <p:spPr>
          <a:xfrm>
            <a:off x="6692348" y="1233317"/>
            <a:ext cx="1918252" cy="6484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ontent Placeholder 2">
            <a:extLst>
              <a:ext uri="{FF2B5EF4-FFF2-40B4-BE49-F238E27FC236}">
                <a16:creationId xmlns:a16="http://schemas.microsoft.com/office/drawing/2014/main" id="{244A8466-6C98-04F9-A32A-813808477464}"/>
              </a:ext>
            </a:extLst>
          </p:cNvPr>
          <p:cNvSpPr>
            <a:spLocks noGrp="1"/>
          </p:cNvSpPr>
          <p:nvPr>
            <p:ph idx="1"/>
          </p:nvPr>
        </p:nvSpPr>
        <p:spPr>
          <a:xfrm>
            <a:off x="838200" y="1825625"/>
            <a:ext cx="10515600" cy="4351338"/>
          </a:xfrm>
        </p:spPr>
        <p:txBody>
          <a:bodyPr/>
          <a:lstStyle/>
          <a:p>
            <a:pPr marL="457200" lvl="1" indent="0">
              <a:buNone/>
            </a:pPr>
            <a:r>
              <a:rPr lang="en-US" dirty="0"/>
              <a:t>Category: Important</a:t>
            </a:r>
          </a:p>
          <a:p>
            <a:pPr marL="457200" lvl="1" indent="0">
              <a:buNone/>
            </a:pPr>
            <a:endParaRPr lang="en-US" dirty="0"/>
          </a:p>
        </p:txBody>
      </p:sp>
      <p:graphicFrame>
        <p:nvGraphicFramePr>
          <p:cNvPr id="3" name="Table 2">
            <a:extLst>
              <a:ext uri="{FF2B5EF4-FFF2-40B4-BE49-F238E27FC236}">
                <a16:creationId xmlns:a16="http://schemas.microsoft.com/office/drawing/2014/main" id="{C3C06D23-E261-2774-EF98-FCF6A663078C}"/>
              </a:ext>
            </a:extLst>
          </p:cNvPr>
          <p:cNvGraphicFramePr>
            <a:graphicFrameLocks noGrp="1"/>
          </p:cNvGraphicFramePr>
          <p:nvPr>
            <p:extLst>
              <p:ext uri="{D42A27DB-BD31-4B8C-83A1-F6EECF244321}">
                <p14:modId xmlns:p14="http://schemas.microsoft.com/office/powerpoint/2010/main" val="1762251922"/>
              </p:ext>
            </p:extLst>
          </p:nvPr>
        </p:nvGraphicFramePr>
        <p:xfrm>
          <a:off x="990600" y="2257876"/>
          <a:ext cx="9309100" cy="3378355"/>
        </p:xfrm>
        <a:graphic>
          <a:graphicData uri="http://schemas.openxmlformats.org/drawingml/2006/table">
            <a:tbl>
              <a:tblPr firstRow="1" bandRow="1">
                <a:tableStyleId>{5C22544A-7EE6-4342-B048-85BDC9FD1C3A}</a:tableStyleId>
              </a:tblPr>
              <a:tblGrid>
                <a:gridCol w="1168400">
                  <a:extLst>
                    <a:ext uri="{9D8B030D-6E8A-4147-A177-3AD203B41FA5}">
                      <a16:colId xmlns:a16="http://schemas.microsoft.com/office/drawing/2014/main" val="1897393369"/>
                    </a:ext>
                  </a:extLst>
                </a:gridCol>
                <a:gridCol w="8140700">
                  <a:extLst>
                    <a:ext uri="{9D8B030D-6E8A-4147-A177-3AD203B41FA5}">
                      <a16:colId xmlns:a16="http://schemas.microsoft.com/office/drawing/2014/main" val="3041664189"/>
                    </a:ext>
                  </a:extLst>
                </a:gridCol>
              </a:tblGrid>
              <a:tr h="675671">
                <a:tc>
                  <a:txBody>
                    <a:bodyPr/>
                    <a:lstStyle/>
                    <a:p>
                      <a:pPr algn="ctr"/>
                      <a:r>
                        <a:rPr lang="en-US" dirty="0"/>
                        <a:t>Type</a:t>
                      </a:r>
                    </a:p>
                  </a:txBody>
                  <a:tcPr anchor="ctr"/>
                </a:tc>
                <a:tc>
                  <a:txBody>
                    <a:bodyPr/>
                    <a:lstStyle/>
                    <a:p>
                      <a:pPr algn="ctr"/>
                      <a:r>
                        <a:rPr lang="en-US" dirty="0"/>
                        <a:t>Notes – Use them in this order</a:t>
                      </a:r>
                    </a:p>
                  </a:txBody>
                  <a:tcPr anchor="ctr"/>
                </a:tc>
                <a:extLst>
                  <a:ext uri="{0D108BD9-81ED-4DB2-BD59-A6C34878D82A}">
                    <a16:rowId xmlns:a16="http://schemas.microsoft.com/office/drawing/2014/main" val="3883220142"/>
                  </a:ext>
                </a:extLst>
              </a:tr>
              <a:tr h="675671">
                <a:tc>
                  <a:txBody>
                    <a:bodyPr/>
                    <a:lstStyle/>
                    <a:p>
                      <a:pPr algn="ctr"/>
                      <a:r>
                        <a:rPr lang="en-US" dirty="0"/>
                        <a:t>boolean</a:t>
                      </a:r>
                    </a:p>
                  </a:txBody>
                  <a:tcPr anchor="ctr"/>
                </a:tc>
                <a:tc>
                  <a:txBody>
                    <a:bodyPr/>
                    <a:lstStyle/>
                    <a:p>
                      <a:r>
                        <a:rPr lang="en-US" dirty="0"/>
                        <a:t>Can only be true or false. Used for flags and logic statements</a:t>
                      </a:r>
                    </a:p>
                  </a:txBody>
                  <a:tcPr anchor="ctr"/>
                </a:tc>
                <a:extLst>
                  <a:ext uri="{0D108BD9-81ED-4DB2-BD59-A6C34878D82A}">
                    <a16:rowId xmlns:a16="http://schemas.microsoft.com/office/drawing/2014/main" val="3007990182"/>
                  </a:ext>
                </a:extLst>
              </a:tr>
              <a:tr h="675671">
                <a:tc>
                  <a:txBody>
                    <a:bodyPr/>
                    <a:lstStyle/>
                    <a:p>
                      <a:pPr algn="ctr"/>
                      <a:r>
                        <a:rPr lang="en-US" dirty="0"/>
                        <a:t>int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Used for whole numbers (I.E. Ticks, bool math, indexing etc.)</a:t>
                      </a:r>
                    </a:p>
                  </a:txBody>
                  <a:tcPr anchor="ctr"/>
                </a:tc>
                <a:extLst>
                  <a:ext uri="{0D108BD9-81ED-4DB2-BD59-A6C34878D82A}">
                    <a16:rowId xmlns:a16="http://schemas.microsoft.com/office/drawing/2014/main" val="1652460111"/>
                  </a:ext>
                </a:extLst>
              </a:tr>
              <a:tr h="675671">
                <a:tc>
                  <a:txBody>
                    <a:bodyPr/>
                    <a:lstStyle/>
                    <a:p>
                      <a:pPr algn="ctr"/>
                      <a:r>
                        <a:rPr lang="en-US" dirty="0"/>
                        <a:t>double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Used for decimals, helpful but easy to overuse leading to problems. </a:t>
                      </a:r>
                    </a:p>
                  </a:txBody>
                  <a:tcPr anchor="ctr"/>
                </a:tc>
                <a:extLst>
                  <a:ext uri="{0D108BD9-81ED-4DB2-BD59-A6C34878D82A}">
                    <a16:rowId xmlns:a16="http://schemas.microsoft.com/office/drawing/2014/main" val="2793641015"/>
                  </a:ext>
                </a:extLst>
              </a:tr>
              <a:tr h="675671">
                <a:tc>
                  <a:txBody>
                    <a:bodyPr/>
                    <a:lstStyle/>
                    <a:p>
                      <a:pPr algn="ctr"/>
                      <a:r>
                        <a:rPr lang="en-US" dirty="0"/>
                        <a:t>void</a:t>
                      </a:r>
                    </a:p>
                  </a:txBody>
                  <a:tcPr anchor="ctr"/>
                </a:tc>
                <a:tc>
                  <a:txBody>
                    <a:bodyPr/>
                    <a:lstStyle/>
                    <a:p>
                      <a:r>
                        <a:rPr lang="en-US" dirty="0"/>
                        <a:t>Used when nothing is returned or stored, this is the same as having a “return returnAddress” which is what java will auto compiles this as.</a:t>
                      </a:r>
                    </a:p>
                  </a:txBody>
                  <a:tcPr anchor="ctr"/>
                </a:tc>
                <a:extLst>
                  <a:ext uri="{0D108BD9-81ED-4DB2-BD59-A6C34878D82A}">
                    <a16:rowId xmlns:a16="http://schemas.microsoft.com/office/drawing/2014/main" val="1550583377"/>
                  </a:ext>
                </a:extLst>
              </a:tr>
            </a:tbl>
          </a:graphicData>
        </a:graphic>
      </p:graphicFrame>
    </p:spTree>
    <p:extLst>
      <p:ext uri="{BB962C8B-B14F-4D97-AF65-F5344CB8AC3E}">
        <p14:creationId xmlns:p14="http://schemas.microsoft.com/office/powerpoint/2010/main" val="1516833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DD3FC-1DE7-5FD6-B3A8-4468C1359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875FB-6882-D7D9-1D2A-420F8E22D533}"/>
              </a:ext>
            </a:extLst>
          </p:cNvPr>
          <p:cNvSpPr>
            <a:spLocks noGrp="1"/>
          </p:cNvSpPr>
          <p:nvPr>
            <p:ph type="title"/>
          </p:nvPr>
        </p:nvSpPr>
        <p:spPr/>
        <p:txBody>
          <a:bodyPr/>
          <a:lstStyle/>
          <a:p>
            <a:r>
              <a:rPr lang="en-US" dirty="0"/>
              <a:t>(Other) Variables and Data Types</a:t>
            </a:r>
          </a:p>
        </p:txBody>
      </p:sp>
      <p:sp>
        <p:nvSpPr>
          <p:cNvPr id="4" name="Slide Number Placeholder 3">
            <a:extLst>
              <a:ext uri="{FF2B5EF4-FFF2-40B4-BE49-F238E27FC236}">
                <a16:creationId xmlns:a16="http://schemas.microsoft.com/office/drawing/2014/main" id="{94AB26E3-D0CB-83FC-65EE-AD86C145F9D0}"/>
              </a:ext>
            </a:extLst>
          </p:cNvPr>
          <p:cNvSpPr>
            <a:spLocks noGrp="1"/>
          </p:cNvSpPr>
          <p:nvPr>
            <p:ph type="sldNum" sz="quarter" idx="12"/>
          </p:nvPr>
        </p:nvSpPr>
        <p:spPr/>
        <p:txBody>
          <a:bodyPr/>
          <a:lstStyle/>
          <a:p>
            <a:fld id="{545C6241-0FFB-0A47-90CD-D7CEEB6F00AC}" type="slidenum">
              <a:rPr lang="en-US" smtClean="0"/>
              <a:t>5</a:t>
            </a:fld>
            <a:endParaRPr lang="en-US" dirty="0"/>
          </a:p>
        </p:txBody>
      </p:sp>
      <p:sp>
        <p:nvSpPr>
          <p:cNvPr id="6" name="Rectangle 5">
            <a:extLst>
              <a:ext uri="{FF2B5EF4-FFF2-40B4-BE49-F238E27FC236}">
                <a16:creationId xmlns:a16="http://schemas.microsoft.com/office/drawing/2014/main" id="{D74755F8-D76F-7319-774C-35971A442F47}"/>
              </a:ext>
            </a:extLst>
          </p:cNvPr>
          <p:cNvSpPr/>
          <p:nvPr/>
        </p:nvSpPr>
        <p:spPr>
          <a:xfrm>
            <a:off x="6692348" y="1233317"/>
            <a:ext cx="1918252" cy="6484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ontent Placeholder 2">
            <a:extLst>
              <a:ext uri="{FF2B5EF4-FFF2-40B4-BE49-F238E27FC236}">
                <a16:creationId xmlns:a16="http://schemas.microsoft.com/office/drawing/2014/main" id="{2CB89958-71C3-4798-741A-21C35182323C}"/>
              </a:ext>
            </a:extLst>
          </p:cNvPr>
          <p:cNvSpPr>
            <a:spLocks noGrp="1"/>
          </p:cNvSpPr>
          <p:nvPr>
            <p:ph idx="1"/>
          </p:nvPr>
        </p:nvSpPr>
        <p:spPr>
          <a:xfrm>
            <a:off x="838200" y="1449558"/>
            <a:ext cx="10515600" cy="4351338"/>
          </a:xfrm>
        </p:spPr>
        <p:txBody>
          <a:bodyPr/>
          <a:lstStyle/>
          <a:p>
            <a:pPr marL="457200" lvl="1" indent="0">
              <a:buNone/>
            </a:pPr>
            <a:r>
              <a:rPr lang="en-US" dirty="0"/>
              <a:t>Category: Other…				* Denotes Important</a:t>
            </a:r>
          </a:p>
          <a:p>
            <a:pPr marL="457200" lvl="1" indent="0">
              <a:buNone/>
            </a:pPr>
            <a:endParaRPr lang="en-US" dirty="0"/>
          </a:p>
        </p:txBody>
      </p:sp>
      <p:graphicFrame>
        <p:nvGraphicFramePr>
          <p:cNvPr id="3" name="Table 2">
            <a:extLst>
              <a:ext uri="{FF2B5EF4-FFF2-40B4-BE49-F238E27FC236}">
                <a16:creationId xmlns:a16="http://schemas.microsoft.com/office/drawing/2014/main" id="{90835B64-7835-CA08-638E-68EC86AE0DC0}"/>
              </a:ext>
            </a:extLst>
          </p:cNvPr>
          <p:cNvGraphicFramePr>
            <a:graphicFrameLocks noGrp="1"/>
          </p:cNvGraphicFramePr>
          <p:nvPr>
            <p:extLst>
              <p:ext uri="{D42A27DB-BD31-4B8C-83A1-F6EECF244321}">
                <p14:modId xmlns:p14="http://schemas.microsoft.com/office/powerpoint/2010/main" val="3713993320"/>
              </p:ext>
            </p:extLst>
          </p:nvPr>
        </p:nvGraphicFramePr>
        <p:xfrm>
          <a:off x="990600" y="1881809"/>
          <a:ext cx="9601200" cy="4404453"/>
        </p:xfrm>
        <a:graphic>
          <a:graphicData uri="http://schemas.openxmlformats.org/drawingml/2006/table">
            <a:tbl>
              <a:tblPr firstRow="1" bandRow="1">
                <a:tableStyleId>{5C22544A-7EE6-4342-B048-85BDC9FD1C3A}</a:tableStyleId>
              </a:tblPr>
              <a:tblGrid>
                <a:gridCol w="1574800">
                  <a:extLst>
                    <a:ext uri="{9D8B030D-6E8A-4147-A177-3AD203B41FA5}">
                      <a16:colId xmlns:a16="http://schemas.microsoft.com/office/drawing/2014/main" val="1897393369"/>
                    </a:ext>
                  </a:extLst>
                </a:gridCol>
                <a:gridCol w="8026400">
                  <a:extLst>
                    <a:ext uri="{9D8B030D-6E8A-4147-A177-3AD203B41FA5}">
                      <a16:colId xmlns:a16="http://schemas.microsoft.com/office/drawing/2014/main" val="3041664189"/>
                    </a:ext>
                  </a:extLst>
                </a:gridCol>
              </a:tblGrid>
              <a:tr h="675671">
                <a:tc>
                  <a:txBody>
                    <a:bodyPr/>
                    <a:lstStyle/>
                    <a:p>
                      <a:pPr algn="ctr"/>
                      <a:r>
                        <a:rPr lang="en-US" dirty="0"/>
                        <a:t>Type</a:t>
                      </a:r>
                    </a:p>
                  </a:txBody>
                  <a:tcPr anchor="ctr"/>
                </a:tc>
                <a:tc>
                  <a:txBody>
                    <a:bodyPr/>
                    <a:lstStyle/>
                    <a:p>
                      <a:pPr algn="ctr"/>
                      <a:r>
                        <a:rPr lang="en-US" dirty="0"/>
                        <a:t>Notes</a:t>
                      </a:r>
                    </a:p>
                  </a:txBody>
                  <a:tcPr anchor="ctr"/>
                </a:tc>
                <a:extLst>
                  <a:ext uri="{0D108BD9-81ED-4DB2-BD59-A6C34878D82A}">
                    <a16:rowId xmlns:a16="http://schemas.microsoft.com/office/drawing/2014/main" val="3883220142"/>
                  </a:ext>
                </a:extLst>
              </a:tr>
              <a:tr h="675671">
                <a:tc>
                  <a:txBody>
                    <a:bodyPr/>
                    <a:lstStyle/>
                    <a:p>
                      <a:pPr algn="ctr"/>
                      <a:r>
                        <a:rPr lang="en-US" dirty="0"/>
                        <a:t>String *</a:t>
                      </a:r>
                    </a:p>
                  </a:txBody>
                  <a:tcPr anchor="ctr"/>
                </a:tc>
                <a:tc>
                  <a:txBody>
                    <a:bodyPr/>
                    <a:lstStyle/>
                    <a:p>
                      <a:r>
                        <a:rPr lang="en-US" dirty="0"/>
                        <a:t>Represents a sequence of characters. Strings are immutable, meaning their values cannot be changed after creation. </a:t>
                      </a:r>
                    </a:p>
                  </a:txBody>
                  <a:tcPr anchor="ctr"/>
                </a:tc>
                <a:extLst>
                  <a:ext uri="{0D108BD9-81ED-4DB2-BD59-A6C34878D82A}">
                    <a16:rowId xmlns:a16="http://schemas.microsoft.com/office/drawing/2014/main" val="3007990182"/>
                  </a:ext>
                </a:extLst>
              </a:tr>
              <a:tr h="675671">
                <a:tc>
                  <a:txBody>
                    <a:bodyPr/>
                    <a:lstStyle/>
                    <a:p>
                      <a:pPr algn="ctr"/>
                      <a:r>
                        <a:rPr lang="en-US" dirty="0"/>
                        <a:t>Arrays *</a:t>
                      </a:r>
                    </a:p>
                  </a:txBody>
                  <a:tcPr anchor="ctr"/>
                </a:tc>
                <a:tc>
                  <a:txBody>
                    <a:bodyPr/>
                    <a:lstStyle/>
                    <a:p>
                      <a:r>
                        <a:rPr lang="en-US" dirty="0"/>
                        <a:t>Ordered collections of elements of the same type. Arrays can hold primitives or references. </a:t>
                      </a:r>
                    </a:p>
                  </a:txBody>
                  <a:tcPr anchor="ctr"/>
                </a:tc>
                <a:extLst>
                  <a:ext uri="{0D108BD9-81ED-4DB2-BD59-A6C34878D82A}">
                    <a16:rowId xmlns:a16="http://schemas.microsoft.com/office/drawing/2014/main" val="1652460111"/>
                  </a:ext>
                </a:extLst>
              </a:tr>
              <a:tr h="6756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Classes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Blueprints for creating objects. Objects are instances of classes and encapsulate data (fields) and behavior (methods).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We’ll cover this in a different Session because they’re complicated and large. </a:t>
                      </a:r>
                    </a:p>
                  </a:txBody>
                  <a:tcPr anchor="ctr"/>
                </a:tc>
                <a:extLst>
                  <a:ext uri="{0D108BD9-81ED-4DB2-BD59-A6C34878D82A}">
                    <a16:rowId xmlns:a16="http://schemas.microsoft.com/office/drawing/2014/main" val="1025386261"/>
                  </a:ext>
                </a:extLst>
              </a:tr>
              <a:tr h="6756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Collections *</a:t>
                      </a:r>
                    </a:p>
                    <a:p>
                      <a:pPr marL="0" marR="0" indent="0" algn="ctr" defTabSz="914400" rtl="0" eaLnBrk="1" fontAlgn="auto" latinLnBrk="0" hangingPunct="1">
                        <a:lnSpc>
                          <a:spcPct val="100000"/>
                        </a:lnSpc>
                        <a:spcBef>
                          <a:spcPts val="0"/>
                        </a:spcBef>
                        <a:spcAft>
                          <a:spcPts val="0"/>
                        </a:spcAft>
                        <a:buClrTx/>
                        <a:buSzTx/>
                        <a:buFontTx/>
                        <a:buNone/>
                        <a:tabLst/>
                        <a:defRPr/>
                      </a:pPr>
                      <a:endParaRPr lang="en-US" dirty="0"/>
                    </a:p>
                    <a:p>
                      <a:pPr marL="0" marR="0" indent="0" algn="ctr" defTabSz="914400" rtl="0" eaLnBrk="1" fontAlgn="auto" latinLnBrk="0" hangingPunct="1">
                        <a:lnSpc>
                          <a:spcPct val="100000"/>
                        </a:lnSpc>
                        <a:spcBef>
                          <a:spcPts val="0"/>
                        </a:spcBef>
                        <a:spcAft>
                          <a:spcPts val="0"/>
                        </a:spcAft>
                        <a:buClrTx/>
                        <a:buSzTx/>
                        <a:buFontTx/>
                        <a:buNone/>
                        <a:tabLst/>
                        <a:defRPr/>
                      </a:pPr>
                      <a:r>
                        <a:rPr lang="en-US" dirty="0"/>
                        <a:t>We will touch on this way later. </a:t>
                      </a:r>
                    </a:p>
                  </a:txBody>
                  <a:tcPr anchor="ctr"/>
                </a:tc>
                <a:tc>
                  <a:txBody>
                    <a:bodyPr/>
                    <a:lstStyle/>
                    <a:p>
                      <a:r>
                        <a:rPr lang="en-US" dirty="0"/>
                        <a:t>Framework for storing and manipulating groups of objects, including: </a:t>
                      </a:r>
                    </a:p>
                    <a:p>
                      <a:r>
                        <a:rPr lang="en-US" b="1" dirty="0"/>
                        <a:t>Lists:</a:t>
                      </a:r>
                      <a:r>
                        <a:rPr lang="en-US" dirty="0"/>
                        <a:t> Ordered collections that allow duplicate elements (e.g., ArrayList, LinkedList). </a:t>
                      </a:r>
                    </a:p>
                    <a:p>
                      <a:r>
                        <a:rPr lang="en-US" b="1" dirty="0"/>
                        <a:t>Sets:</a:t>
                      </a:r>
                      <a:r>
                        <a:rPr lang="en-US" dirty="0"/>
                        <a:t> Collections that do not allow duplicate elements (e.g., HashSet, TreeSet). </a:t>
                      </a:r>
                    </a:p>
                    <a:p>
                      <a:r>
                        <a:rPr lang="en-US" b="1" dirty="0"/>
                        <a:t>Maps:</a:t>
                      </a:r>
                      <a:r>
                        <a:rPr lang="en-US" dirty="0"/>
                        <a:t> Collections that store key-value pairs (e.g., HashMap, TreeMap).</a:t>
                      </a:r>
                    </a:p>
                  </a:txBody>
                  <a:tcPr anchor="ctr"/>
                </a:tc>
                <a:extLst>
                  <a:ext uri="{0D108BD9-81ED-4DB2-BD59-A6C34878D82A}">
                    <a16:rowId xmlns:a16="http://schemas.microsoft.com/office/drawing/2014/main" val="2773693048"/>
                  </a:ext>
                </a:extLst>
              </a:tr>
            </a:tbl>
          </a:graphicData>
        </a:graphic>
      </p:graphicFrame>
      <p:sp>
        <p:nvSpPr>
          <p:cNvPr id="8" name="TextBox 7">
            <a:extLst>
              <a:ext uri="{FF2B5EF4-FFF2-40B4-BE49-F238E27FC236}">
                <a16:creationId xmlns:a16="http://schemas.microsoft.com/office/drawing/2014/main" id="{0C7F3885-D61D-4C34-F440-FBFDF455ED1A}"/>
              </a:ext>
            </a:extLst>
          </p:cNvPr>
          <p:cNvSpPr txBox="1"/>
          <p:nvPr/>
        </p:nvSpPr>
        <p:spPr>
          <a:xfrm>
            <a:off x="0" y="6488668"/>
            <a:ext cx="2870200" cy="369332"/>
          </a:xfrm>
          <a:prstGeom prst="rect">
            <a:avLst/>
          </a:prstGeom>
          <a:noFill/>
        </p:spPr>
        <p:txBody>
          <a:bodyPr wrap="square" rtlCol="0">
            <a:spAutoFit/>
          </a:bodyPr>
          <a:lstStyle/>
          <a:p>
            <a:r>
              <a:rPr lang="en-US" dirty="0"/>
              <a:t>Recap Session 1</a:t>
            </a:r>
          </a:p>
        </p:txBody>
      </p:sp>
    </p:spTree>
    <p:extLst>
      <p:ext uri="{BB962C8B-B14F-4D97-AF65-F5344CB8AC3E}">
        <p14:creationId xmlns:p14="http://schemas.microsoft.com/office/powerpoint/2010/main" val="51147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E1068-3FBC-9B40-35A1-FBF03090B8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83B32-35DA-97C5-1B29-3762226C81CA}"/>
              </a:ext>
            </a:extLst>
          </p:cNvPr>
          <p:cNvSpPr>
            <a:spLocks noGrp="1"/>
          </p:cNvSpPr>
          <p:nvPr>
            <p:ph type="title"/>
          </p:nvPr>
        </p:nvSpPr>
        <p:spPr/>
        <p:txBody>
          <a:bodyPr/>
          <a:lstStyle/>
          <a:p>
            <a:r>
              <a:rPr lang="en-US" dirty="0"/>
              <a:t>Inline Math</a:t>
            </a:r>
          </a:p>
        </p:txBody>
      </p:sp>
      <p:sp>
        <p:nvSpPr>
          <p:cNvPr id="4" name="Slide Number Placeholder 3">
            <a:extLst>
              <a:ext uri="{FF2B5EF4-FFF2-40B4-BE49-F238E27FC236}">
                <a16:creationId xmlns:a16="http://schemas.microsoft.com/office/drawing/2014/main" id="{D038868B-88BF-F95E-A0BC-2B9BCE66A711}"/>
              </a:ext>
            </a:extLst>
          </p:cNvPr>
          <p:cNvSpPr>
            <a:spLocks noGrp="1"/>
          </p:cNvSpPr>
          <p:nvPr>
            <p:ph type="sldNum" sz="quarter" idx="12"/>
          </p:nvPr>
        </p:nvSpPr>
        <p:spPr/>
        <p:txBody>
          <a:bodyPr/>
          <a:lstStyle/>
          <a:p>
            <a:fld id="{545C6241-0FFB-0A47-90CD-D7CEEB6F00AC}" type="slidenum">
              <a:rPr lang="en-US" smtClean="0"/>
              <a:t>6</a:t>
            </a:fld>
            <a:endParaRPr lang="en-US" dirty="0"/>
          </a:p>
        </p:txBody>
      </p:sp>
      <p:sp>
        <p:nvSpPr>
          <p:cNvPr id="3" name="Content Placeholder 2">
            <a:extLst>
              <a:ext uri="{FF2B5EF4-FFF2-40B4-BE49-F238E27FC236}">
                <a16:creationId xmlns:a16="http://schemas.microsoft.com/office/drawing/2014/main" id="{CEDCD0CD-FEA6-37D6-22CB-00F54FB8BA5B}"/>
              </a:ext>
            </a:extLst>
          </p:cNvPr>
          <p:cNvSpPr>
            <a:spLocks noGrp="1"/>
          </p:cNvSpPr>
          <p:nvPr>
            <p:ph idx="1"/>
          </p:nvPr>
        </p:nvSpPr>
        <p:spPr>
          <a:xfrm>
            <a:off x="838200" y="1603795"/>
            <a:ext cx="10515600" cy="4351338"/>
          </a:xfrm>
        </p:spPr>
        <p:txBody>
          <a:bodyPr>
            <a:normAutofit/>
          </a:bodyPr>
          <a:lstStyle/>
          <a:p>
            <a:pPr marL="457200" lvl="1" indent="0">
              <a:buNone/>
            </a:pPr>
            <a:r>
              <a:rPr lang="en-US" dirty="0"/>
              <a:t>You can (And will) do math in line!</a:t>
            </a:r>
          </a:p>
        </p:txBody>
      </p:sp>
      <p:graphicFrame>
        <p:nvGraphicFramePr>
          <p:cNvPr id="6" name="Table 5">
            <a:extLst>
              <a:ext uri="{FF2B5EF4-FFF2-40B4-BE49-F238E27FC236}">
                <a16:creationId xmlns:a16="http://schemas.microsoft.com/office/drawing/2014/main" id="{E1419404-A549-C41D-32DE-0BF2AC4AF3BF}"/>
              </a:ext>
            </a:extLst>
          </p:cNvPr>
          <p:cNvGraphicFramePr>
            <a:graphicFrameLocks noGrp="1"/>
          </p:cNvGraphicFramePr>
          <p:nvPr>
            <p:extLst>
              <p:ext uri="{D42A27DB-BD31-4B8C-83A1-F6EECF244321}">
                <p14:modId xmlns:p14="http://schemas.microsoft.com/office/powerpoint/2010/main" val="682507944"/>
              </p:ext>
            </p:extLst>
          </p:nvPr>
        </p:nvGraphicFramePr>
        <p:xfrm>
          <a:off x="1435100" y="2010685"/>
          <a:ext cx="8128000" cy="3403600"/>
        </p:xfrm>
        <a:graphic>
          <a:graphicData uri="http://schemas.openxmlformats.org/drawingml/2006/table">
            <a:tbl>
              <a:tblPr firstRow="1" bandRow="1">
                <a:tableStyleId>{5C22544A-7EE6-4342-B048-85BDC9FD1C3A}</a:tableStyleId>
              </a:tblPr>
              <a:tblGrid>
                <a:gridCol w="1129841">
                  <a:extLst>
                    <a:ext uri="{9D8B030D-6E8A-4147-A177-3AD203B41FA5}">
                      <a16:colId xmlns:a16="http://schemas.microsoft.com/office/drawing/2014/main" val="2181159470"/>
                    </a:ext>
                  </a:extLst>
                </a:gridCol>
                <a:gridCol w="6998159">
                  <a:extLst>
                    <a:ext uri="{9D8B030D-6E8A-4147-A177-3AD203B41FA5}">
                      <a16:colId xmlns:a16="http://schemas.microsoft.com/office/drawing/2014/main" val="3732650345"/>
                    </a:ext>
                  </a:extLst>
                </a:gridCol>
              </a:tblGrid>
              <a:tr h="370840">
                <a:tc>
                  <a:txBody>
                    <a:bodyPr/>
                    <a:lstStyle/>
                    <a:p>
                      <a:pPr algn="ctr"/>
                      <a:r>
                        <a:rPr lang="en-US" dirty="0"/>
                        <a:t>Math Operator</a:t>
                      </a:r>
                    </a:p>
                  </a:txBody>
                  <a:tcPr anchor="ctr"/>
                </a:tc>
                <a:tc>
                  <a:txBody>
                    <a:bodyPr/>
                    <a:lstStyle/>
                    <a:p>
                      <a:pPr algn="ctr"/>
                      <a:r>
                        <a:rPr lang="en-US" dirty="0"/>
                        <a:t>Meaning</a:t>
                      </a:r>
                    </a:p>
                  </a:txBody>
                  <a:tcPr anchor="ctr"/>
                </a:tc>
                <a:extLst>
                  <a:ext uri="{0D108BD9-81ED-4DB2-BD59-A6C34878D82A}">
                    <a16:rowId xmlns:a16="http://schemas.microsoft.com/office/drawing/2014/main" val="1488468009"/>
                  </a:ext>
                </a:extLst>
              </a:tr>
              <a:tr h="370840">
                <a:tc>
                  <a:txBody>
                    <a:bodyPr/>
                    <a:lstStyle/>
                    <a:p>
                      <a:pPr algn="ctr"/>
                      <a:r>
                        <a:rPr lang="en-US" dirty="0"/>
                        <a:t>=</a:t>
                      </a:r>
                    </a:p>
                  </a:txBody>
                  <a:tcPr anchor="ctr"/>
                </a:tc>
                <a:tc>
                  <a:txBody>
                    <a:bodyPr/>
                    <a:lstStyle/>
                    <a:p>
                      <a:pPr algn="ctr"/>
                      <a:r>
                        <a:rPr lang="en-US" dirty="0"/>
                        <a:t>Assignment Operator. int A = 1;</a:t>
                      </a:r>
                    </a:p>
                  </a:txBody>
                  <a:tcPr anchor="ctr"/>
                </a:tc>
                <a:extLst>
                  <a:ext uri="{0D108BD9-81ED-4DB2-BD59-A6C34878D82A}">
                    <a16:rowId xmlns:a16="http://schemas.microsoft.com/office/drawing/2014/main" val="2330431785"/>
                  </a:ext>
                </a:extLst>
              </a:tr>
              <a:tr h="370840">
                <a:tc>
                  <a:txBody>
                    <a:bodyPr/>
                    <a:lstStyle/>
                    <a:p>
                      <a:pPr algn="ctr"/>
                      <a:r>
                        <a:rPr lang="en-US" dirty="0"/>
                        <a:t>==, &gt;, &gt;=, &lt;, &lt;=</a:t>
                      </a:r>
                    </a:p>
                  </a:txBody>
                  <a:tcPr anchor="ctr"/>
                </a:tc>
                <a:tc>
                  <a:txBody>
                    <a:bodyPr/>
                    <a:lstStyle/>
                    <a:p>
                      <a:pPr algn="ctr"/>
                      <a:r>
                        <a:rPr lang="en-US" dirty="0"/>
                        <a:t>Comparison Operator. A == B, A &gt;= B, etc. </a:t>
                      </a:r>
                    </a:p>
                  </a:txBody>
                  <a:tcPr anchor="ctr"/>
                </a:tc>
                <a:extLst>
                  <a:ext uri="{0D108BD9-81ED-4DB2-BD59-A6C34878D82A}">
                    <a16:rowId xmlns:a16="http://schemas.microsoft.com/office/drawing/2014/main" val="3927087577"/>
                  </a:ext>
                </a:extLst>
              </a:tr>
              <a:tr h="370840">
                <a:tc>
                  <a:txBody>
                    <a:bodyPr/>
                    <a:lstStyle/>
                    <a:p>
                      <a:pPr algn="ctr"/>
                      <a:r>
                        <a:rPr lang="en-US" dirty="0"/>
                        <a:t>+</a:t>
                      </a:r>
                    </a:p>
                  </a:txBody>
                  <a:tcPr anchor="ctr"/>
                </a:tc>
                <a:tc>
                  <a:txBody>
                    <a:bodyPr/>
                    <a:lstStyle/>
                    <a:p>
                      <a:pPr algn="ctr"/>
                      <a:r>
                        <a:rPr lang="en-US" dirty="0"/>
                        <a:t>Addition Operator. int A = 1 + 1;</a:t>
                      </a:r>
                    </a:p>
                  </a:txBody>
                  <a:tcPr anchor="ctr"/>
                </a:tc>
                <a:extLst>
                  <a:ext uri="{0D108BD9-81ED-4DB2-BD59-A6C34878D82A}">
                    <a16:rowId xmlns:a16="http://schemas.microsoft.com/office/drawing/2014/main" val="3348675194"/>
                  </a:ext>
                </a:extLst>
              </a:tr>
              <a:tr h="370840">
                <a:tc>
                  <a:txBody>
                    <a:bodyPr/>
                    <a:lstStyle/>
                    <a:p>
                      <a:pPr algn="ctr"/>
                      <a:r>
                        <a:rPr lang="en-US" dirty="0"/>
                        <a:t>-</a:t>
                      </a:r>
                    </a:p>
                  </a:txBody>
                  <a:tcPr anchor="ctr"/>
                </a:tc>
                <a:tc>
                  <a:txBody>
                    <a:bodyPr/>
                    <a:lstStyle/>
                    <a:p>
                      <a:pPr algn="ctr"/>
                      <a:r>
                        <a:rPr lang="en-US" dirty="0"/>
                        <a:t>Subtraction Operator AND negative operator. int A = 1 - 1; int B = -5;</a:t>
                      </a:r>
                    </a:p>
                  </a:txBody>
                  <a:tcPr anchor="ctr"/>
                </a:tc>
                <a:extLst>
                  <a:ext uri="{0D108BD9-81ED-4DB2-BD59-A6C34878D82A}">
                    <a16:rowId xmlns:a16="http://schemas.microsoft.com/office/drawing/2014/main" val="2595858384"/>
                  </a:ext>
                </a:extLst>
              </a:tr>
              <a:tr h="370840">
                <a:tc>
                  <a:txBody>
                    <a:bodyPr/>
                    <a:lstStyle/>
                    <a:p>
                      <a:pPr algn="ctr"/>
                      <a:r>
                        <a:rPr lang="en-US" dirty="0"/>
                        <a:t>*</a:t>
                      </a:r>
                    </a:p>
                  </a:txBody>
                  <a:tcPr anchor="ctr"/>
                </a:tc>
                <a:tc>
                  <a:txBody>
                    <a:bodyPr/>
                    <a:lstStyle/>
                    <a:p>
                      <a:pPr algn="ctr"/>
                      <a:r>
                        <a:rPr lang="en-US" dirty="0"/>
                        <a:t>Multiplication Operator. int A = 5 * 5; //25</a:t>
                      </a:r>
                    </a:p>
                  </a:txBody>
                  <a:tcPr anchor="ctr"/>
                </a:tc>
                <a:extLst>
                  <a:ext uri="{0D108BD9-81ED-4DB2-BD59-A6C34878D82A}">
                    <a16:rowId xmlns:a16="http://schemas.microsoft.com/office/drawing/2014/main" val="2569714898"/>
                  </a:ext>
                </a:extLst>
              </a:tr>
              <a:tr h="370840">
                <a:tc>
                  <a:txBody>
                    <a:bodyPr/>
                    <a:lstStyle/>
                    <a:p>
                      <a:pPr algn="ctr"/>
                      <a:r>
                        <a:rPr lang="en-US" dirty="0"/>
                        <a:t>/</a:t>
                      </a:r>
                    </a:p>
                  </a:txBody>
                  <a:tcPr anchor="ctr"/>
                </a:tc>
                <a:tc>
                  <a:txBody>
                    <a:bodyPr/>
                    <a:lstStyle/>
                    <a:p>
                      <a:pPr algn="ctr"/>
                      <a:r>
                        <a:rPr lang="en-US" dirty="0"/>
                        <a:t>Division operator - be aware that if you are using integers only the whole part is kept. It is NOT rounded. int A = (5 / 2); //2</a:t>
                      </a:r>
                    </a:p>
                  </a:txBody>
                  <a:tcPr anchor="ctr"/>
                </a:tc>
                <a:extLst>
                  <a:ext uri="{0D108BD9-81ED-4DB2-BD59-A6C34878D82A}">
                    <a16:rowId xmlns:a16="http://schemas.microsoft.com/office/drawing/2014/main" val="4279795651"/>
                  </a:ext>
                </a:extLst>
              </a:tr>
            </a:tbl>
          </a:graphicData>
        </a:graphic>
      </p:graphicFrame>
      <p:sp>
        <p:nvSpPr>
          <p:cNvPr id="7" name="TextBox 6">
            <a:extLst>
              <a:ext uri="{FF2B5EF4-FFF2-40B4-BE49-F238E27FC236}">
                <a16:creationId xmlns:a16="http://schemas.microsoft.com/office/drawing/2014/main" id="{E1AB6590-77C6-DBFB-C33E-178255AD2304}"/>
              </a:ext>
            </a:extLst>
          </p:cNvPr>
          <p:cNvSpPr txBox="1"/>
          <p:nvPr/>
        </p:nvSpPr>
        <p:spPr>
          <a:xfrm>
            <a:off x="0" y="6488668"/>
            <a:ext cx="2870200" cy="369332"/>
          </a:xfrm>
          <a:prstGeom prst="rect">
            <a:avLst/>
          </a:prstGeom>
          <a:noFill/>
        </p:spPr>
        <p:txBody>
          <a:bodyPr wrap="square" rtlCol="0">
            <a:spAutoFit/>
          </a:bodyPr>
          <a:lstStyle/>
          <a:p>
            <a:r>
              <a:rPr lang="en-US" dirty="0"/>
              <a:t>Recap Session 1</a:t>
            </a:r>
          </a:p>
        </p:txBody>
      </p:sp>
    </p:spTree>
    <p:extLst>
      <p:ext uri="{BB962C8B-B14F-4D97-AF65-F5344CB8AC3E}">
        <p14:creationId xmlns:p14="http://schemas.microsoft.com/office/powerpoint/2010/main" val="3383526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DB150-474E-F5A6-064A-A57C012F1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57759-1304-1B8E-BC87-542A40EBE859}"/>
              </a:ext>
            </a:extLst>
          </p:cNvPr>
          <p:cNvSpPr>
            <a:spLocks noGrp="1"/>
          </p:cNvSpPr>
          <p:nvPr>
            <p:ph type="title"/>
          </p:nvPr>
        </p:nvSpPr>
        <p:spPr/>
        <p:txBody>
          <a:bodyPr/>
          <a:lstStyle/>
          <a:p>
            <a:r>
              <a:rPr lang="en-US" dirty="0"/>
              <a:t>Inline Math++</a:t>
            </a:r>
          </a:p>
        </p:txBody>
      </p:sp>
      <p:sp>
        <p:nvSpPr>
          <p:cNvPr id="4" name="Slide Number Placeholder 3">
            <a:extLst>
              <a:ext uri="{FF2B5EF4-FFF2-40B4-BE49-F238E27FC236}">
                <a16:creationId xmlns:a16="http://schemas.microsoft.com/office/drawing/2014/main" id="{117B0017-0103-449C-9FD7-6D6746F88EBE}"/>
              </a:ext>
            </a:extLst>
          </p:cNvPr>
          <p:cNvSpPr>
            <a:spLocks noGrp="1"/>
          </p:cNvSpPr>
          <p:nvPr>
            <p:ph type="sldNum" sz="quarter" idx="12"/>
          </p:nvPr>
        </p:nvSpPr>
        <p:spPr/>
        <p:txBody>
          <a:bodyPr/>
          <a:lstStyle/>
          <a:p>
            <a:fld id="{545C6241-0FFB-0A47-90CD-D7CEEB6F00AC}" type="slidenum">
              <a:rPr lang="en-US" smtClean="0"/>
              <a:t>7</a:t>
            </a:fld>
            <a:endParaRPr lang="en-US" dirty="0"/>
          </a:p>
        </p:txBody>
      </p:sp>
      <p:sp>
        <p:nvSpPr>
          <p:cNvPr id="3" name="Content Placeholder 2">
            <a:extLst>
              <a:ext uri="{FF2B5EF4-FFF2-40B4-BE49-F238E27FC236}">
                <a16:creationId xmlns:a16="http://schemas.microsoft.com/office/drawing/2014/main" id="{97CC65F4-30F2-319C-CD01-E5091A9732BF}"/>
              </a:ext>
            </a:extLst>
          </p:cNvPr>
          <p:cNvSpPr>
            <a:spLocks noGrp="1"/>
          </p:cNvSpPr>
          <p:nvPr>
            <p:ph idx="1"/>
          </p:nvPr>
        </p:nvSpPr>
        <p:spPr>
          <a:xfrm>
            <a:off x="838200" y="1603795"/>
            <a:ext cx="10515600" cy="4351338"/>
          </a:xfrm>
        </p:spPr>
        <p:txBody>
          <a:bodyPr>
            <a:normAutofit/>
          </a:bodyPr>
          <a:lstStyle/>
          <a:p>
            <a:pPr marL="457200" lvl="1" indent="0">
              <a:buNone/>
            </a:pPr>
            <a:r>
              <a:rPr lang="en-US" dirty="0"/>
              <a:t>These are some more…</a:t>
            </a:r>
          </a:p>
        </p:txBody>
      </p:sp>
      <p:graphicFrame>
        <p:nvGraphicFramePr>
          <p:cNvPr id="6" name="Table 5">
            <a:extLst>
              <a:ext uri="{FF2B5EF4-FFF2-40B4-BE49-F238E27FC236}">
                <a16:creationId xmlns:a16="http://schemas.microsoft.com/office/drawing/2014/main" id="{9375C764-4C57-F474-2C70-452853D4C40F}"/>
              </a:ext>
            </a:extLst>
          </p:cNvPr>
          <p:cNvGraphicFramePr>
            <a:graphicFrameLocks noGrp="1"/>
          </p:cNvGraphicFramePr>
          <p:nvPr>
            <p:extLst>
              <p:ext uri="{D42A27DB-BD31-4B8C-83A1-F6EECF244321}">
                <p14:modId xmlns:p14="http://schemas.microsoft.com/office/powerpoint/2010/main" val="4054651211"/>
              </p:ext>
            </p:extLst>
          </p:nvPr>
        </p:nvGraphicFramePr>
        <p:xfrm>
          <a:off x="1435100" y="2010685"/>
          <a:ext cx="8876688" cy="4023360"/>
        </p:xfrm>
        <a:graphic>
          <a:graphicData uri="http://schemas.openxmlformats.org/drawingml/2006/table">
            <a:tbl>
              <a:tblPr firstRow="1" bandRow="1">
                <a:tableStyleId>{5C22544A-7EE6-4342-B048-85BDC9FD1C3A}</a:tableStyleId>
              </a:tblPr>
              <a:tblGrid>
                <a:gridCol w="1719146">
                  <a:extLst>
                    <a:ext uri="{9D8B030D-6E8A-4147-A177-3AD203B41FA5}">
                      <a16:colId xmlns:a16="http://schemas.microsoft.com/office/drawing/2014/main" val="2181159470"/>
                    </a:ext>
                  </a:extLst>
                </a:gridCol>
                <a:gridCol w="7157542">
                  <a:extLst>
                    <a:ext uri="{9D8B030D-6E8A-4147-A177-3AD203B41FA5}">
                      <a16:colId xmlns:a16="http://schemas.microsoft.com/office/drawing/2014/main" val="3732650345"/>
                    </a:ext>
                  </a:extLst>
                </a:gridCol>
              </a:tblGrid>
              <a:tr h="735446">
                <a:tc>
                  <a:txBody>
                    <a:bodyPr/>
                    <a:lstStyle/>
                    <a:p>
                      <a:pPr algn="ctr"/>
                      <a:r>
                        <a:rPr lang="en-US" sz="2400" dirty="0"/>
                        <a:t>Math Operator</a:t>
                      </a:r>
                    </a:p>
                  </a:txBody>
                  <a:tcPr anchor="ctr"/>
                </a:tc>
                <a:tc>
                  <a:txBody>
                    <a:bodyPr/>
                    <a:lstStyle/>
                    <a:p>
                      <a:pPr algn="ctr"/>
                      <a:r>
                        <a:rPr lang="en-US" sz="2400" dirty="0"/>
                        <a:t>Example</a:t>
                      </a:r>
                    </a:p>
                  </a:txBody>
                  <a:tcPr anchor="ctr"/>
                </a:tc>
                <a:extLst>
                  <a:ext uri="{0D108BD9-81ED-4DB2-BD59-A6C34878D82A}">
                    <a16:rowId xmlns:a16="http://schemas.microsoft.com/office/drawing/2014/main" val="1488468009"/>
                  </a:ext>
                </a:extLst>
              </a:tr>
              <a:tr h="426091">
                <a:tc>
                  <a:txBody>
                    <a:bodyPr/>
                    <a:lstStyle/>
                    <a:p>
                      <a:pPr algn="ctr"/>
                      <a:r>
                        <a:rPr lang="en-US" sz="2400" dirty="0"/>
                        <a:t>++</a:t>
                      </a:r>
                    </a:p>
                  </a:txBody>
                  <a:tcPr anchor="ctr"/>
                </a:tc>
                <a:tc>
                  <a:txBody>
                    <a:bodyPr/>
                    <a:lstStyle/>
                    <a:p>
                      <a:pPr algn="ctr"/>
                      <a:r>
                        <a:rPr lang="en-US" sz="2400" dirty="0"/>
                        <a:t>x++ means the same as x = x + 1</a:t>
                      </a:r>
                    </a:p>
                  </a:txBody>
                  <a:tcPr anchor="ctr"/>
                </a:tc>
                <a:extLst>
                  <a:ext uri="{0D108BD9-81ED-4DB2-BD59-A6C34878D82A}">
                    <a16:rowId xmlns:a16="http://schemas.microsoft.com/office/drawing/2014/main" val="2330431785"/>
                  </a:ext>
                </a:extLst>
              </a:tr>
              <a:tr h="426091">
                <a:tc>
                  <a:txBody>
                    <a:bodyPr/>
                    <a:lstStyle/>
                    <a:p>
                      <a:pPr algn="ctr"/>
                      <a:r>
                        <a:rPr lang="en-US" sz="2400" dirty="0"/>
                        <a:t>--</a:t>
                      </a:r>
                    </a:p>
                  </a:txBody>
                  <a:tcPr anchor="ctr"/>
                </a:tc>
                <a:tc>
                  <a:txBody>
                    <a:bodyPr/>
                    <a:lstStyle/>
                    <a:p>
                      <a:pPr algn="ctr"/>
                      <a:r>
                        <a:rPr lang="en-US" sz="2400" dirty="0"/>
                        <a:t>x-- means the same as x = x - 1</a:t>
                      </a:r>
                    </a:p>
                  </a:txBody>
                  <a:tcPr anchor="ctr"/>
                </a:tc>
                <a:extLst>
                  <a:ext uri="{0D108BD9-81ED-4DB2-BD59-A6C34878D82A}">
                    <a16:rowId xmlns:a16="http://schemas.microsoft.com/office/drawing/2014/main" val="3927087577"/>
                  </a:ext>
                </a:extLst>
              </a:tr>
              <a:tr h="426091">
                <a:tc>
                  <a:txBody>
                    <a:bodyPr/>
                    <a:lstStyle/>
                    <a:p>
                      <a:pPr algn="ctr"/>
                      <a:r>
                        <a:rPr lang="en-US" sz="2400" dirty="0"/>
                        <a:t>+=</a:t>
                      </a:r>
                    </a:p>
                  </a:txBody>
                  <a:tcPr anchor="ctr"/>
                </a:tc>
                <a:tc>
                  <a:txBody>
                    <a:bodyPr/>
                    <a:lstStyle/>
                    <a:p>
                      <a:pPr algn="ctr"/>
                      <a:r>
                        <a:rPr lang="en-US" sz="2400" dirty="0"/>
                        <a:t>x += 2 means the same as x = x + 2</a:t>
                      </a:r>
                    </a:p>
                  </a:txBody>
                  <a:tcPr anchor="ctr"/>
                </a:tc>
                <a:extLst>
                  <a:ext uri="{0D108BD9-81ED-4DB2-BD59-A6C34878D82A}">
                    <a16:rowId xmlns:a16="http://schemas.microsoft.com/office/drawing/2014/main" val="3348675194"/>
                  </a:ext>
                </a:extLst>
              </a:tr>
              <a:tr h="426091">
                <a:tc>
                  <a:txBody>
                    <a:bodyPr/>
                    <a:lstStyle/>
                    <a:p>
                      <a:pPr algn="ctr"/>
                      <a:r>
                        <a:rPr lang="en-US" sz="2400"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x -= 2 means the same as x = x - 2</a:t>
                      </a:r>
                    </a:p>
                  </a:txBody>
                  <a:tcPr anchor="ctr"/>
                </a:tc>
                <a:extLst>
                  <a:ext uri="{0D108BD9-81ED-4DB2-BD59-A6C34878D82A}">
                    <a16:rowId xmlns:a16="http://schemas.microsoft.com/office/drawing/2014/main" val="1191177870"/>
                  </a:ext>
                </a:extLst>
              </a:tr>
              <a:tr h="426091">
                <a:tc>
                  <a:txBody>
                    <a:bodyPr/>
                    <a:lstStyle/>
                    <a:p>
                      <a:pPr algn="ctr"/>
                      <a:r>
                        <a:rPr lang="en-US" sz="2400" dirty="0"/>
                        <a:t>*=</a:t>
                      </a:r>
                    </a:p>
                  </a:txBody>
                  <a:tcPr anchor="ctr"/>
                </a:tc>
                <a:tc>
                  <a:txBody>
                    <a:bodyPr/>
                    <a:lstStyle/>
                    <a:p>
                      <a:pPr algn="ctr"/>
                      <a:r>
                        <a:rPr lang="en-US" sz="2400" dirty="0"/>
                        <a:t>x *= 2 means the same as x = x * 2</a:t>
                      </a:r>
                    </a:p>
                  </a:txBody>
                  <a:tcPr anchor="ctr"/>
                </a:tc>
                <a:extLst>
                  <a:ext uri="{0D108BD9-81ED-4DB2-BD59-A6C34878D82A}">
                    <a16:rowId xmlns:a16="http://schemas.microsoft.com/office/drawing/2014/main" val="2595858384"/>
                  </a:ext>
                </a:extLst>
              </a:tr>
              <a:tr h="426091">
                <a:tc>
                  <a:txBody>
                    <a:bodyPr/>
                    <a:lstStyle/>
                    <a:p>
                      <a:pPr algn="ctr"/>
                      <a:r>
                        <a:rPr lang="en-US" sz="2400" dirty="0"/>
                        <a:t>/=</a:t>
                      </a:r>
                    </a:p>
                  </a:txBody>
                  <a:tcPr anchor="ctr"/>
                </a:tc>
                <a:tc>
                  <a:txBody>
                    <a:bodyPr/>
                    <a:lstStyle/>
                    <a:p>
                      <a:pPr algn="ctr"/>
                      <a:r>
                        <a:rPr lang="en-US" sz="2400" dirty="0"/>
                        <a:t>x /= 2 means the same as x = x / 2</a:t>
                      </a:r>
                    </a:p>
                  </a:txBody>
                  <a:tcPr anchor="ctr"/>
                </a:tc>
                <a:extLst>
                  <a:ext uri="{0D108BD9-81ED-4DB2-BD59-A6C34878D82A}">
                    <a16:rowId xmlns:a16="http://schemas.microsoft.com/office/drawing/2014/main" val="2569714898"/>
                  </a:ext>
                </a:extLst>
              </a:tr>
              <a:tr h="426091">
                <a:tc>
                  <a:txBody>
                    <a:bodyPr/>
                    <a:lstStyle/>
                    <a:p>
                      <a:pPr algn="ctr"/>
                      <a:r>
                        <a:rPr lang="en-US" sz="2400" dirty="0"/>
                        <a:t>%=</a:t>
                      </a:r>
                    </a:p>
                  </a:txBody>
                  <a:tcPr anchor="ctr"/>
                </a:tc>
                <a:tc>
                  <a:txBody>
                    <a:bodyPr/>
                    <a:lstStyle/>
                    <a:p>
                      <a:pPr algn="ctr"/>
                      <a:r>
                        <a:rPr lang="en-US" sz="2400" dirty="0"/>
                        <a:t>x %= 2 means the same as x = x % 2</a:t>
                      </a:r>
                    </a:p>
                  </a:txBody>
                  <a:tcPr anchor="ctr"/>
                </a:tc>
                <a:extLst>
                  <a:ext uri="{0D108BD9-81ED-4DB2-BD59-A6C34878D82A}">
                    <a16:rowId xmlns:a16="http://schemas.microsoft.com/office/drawing/2014/main" val="4279795651"/>
                  </a:ext>
                </a:extLst>
              </a:tr>
            </a:tbl>
          </a:graphicData>
        </a:graphic>
      </p:graphicFrame>
      <p:sp>
        <p:nvSpPr>
          <p:cNvPr id="7" name="TextBox 6">
            <a:extLst>
              <a:ext uri="{FF2B5EF4-FFF2-40B4-BE49-F238E27FC236}">
                <a16:creationId xmlns:a16="http://schemas.microsoft.com/office/drawing/2014/main" id="{5AFE09D6-673F-E52C-90F2-63113A58BF9F}"/>
              </a:ext>
            </a:extLst>
          </p:cNvPr>
          <p:cNvSpPr txBox="1"/>
          <p:nvPr/>
        </p:nvSpPr>
        <p:spPr>
          <a:xfrm>
            <a:off x="0" y="6488668"/>
            <a:ext cx="2870200" cy="369332"/>
          </a:xfrm>
          <a:prstGeom prst="rect">
            <a:avLst/>
          </a:prstGeom>
          <a:noFill/>
        </p:spPr>
        <p:txBody>
          <a:bodyPr wrap="square" rtlCol="0">
            <a:spAutoFit/>
          </a:bodyPr>
          <a:lstStyle/>
          <a:p>
            <a:r>
              <a:rPr lang="en-US" dirty="0"/>
              <a:t>Recap Session 1</a:t>
            </a:r>
          </a:p>
        </p:txBody>
      </p:sp>
    </p:spTree>
    <p:extLst>
      <p:ext uri="{BB962C8B-B14F-4D97-AF65-F5344CB8AC3E}">
        <p14:creationId xmlns:p14="http://schemas.microsoft.com/office/powerpoint/2010/main" val="640965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59F40-9EC2-5C99-C955-C9DE40FC91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D5E53-7F36-A6F7-48C5-D697206D1EA8}"/>
              </a:ext>
            </a:extLst>
          </p:cNvPr>
          <p:cNvSpPr>
            <a:spLocks noGrp="1"/>
          </p:cNvSpPr>
          <p:nvPr>
            <p:ph type="title"/>
          </p:nvPr>
        </p:nvSpPr>
        <p:spPr/>
        <p:txBody>
          <a:bodyPr>
            <a:normAutofit/>
          </a:bodyPr>
          <a:lstStyle/>
          <a:p>
            <a:r>
              <a:rPr lang="en-US" dirty="0"/>
              <a:t>Understanding OpMode structure</a:t>
            </a:r>
            <a:endParaRPr lang="en-US" sz="3600" dirty="0"/>
          </a:p>
        </p:txBody>
      </p:sp>
      <p:sp>
        <p:nvSpPr>
          <p:cNvPr id="4" name="Slide Number Placeholder 3">
            <a:extLst>
              <a:ext uri="{FF2B5EF4-FFF2-40B4-BE49-F238E27FC236}">
                <a16:creationId xmlns:a16="http://schemas.microsoft.com/office/drawing/2014/main" id="{8CA491E1-147C-505C-3C0C-C902BAB76FDE}"/>
              </a:ext>
            </a:extLst>
          </p:cNvPr>
          <p:cNvSpPr>
            <a:spLocks noGrp="1"/>
          </p:cNvSpPr>
          <p:nvPr>
            <p:ph type="sldNum" sz="quarter" idx="12"/>
          </p:nvPr>
        </p:nvSpPr>
        <p:spPr/>
        <p:txBody>
          <a:bodyPr/>
          <a:lstStyle/>
          <a:p>
            <a:fld id="{545C6241-0FFB-0A47-90CD-D7CEEB6F00AC}" type="slidenum">
              <a:rPr lang="en-US" smtClean="0"/>
              <a:t>8</a:t>
            </a:fld>
            <a:endParaRPr lang="en-US" dirty="0"/>
          </a:p>
        </p:txBody>
      </p:sp>
      <p:graphicFrame>
        <p:nvGraphicFramePr>
          <p:cNvPr id="6" name="Table 5">
            <a:extLst>
              <a:ext uri="{FF2B5EF4-FFF2-40B4-BE49-F238E27FC236}">
                <a16:creationId xmlns:a16="http://schemas.microsoft.com/office/drawing/2014/main" id="{B1CA7276-DE2D-9AFC-3C93-E0D6637BC89A}"/>
              </a:ext>
            </a:extLst>
          </p:cNvPr>
          <p:cNvGraphicFramePr>
            <a:graphicFrameLocks noGrp="1"/>
          </p:cNvGraphicFramePr>
          <p:nvPr>
            <p:extLst>
              <p:ext uri="{D42A27DB-BD31-4B8C-83A1-F6EECF244321}">
                <p14:modId xmlns:p14="http://schemas.microsoft.com/office/powerpoint/2010/main" val="515809434"/>
              </p:ext>
            </p:extLst>
          </p:nvPr>
        </p:nvGraphicFramePr>
        <p:xfrm>
          <a:off x="1435100" y="1585105"/>
          <a:ext cx="8128000" cy="1381760"/>
        </p:xfrm>
        <a:graphic>
          <a:graphicData uri="http://schemas.openxmlformats.org/drawingml/2006/table">
            <a:tbl>
              <a:tblPr firstRow="1" bandRow="1">
                <a:tableStyleId>{5C22544A-7EE6-4342-B048-85BDC9FD1C3A}</a:tableStyleId>
              </a:tblPr>
              <a:tblGrid>
                <a:gridCol w="2143393">
                  <a:extLst>
                    <a:ext uri="{9D8B030D-6E8A-4147-A177-3AD203B41FA5}">
                      <a16:colId xmlns:a16="http://schemas.microsoft.com/office/drawing/2014/main" val="2934929289"/>
                    </a:ext>
                  </a:extLst>
                </a:gridCol>
                <a:gridCol w="5984607">
                  <a:extLst>
                    <a:ext uri="{9D8B030D-6E8A-4147-A177-3AD203B41FA5}">
                      <a16:colId xmlns:a16="http://schemas.microsoft.com/office/drawing/2014/main" val="1090338678"/>
                    </a:ext>
                  </a:extLst>
                </a:gridCol>
              </a:tblGrid>
              <a:tr h="370840">
                <a:tc>
                  <a:txBody>
                    <a:bodyPr/>
                    <a:lstStyle/>
                    <a:p>
                      <a:r>
                        <a:rPr lang="en-US" dirty="0"/>
                        <a:t>Required Method</a:t>
                      </a:r>
                    </a:p>
                  </a:txBody>
                  <a:tcPr/>
                </a:tc>
                <a:tc>
                  <a:txBody>
                    <a:bodyPr/>
                    <a:lstStyle/>
                    <a:p>
                      <a:r>
                        <a:rPr lang="en-US" dirty="0"/>
                        <a:t>Function</a:t>
                      </a:r>
                    </a:p>
                  </a:txBody>
                  <a:tcPr/>
                </a:tc>
                <a:extLst>
                  <a:ext uri="{0D108BD9-81ED-4DB2-BD59-A6C34878D82A}">
                    <a16:rowId xmlns:a16="http://schemas.microsoft.com/office/drawing/2014/main" val="424490791"/>
                  </a:ext>
                </a:extLst>
              </a:tr>
              <a:tr h="370840">
                <a:tc>
                  <a:txBody>
                    <a:bodyPr/>
                    <a:lstStyle/>
                    <a:p>
                      <a:r>
                        <a:rPr lang="en-US" dirty="0"/>
                        <a:t>init()</a:t>
                      </a:r>
                    </a:p>
                  </a:txBody>
                  <a:tcPr/>
                </a:tc>
                <a:tc>
                  <a:txBody>
                    <a:bodyPr/>
                    <a:lstStyle/>
                    <a:p>
                      <a:r>
                        <a:rPr lang="en-US" dirty="0"/>
                        <a:t>This is run once when the driver presses INIT.</a:t>
                      </a:r>
                    </a:p>
                  </a:txBody>
                  <a:tcPr/>
                </a:tc>
                <a:extLst>
                  <a:ext uri="{0D108BD9-81ED-4DB2-BD59-A6C34878D82A}">
                    <a16:rowId xmlns:a16="http://schemas.microsoft.com/office/drawing/2014/main" val="3236482230"/>
                  </a:ext>
                </a:extLst>
              </a:tr>
              <a:tr h="370840">
                <a:tc>
                  <a:txBody>
                    <a:bodyPr/>
                    <a:lstStyle/>
                    <a:p>
                      <a:r>
                        <a:rPr lang="en-US" dirty="0"/>
                        <a:t>loop()</a:t>
                      </a:r>
                    </a:p>
                  </a:txBody>
                  <a:tcPr/>
                </a:tc>
                <a:tc>
                  <a:txBody>
                    <a:bodyPr/>
                    <a:lstStyle/>
                    <a:p>
                      <a:r>
                        <a:rPr lang="en-US" dirty="0"/>
                        <a:t>This is run repeatedly (every 20 ms) after driver presses PLAY but before STOP.</a:t>
                      </a:r>
                    </a:p>
                  </a:txBody>
                  <a:tcPr/>
                </a:tc>
                <a:extLst>
                  <a:ext uri="{0D108BD9-81ED-4DB2-BD59-A6C34878D82A}">
                    <a16:rowId xmlns:a16="http://schemas.microsoft.com/office/drawing/2014/main" val="829647752"/>
                  </a:ext>
                </a:extLst>
              </a:tr>
            </a:tbl>
          </a:graphicData>
        </a:graphic>
      </p:graphicFrame>
      <p:graphicFrame>
        <p:nvGraphicFramePr>
          <p:cNvPr id="7" name="Table 6">
            <a:extLst>
              <a:ext uri="{FF2B5EF4-FFF2-40B4-BE49-F238E27FC236}">
                <a16:creationId xmlns:a16="http://schemas.microsoft.com/office/drawing/2014/main" id="{858AF394-B40F-A83A-47FF-393E79177CAE}"/>
              </a:ext>
            </a:extLst>
          </p:cNvPr>
          <p:cNvGraphicFramePr>
            <a:graphicFrameLocks noGrp="1"/>
          </p:cNvGraphicFramePr>
          <p:nvPr>
            <p:extLst>
              <p:ext uri="{D42A27DB-BD31-4B8C-83A1-F6EECF244321}">
                <p14:modId xmlns:p14="http://schemas.microsoft.com/office/powerpoint/2010/main" val="3723972911"/>
              </p:ext>
            </p:extLst>
          </p:nvPr>
        </p:nvGraphicFramePr>
        <p:xfrm>
          <a:off x="1435100" y="3459890"/>
          <a:ext cx="8128000" cy="1752600"/>
        </p:xfrm>
        <a:graphic>
          <a:graphicData uri="http://schemas.openxmlformats.org/drawingml/2006/table">
            <a:tbl>
              <a:tblPr firstRow="1" bandRow="1">
                <a:tableStyleId>{5C22544A-7EE6-4342-B048-85BDC9FD1C3A}</a:tableStyleId>
              </a:tblPr>
              <a:tblGrid>
                <a:gridCol w="2143393">
                  <a:extLst>
                    <a:ext uri="{9D8B030D-6E8A-4147-A177-3AD203B41FA5}">
                      <a16:colId xmlns:a16="http://schemas.microsoft.com/office/drawing/2014/main" val="2934929289"/>
                    </a:ext>
                  </a:extLst>
                </a:gridCol>
                <a:gridCol w="5984607">
                  <a:extLst>
                    <a:ext uri="{9D8B030D-6E8A-4147-A177-3AD203B41FA5}">
                      <a16:colId xmlns:a16="http://schemas.microsoft.com/office/drawing/2014/main" val="1090338678"/>
                    </a:ext>
                  </a:extLst>
                </a:gridCol>
              </a:tblGrid>
              <a:tr h="370840">
                <a:tc>
                  <a:txBody>
                    <a:bodyPr/>
                    <a:lstStyle/>
                    <a:p>
                      <a:r>
                        <a:rPr lang="en-US" dirty="0"/>
                        <a:t>Optional Method</a:t>
                      </a:r>
                    </a:p>
                  </a:txBody>
                  <a:tcPr/>
                </a:tc>
                <a:tc>
                  <a:txBody>
                    <a:bodyPr/>
                    <a:lstStyle/>
                    <a:p>
                      <a:r>
                        <a:rPr lang="en-US" dirty="0"/>
                        <a:t>Function</a:t>
                      </a:r>
                    </a:p>
                  </a:txBody>
                  <a:tcPr/>
                </a:tc>
                <a:extLst>
                  <a:ext uri="{0D108BD9-81ED-4DB2-BD59-A6C34878D82A}">
                    <a16:rowId xmlns:a16="http://schemas.microsoft.com/office/drawing/2014/main" val="424490791"/>
                  </a:ext>
                </a:extLst>
              </a:tr>
              <a:tr h="370840">
                <a:tc>
                  <a:txBody>
                    <a:bodyPr/>
                    <a:lstStyle/>
                    <a:p>
                      <a:r>
                        <a:rPr lang="en-US" dirty="0"/>
                        <a:t>init_loop()</a:t>
                      </a:r>
                    </a:p>
                  </a:txBody>
                  <a:tcPr/>
                </a:tc>
                <a:tc>
                  <a:txBody>
                    <a:bodyPr/>
                    <a:lstStyle/>
                    <a:p>
                      <a:r>
                        <a:rPr lang="en-US" dirty="0"/>
                        <a:t>This is run repeatedly (every 20 ms) after driver presses INIT but before PLAY.</a:t>
                      </a:r>
                    </a:p>
                  </a:txBody>
                  <a:tcPr/>
                </a:tc>
                <a:extLst>
                  <a:ext uri="{0D108BD9-81ED-4DB2-BD59-A6C34878D82A}">
                    <a16:rowId xmlns:a16="http://schemas.microsoft.com/office/drawing/2014/main" val="3236482230"/>
                  </a:ext>
                </a:extLst>
              </a:tr>
              <a:tr h="370840">
                <a:tc>
                  <a:txBody>
                    <a:bodyPr/>
                    <a:lstStyle/>
                    <a:p>
                      <a:r>
                        <a:rPr lang="en-US" dirty="0"/>
                        <a:t>start()</a:t>
                      </a:r>
                    </a:p>
                  </a:txBody>
                  <a:tcPr/>
                </a:tc>
                <a:tc>
                  <a:txBody>
                    <a:bodyPr/>
                    <a:lstStyle/>
                    <a:p>
                      <a:r>
                        <a:rPr lang="en-US" dirty="0"/>
                        <a:t>This is run once when the driver presses PLAY.</a:t>
                      </a:r>
                    </a:p>
                  </a:txBody>
                  <a:tcPr/>
                </a:tc>
                <a:extLst>
                  <a:ext uri="{0D108BD9-81ED-4DB2-BD59-A6C34878D82A}">
                    <a16:rowId xmlns:a16="http://schemas.microsoft.com/office/drawing/2014/main" val="829647752"/>
                  </a:ext>
                </a:extLst>
              </a:tr>
              <a:tr h="370840">
                <a:tc>
                  <a:txBody>
                    <a:bodyPr/>
                    <a:lstStyle/>
                    <a:p>
                      <a:r>
                        <a:rPr lang="en-US" dirty="0"/>
                        <a:t>stop()</a:t>
                      </a:r>
                    </a:p>
                  </a:txBody>
                  <a:tcPr/>
                </a:tc>
                <a:tc>
                  <a:txBody>
                    <a:bodyPr/>
                    <a:lstStyle/>
                    <a:p>
                      <a:r>
                        <a:rPr lang="en-US" dirty="0"/>
                        <a:t>This is run once when the driver presses STOP.</a:t>
                      </a:r>
                    </a:p>
                  </a:txBody>
                  <a:tcPr/>
                </a:tc>
                <a:extLst>
                  <a:ext uri="{0D108BD9-81ED-4DB2-BD59-A6C34878D82A}">
                    <a16:rowId xmlns:a16="http://schemas.microsoft.com/office/drawing/2014/main" val="2344180435"/>
                  </a:ext>
                </a:extLst>
              </a:tr>
            </a:tbl>
          </a:graphicData>
        </a:graphic>
      </p:graphicFrame>
      <p:pic>
        <p:nvPicPr>
          <p:cNvPr id="8" name="Picture 7">
            <a:extLst>
              <a:ext uri="{FF2B5EF4-FFF2-40B4-BE49-F238E27FC236}">
                <a16:creationId xmlns:a16="http://schemas.microsoft.com/office/drawing/2014/main" id="{0EF1A069-5DEE-1439-90A7-07AE7FED705D}"/>
              </a:ext>
            </a:extLst>
          </p:cNvPr>
          <p:cNvPicPr>
            <a:picLocks noChangeAspect="1"/>
          </p:cNvPicPr>
          <p:nvPr/>
        </p:nvPicPr>
        <p:blipFill>
          <a:blip r:embed="rId2"/>
          <a:stretch>
            <a:fillRect/>
          </a:stretch>
        </p:blipFill>
        <p:spPr>
          <a:xfrm>
            <a:off x="9563100" y="1210555"/>
            <a:ext cx="2628900" cy="4965700"/>
          </a:xfrm>
          <a:prstGeom prst="rect">
            <a:avLst/>
          </a:prstGeom>
        </p:spPr>
      </p:pic>
      <p:sp>
        <p:nvSpPr>
          <p:cNvPr id="3" name="TextBox 2">
            <a:extLst>
              <a:ext uri="{FF2B5EF4-FFF2-40B4-BE49-F238E27FC236}">
                <a16:creationId xmlns:a16="http://schemas.microsoft.com/office/drawing/2014/main" id="{46879A1D-89D7-39FA-6C9D-4B3CF53EE782}"/>
              </a:ext>
            </a:extLst>
          </p:cNvPr>
          <p:cNvSpPr txBox="1"/>
          <p:nvPr/>
        </p:nvSpPr>
        <p:spPr>
          <a:xfrm>
            <a:off x="0" y="6488668"/>
            <a:ext cx="2870200" cy="369332"/>
          </a:xfrm>
          <a:prstGeom prst="rect">
            <a:avLst/>
          </a:prstGeom>
          <a:noFill/>
        </p:spPr>
        <p:txBody>
          <a:bodyPr wrap="square" rtlCol="0">
            <a:spAutoFit/>
          </a:bodyPr>
          <a:lstStyle/>
          <a:p>
            <a:r>
              <a:rPr lang="en-US" dirty="0"/>
              <a:t>Recap Session 1</a:t>
            </a:r>
          </a:p>
        </p:txBody>
      </p:sp>
    </p:spTree>
    <p:extLst>
      <p:ext uri="{BB962C8B-B14F-4D97-AF65-F5344CB8AC3E}">
        <p14:creationId xmlns:p14="http://schemas.microsoft.com/office/powerpoint/2010/main" val="690125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3F889-F122-01CE-F495-286063BC48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1211D7-B65C-3054-66C0-EB301E423630}"/>
              </a:ext>
            </a:extLst>
          </p:cNvPr>
          <p:cNvSpPr>
            <a:spLocks noGrp="1"/>
          </p:cNvSpPr>
          <p:nvPr>
            <p:ph type="title"/>
          </p:nvPr>
        </p:nvSpPr>
        <p:spPr>
          <a:xfrm>
            <a:off x="915318" y="1841385"/>
            <a:ext cx="10515600" cy="2289940"/>
          </a:xfrm>
        </p:spPr>
        <p:txBody>
          <a:bodyPr>
            <a:normAutofit/>
          </a:bodyPr>
          <a:lstStyle/>
          <a:p>
            <a:r>
              <a:rPr lang="en-US" dirty="0"/>
              <a:t>Start Downloading GitHub Desktop and Android Studio (with FTC SDK) now if not already done</a:t>
            </a:r>
            <a:endParaRPr lang="en-US" sz="3600" dirty="0"/>
          </a:p>
        </p:txBody>
      </p:sp>
      <p:sp>
        <p:nvSpPr>
          <p:cNvPr id="4" name="Slide Number Placeholder 3">
            <a:extLst>
              <a:ext uri="{FF2B5EF4-FFF2-40B4-BE49-F238E27FC236}">
                <a16:creationId xmlns:a16="http://schemas.microsoft.com/office/drawing/2014/main" id="{100B5372-B016-C0D7-3C4E-87D021C57A76}"/>
              </a:ext>
            </a:extLst>
          </p:cNvPr>
          <p:cNvSpPr>
            <a:spLocks noGrp="1"/>
          </p:cNvSpPr>
          <p:nvPr>
            <p:ph type="sldNum" sz="quarter" idx="12"/>
          </p:nvPr>
        </p:nvSpPr>
        <p:spPr/>
        <p:txBody>
          <a:bodyPr/>
          <a:lstStyle/>
          <a:p>
            <a:fld id="{545C6241-0FFB-0A47-90CD-D7CEEB6F00AC}" type="slidenum">
              <a:rPr lang="en-US" smtClean="0"/>
              <a:t>9</a:t>
            </a:fld>
            <a:endParaRPr lang="en-US" dirty="0"/>
          </a:p>
        </p:txBody>
      </p:sp>
      <p:sp>
        <p:nvSpPr>
          <p:cNvPr id="3" name="TextBox 2">
            <a:extLst>
              <a:ext uri="{FF2B5EF4-FFF2-40B4-BE49-F238E27FC236}">
                <a16:creationId xmlns:a16="http://schemas.microsoft.com/office/drawing/2014/main" id="{1E066B38-25B7-E863-E82F-C637DEBED595}"/>
              </a:ext>
            </a:extLst>
          </p:cNvPr>
          <p:cNvSpPr txBox="1"/>
          <p:nvPr/>
        </p:nvSpPr>
        <p:spPr>
          <a:xfrm>
            <a:off x="0" y="6488668"/>
            <a:ext cx="2870200" cy="369332"/>
          </a:xfrm>
          <a:prstGeom prst="rect">
            <a:avLst/>
          </a:prstGeom>
          <a:noFill/>
        </p:spPr>
        <p:txBody>
          <a:bodyPr wrap="square" rtlCol="0">
            <a:spAutoFit/>
          </a:bodyPr>
          <a:lstStyle/>
          <a:p>
            <a:r>
              <a:rPr lang="en-US" dirty="0"/>
              <a:t>Recap Session 1</a:t>
            </a:r>
          </a:p>
        </p:txBody>
      </p:sp>
    </p:spTree>
    <p:extLst>
      <p:ext uri="{BB962C8B-B14F-4D97-AF65-F5344CB8AC3E}">
        <p14:creationId xmlns:p14="http://schemas.microsoft.com/office/powerpoint/2010/main" val="3431088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D7520-E6DA-A3A3-A4FC-95504B331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408E3-5742-F594-B203-A8D71089A04A}"/>
              </a:ext>
            </a:extLst>
          </p:cNvPr>
          <p:cNvSpPr>
            <a:spLocks noGrp="1"/>
          </p:cNvSpPr>
          <p:nvPr>
            <p:ph type="ctrTitle"/>
          </p:nvPr>
        </p:nvSpPr>
        <p:spPr/>
        <p:txBody>
          <a:bodyPr/>
          <a:lstStyle/>
          <a:p>
            <a:r>
              <a:rPr lang="en-US" dirty="0"/>
              <a:t>Classes and Methods </a:t>
            </a:r>
          </a:p>
        </p:txBody>
      </p:sp>
      <p:sp>
        <p:nvSpPr>
          <p:cNvPr id="3" name="Subtitle 2">
            <a:extLst>
              <a:ext uri="{FF2B5EF4-FFF2-40B4-BE49-F238E27FC236}">
                <a16:creationId xmlns:a16="http://schemas.microsoft.com/office/drawing/2014/main" id="{DC0230E7-89EB-38A9-C97E-AFE67F3F1F09}"/>
              </a:ext>
            </a:extLst>
          </p:cNvPr>
          <p:cNvSpPr>
            <a:spLocks noGrp="1"/>
          </p:cNvSpPr>
          <p:nvPr>
            <p:ph type="subTitle" idx="1"/>
          </p:nvPr>
        </p:nvSpPr>
        <p:spPr/>
        <p:txBody>
          <a:bodyPr/>
          <a:lstStyle/>
          <a:p>
            <a:r>
              <a:rPr lang="en-US" dirty="0"/>
              <a:t>This will feel backwards, I promise it’ll make sense eventually</a:t>
            </a:r>
          </a:p>
        </p:txBody>
      </p:sp>
      <p:sp>
        <p:nvSpPr>
          <p:cNvPr id="4" name="Slide Number Placeholder 3">
            <a:extLst>
              <a:ext uri="{FF2B5EF4-FFF2-40B4-BE49-F238E27FC236}">
                <a16:creationId xmlns:a16="http://schemas.microsoft.com/office/drawing/2014/main" id="{497D7270-4630-1136-4CBC-8330439E3A0A}"/>
              </a:ext>
            </a:extLst>
          </p:cNvPr>
          <p:cNvSpPr>
            <a:spLocks noGrp="1"/>
          </p:cNvSpPr>
          <p:nvPr>
            <p:ph type="sldNum" sz="quarter" idx="12"/>
          </p:nvPr>
        </p:nvSpPr>
        <p:spPr/>
        <p:txBody>
          <a:bodyPr/>
          <a:lstStyle/>
          <a:p>
            <a:fld id="{545C6241-0FFB-0A47-90CD-D7CEEB6F00AC}" type="slidenum">
              <a:rPr lang="en-US" smtClean="0"/>
              <a:t>10</a:t>
            </a:fld>
            <a:endParaRPr lang="en-US" dirty="0"/>
          </a:p>
        </p:txBody>
      </p:sp>
    </p:spTree>
    <p:extLst>
      <p:ext uri="{BB962C8B-B14F-4D97-AF65-F5344CB8AC3E}">
        <p14:creationId xmlns:p14="http://schemas.microsoft.com/office/powerpoint/2010/main" val="512332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A7141-3012-EB75-0EF3-0D823C5B13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FC3D46-03C0-C078-79FE-38DC30FD5902}"/>
              </a:ext>
            </a:extLst>
          </p:cNvPr>
          <p:cNvSpPr>
            <a:spLocks noGrp="1"/>
          </p:cNvSpPr>
          <p:nvPr>
            <p:ph type="title"/>
          </p:nvPr>
        </p:nvSpPr>
        <p:spPr/>
        <p:txBody>
          <a:bodyPr>
            <a:normAutofit/>
          </a:bodyPr>
          <a:lstStyle/>
          <a:p>
            <a:r>
              <a:rPr lang="en-US" dirty="0"/>
              <a:t>Class members and instance variables</a:t>
            </a:r>
            <a:endParaRPr lang="en-US" sz="3600" dirty="0"/>
          </a:p>
        </p:txBody>
      </p:sp>
      <p:sp>
        <p:nvSpPr>
          <p:cNvPr id="4" name="Slide Number Placeholder 3">
            <a:extLst>
              <a:ext uri="{FF2B5EF4-FFF2-40B4-BE49-F238E27FC236}">
                <a16:creationId xmlns:a16="http://schemas.microsoft.com/office/drawing/2014/main" id="{AB94C205-2A44-8AB4-13B9-0C4FC21E6100}"/>
              </a:ext>
            </a:extLst>
          </p:cNvPr>
          <p:cNvSpPr>
            <a:spLocks noGrp="1"/>
          </p:cNvSpPr>
          <p:nvPr>
            <p:ph type="sldNum" sz="quarter" idx="12"/>
          </p:nvPr>
        </p:nvSpPr>
        <p:spPr/>
        <p:txBody>
          <a:bodyPr/>
          <a:lstStyle/>
          <a:p>
            <a:fld id="{545C6241-0FFB-0A47-90CD-D7CEEB6F00AC}" type="slidenum">
              <a:rPr lang="en-US" smtClean="0"/>
              <a:t>11</a:t>
            </a:fld>
            <a:endParaRPr lang="en-US" dirty="0"/>
          </a:p>
        </p:txBody>
      </p:sp>
      <p:sp>
        <p:nvSpPr>
          <p:cNvPr id="3" name="TextBox 2">
            <a:extLst>
              <a:ext uri="{FF2B5EF4-FFF2-40B4-BE49-F238E27FC236}">
                <a16:creationId xmlns:a16="http://schemas.microsoft.com/office/drawing/2014/main" id="{539AD89F-F697-5895-4CAC-F013296BA4E3}"/>
              </a:ext>
            </a:extLst>
          </p:cNvPr>
          <p:cNvSpPr txBox="1"/>
          <p:nvPr/>
        </p:nvSpPr>
        <p:spPr>
          <a:xfrm>
            <a:off x="0" y="6488668"/>
            <a:ext cx="4395730" cy="369332"/>
          </a:xfrm>
          <a:prstGeom prst="rect">
            <a:avLst/>
          </a:prstGeom>
          <a:noFill/>
        </p:spPr>
        <p:txBody>
          <a:bodyPr wrap="square" rtlCol="0">
            <a:spAutoFit/>
          </a:bodyPr>
          <a:lstStyle/>
          <a:p>
            <a:r>
              <a:rPr lang="en-US" dirty="0"/>
              <a:t>Class members and instance variables</a:t>
            </a:r>
          </a:p>
        </p:txBody>
      </p:sp>
      <p:sp>
        <p:nvSpPr>
          <p:cNvPr id="5" name="TextBox 4">
            <a:extLst>
              <a:ext uri="{FF2B5EF4-FFF2-40B4-BE49-F238E27FC236}">
                <a16:creationId xmlns:a16="http://schemas.microsoft.com/office/drawing/2014/main" id="{0CA1FA7E-9DFA-9178-FDC0-FB946996CA63}"/>
              </a:ext>
            </a:extLst>
          </p:cNvPr>
          <p:cNvSpPr txBox="1"/>
          <p:nvPr/>
        </p:nvSpPr>
        <p:spPr>
          <a:xfrm>
            <a:off x="242429" y="1448317"/>
            <a:ext cx="11707142" cy="4524315"/>
          </a:xfrm>
          <a:prstGeom prst="rect">
            <a:avLst/>
          </a:prstGeom>
          <a:noFill/>
        </p:spPr>
        <p:txBody>
          <a:bodyPr wrap="square" rtlCol="0">
            <a:spAutoFit/>
          </a:bodyPr>
          <a:lstStyle/>
          <a:p>
            <a:r>
              <a:rPr lang="en-US" sz="2400" dirty="0"/>
              <a:t>Defining the class:</a:t>
            </a:r>
          </a:p>
          <a:p>
            <a:endParaRPr lang="en-US" sz="2400" dirty="0"/>
          </a:p>
          <a:p>
            <a:r>
              <a:rPr lang="en-US" sz="2400" dirty="0"/>
              <a:t>A class is a model of something. It can contain data (members) and functions (methods). </a:t>
            </a:r>
          </a:p>
          <a:p>
            <a:r>
              <a:rPr lang="en-US" sz="2400" b="1" dirty="0"/>
              <a:t>Whenever you create a class, it becomes a data type</a:t>
            </a:r>
            <a:r>
              <a:rPr lang="en-US" sz="2400" dirty="0"/>
              <a:t> that people can make variables of that type. </a:t>
            </a:r>
          </a:p>
          <a:p>
            <a:endParaRPr lang="en-US" sz="2400" dirty="0"/>
          </a:p>
          <a:p>
            <a:r>
              <a:rPr lang="en-US" sz="2400" dirty="0"/>
              <a:t>For example, the string data type is a class but we can have multiple objects of type string in our programs. </a:t>
            </a:r>
          </a:p>
          <a:p>
            <a:endParaRPr lang="en-US" sz="2400" dirty="0"/>
          </a:p>
          <a:p>
            <a:r>
              <a:rPr lang="en-US" sz="2400" dirty="0"/>
              <a:t>Remember that we name classes starting with a Capital letter and then every other word in the class name is also capitalized. (Pascal Case)</a:t>
            </a:r>
          </a:p>
        </p:txBody>
      </p:sp>
    </p:spTree>
    <p:extLst>
      <p:ext uri="{BB962C8B-B14F-4D97-AF65-F5344CB8AC3E}">
        <p14:creationId xmlns:p14="http://schemas.microsoft.com/office/powerpoint/2010/main" val="3430249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120E2-A84A-6AD2-73BB-95C3493950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BD483A-FAB5-A9CB-1849-936CD94A8F9F}"/>
              </a:ext>
            </a:extLst>
          </p:cNvPr>
          <p:cNvSpPr>
            <a:spLocks noGrp="1"/>
          </p:cNvSpPr>
          <p:nvPr>
            <p:ph type="title"/>
          </p:nvPr>
        </p:nvSpPr>
        <p:spPr>
          <a:xfrm>
            <a:off x="0" y="-377826"/>
            <a:ext cx="10515600" cy="1325563"/>
          </a:xfrm>
        </p:spPr>
        <p:txBody>
          <a:bodyPr>
            <a:normAutofit/>
          </a:bodyPr>
          <a:lstStyle/>
          <a:p>
            <a:r>
              <a:rPr lang="en-US" dirty="0"/>
              <a:t>Example Class</a:t>
            </a:r>
            <a:endParaRPr lang="en-US" sz="3600" dirty="0"/>
          </a:p>
        </p:txBody>
      </p:sp>
      <p:sp>
        <p:nvSpPr>
          <p:cNvPr id="4" name="Slide Number Placeholder 3">
            <a:extLst>
              <a:ext uri="{FF2B5EF4-FFF2-40B4-BE49-F238E27FC236}">
                <a16:creationId xmlns:a16="http://schemas.microsoft.com/office/drawing/2014/main" id="{32B74A42-E07B-491D-FBF2-77B0DC425AE0}"/>
              </a:ext>
            </a:extLst>
          </p:cNvPr>
          <p:cNvSpPr>
            <a:spLocks noGrp="1"/>
          </p:cNvSpPr>
          <p:nvPr>
            <p:ph type="sldNum" sz="quarter" idx="12"/>
          </p:nvPr>
        </p:nvSpPr>
        <p:spPr/>
        <p:txBody>
          <a:bodyPr/>
          <a:lstStyle/>
          <a:p>
            <a:fld id="{545C6241-0FFB-0A47-90CD-D7CEEB6F00AC}" type="slidenum">
              <a:rPr lang="en-US" smtClean="0"/>
              <a:t>12</a:t>
            </a:fld>
            <a:endParaRPr lang="en-US" dirty="0"/>
          </a:p>
        </p:txBody>
      </p:sp>
      <p:sp>
        <p:nvSpPr>
          <p:cNvPr id="3" name="TextBox 2">
            <a:extLst>
              <a:ext uri="{FF2B5EF4-FFF2-40B4-BE49-F238E27FC236}">
                <a16:creationId xmlns:a16="http://schemas.microsoft.com/office/drawing/2014/main" id="{4A47FBDE-B35C-A62E-0D2C-B1C57BF00789}"/>
              </a:ext>
            </a:extLst>
          </p:cNvPr>
          <p:cNvSpPr txBox="1"/>
          <p:nvPr/>
        </p:nvSpPr>
        <p:spPr>
          <a:xfrm>
            <a:off x="0" y="6488668"/>
            <a:ext cx="4395730" cy="369332"/>
          </a:xfrm>
          <a:prstGeom prst="rect">
            <a:avLst/>
          </a:prstGeom>
          <a:noFill/>
        </p:spPr>
        <p:txBody>
          <a:bodyPr wrap="square" rtlCol="0">
            <a:spAutoFit/>
          </a:bodyPr>
          <a:lstStyle/>
          <a:p>
            <a:r>
              <a:rPr lang="en-US" dirty="0"/>
              <a:t>Class members and instance variables</a:t>
            </a:r>
          </a:p>
        </p:txBody>
      </p:sp>
      <p:pic>
        <p:nvPicPr>
          <p:cNvPr id="7" name="Picture 6">
            <a:extLst>
              <a:ext uri="{FF2B5EF4-FFF2-40B4-BE49-F238E27FC236}">
                <a16:creationId xmlns:a16="http://schemas.microsoft.com/office/drawing/2014/main" id="{381AAE5C-ACE9-2040-97DE-ED9EFBB28260}"/>
              </a:ext>
            </a:extLst>
          </p:cNvPr>
          <p:cNvPicPr>
            <a:picLocks noChangeAspect="1"/>
          </p:cNvPicPr>
          <p:nvPr/>
        </p:nvPicPr>
        <p:blipFill>
          <a:blip r:embed="rId2"/>
          <a:stretch>
            <a:fillRect/>
          </a:stretch>
        </p:blipFill>
        <p:spPr>
          <a:xfrm>
            <a:off x="161159" y="555625"/>
            <a:ext cx="4770781" cy="5800725"/>
          </a:xfrm>
          <a:prstGeom prst="rect">
            <a:avLst/>
          </a:prstGeom>
        </p:spPr>
      </p:pic>
      <p:pic>
        <p:nvPicPr>
          <p:cNvPr id="8" name="Picture 7">
            <a:extLst>
              <a:ext uri="{FF2B5EF4-FFF2-40B4-BE49-F238E27FC236}">
                <a16:creationId xmlns:a16="http://schemas.microsoft.com/office/drawing/2014/main" id="{B8AB9DEE-DC4D-255A-F124-3E11990E1C3B}"/>
              </a:ext>
            </a:extLst>
          </p:cNvPr>
          <p:cNvPicPr>
            <a:picLocks noChangeAspect="1"/>
          </p:cNvPicPr>
          <p:nvPr/>
        </p:nvPicPr>
        <p:blipFill>
          <a:blip r:embed="rId3"/>
          <a:stretch>
            <a:fillRect/>
          </a:stretch>
        </p:blipFill>
        <p:spPr>
          <a:xfrm>
            <a:off x="4931940" y="1847024"/>
            <a:ext cx="7260060" cy="4237100"/>
          </a:xfrm>
          <a:prstGeom prst="rect">
            <a:avLst/>
          </a:prstGeom>
        </p:spPr>
      </p:pic>
      <p:sp>
        <p:nvSpPr>
          <p:cNvPr id="9" name="TextBox 8">
            <a:extLst>
              <a:ext uri="{FF2B5EF4-FFF2-40B4-BE49-F238E27FC236}">
                <a16:creationId xmlns:a16="http://schemas.microsoft.com/office/drawing/2014/main" id="{5568B633-DBCD-BD8C-553A-D326F34601D2}"/>
              </a:ext>
            </a:extLst>
          </p:cNvPr>
          <p:cNvSpPr txBox="1"/>
          <p:nvPr/>
        </p:nvSpPr>
        <p:spPr>
          <a:xfrm>
            <a:off x="4991693" y="1035297"/>
            <a:ext cx="4996048" cy="369332"/>
          </a:xfrm>
          <a:prstGeom prst="rect">
            <a:avLst/>
          </a:prstGeom>
          <a:noFill/>
        </p:spPr>
        <p:txBody>
          <a:bodyPr wrap="none" rtlCol="0">
            <a:spAutoFit/>
          </a:bodyPr>
          <a:lstStyle/>
          <a:p>
            <a:r>
              <a:rPr lang="en-US" dirty="0"/>
              <a:t>See Example Class and an implementation for it!</a:t>
            </a:r>
          </a:p>
        </p:txBody>
      </p:sp>
    </p:spTree>
    <p:extLst>
      <p:ext uri="{BB962C8B-B14F-4D97-AF65-F5344CB8AC3E}">
        <p14:creationId xmlns:p14="http://schemas.microsoft.com/office/powerpoint/2010/main" val="2534357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3B8F4-90C3-94F0-4782-D5193D703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EAAF7D-78C5-8370-F56E-AB87ADAADFCC}"/>
              </a:ext>
            </a:extLst>
          </p:cNvPr>
          <p:cNvSpPr>
            <a:spLocks noGrp="1"/>
          </p:cNvSpPr>
          <p:nvPr>
            <p:ph type="title"/>
          </p:nvPr>
        </p:nvSpPr>
        <p:spPr>
          <a:xfrm>
            <a:off x="242888" y="-237498"/>
            <a:ext cx="10515600" cy="1325563"/>
          </a:xfrm>
        </p:spPr>
        <p:txBody>
          <a:bodyPr>
            <a:normAutofit/>
          </a:bodyPr>
          <a:lstStyle/>
          <a:p>
            <a:r>
              <a:rPr lang="en-US" dirty="0"/>
              <a:t>Defining a Method</a:t>
            </a:r>
            <a:endParaRPr lang="en-US" sz="3600" dirty="0"/>
          </a:p>
        </p:txBody>
      </p:sp>
      <p:sp>
        <p:nvSpPr>
          <p:cNvPr id="4" name="Slide Number Placeholder 3">
            <a:extLst>
              <a:ext uri="{FF2B5EF4-FFF2-40B4-BE49-F238E27FC236}">
                <a16:creationId xmlns:a16="http://schemas.microsoft.com/office/drawing/2014/main" id="{BAE3ECF9-4E16-070B-D814-98973814AF83}"/>
              </a:ext>
            </a:extLst>
          </p:cNvPr>
          <p:cNvSpPr>
            <a:spLocks noGrp="1"/>
          </p:cNvSpPr>
          <p:nvPr>
            <p:ph type="sldNum" sz="quarter" idx="12"/>
          </p:nvPr>
        </p:nvSpPr>
        <p:spPr/>
        <p:txBody>
          <a:bodyPr/>
          <a:lstStyle/>
          <a:p>
            <a:fld id="{545C6241-0FFB-0A47-90CD-D7CEEB6F00AC}" type="slidenum">
              <a:rPr lang="en-US" smtClean="0"/>
              <a:t>13</a:t>
            </a:fld>
            <a:endParaRPr lang="en-US" dirty="0"/>
          </a:p>
        </p:txBody>
      </p:sp>
      <p:sp>
        <p:nvSpPr>
          <p:cNvPr id="3" name="TextBox 2">
            <a:extLst>
              <a:ext uri="{FF2B5EF4-FFF2-40B4-BE49-F238E27FC236}">
                <a16:creationId xmlns:a16="http://schemas.microsoft.com/office/drawing/2014/main" id="{026C221E-19E7-4BAA-5BBB-114C3AD6A1A6}"/>
              </a:ext>
            </a:extLst>
          </p:cNvPr>
          <p:cNvSpPr txBox="1"/>
          <p:nvPr/>
        </p:nvSpPr>
        <p:spPr>
          <a:xfrm>
            <a:off x="0" y="6488668"/>
            <a:ext cx="4395730" cy="369332"/>
          </a:xfrm>
          <a:prstGeom prst="rect">
            <a:avLst/>
          </a:prstGeom>
          <a:noFill/>
        </p:spPr>
        <p:txBody>
          <a:bodyPr wrap="square" rtlCol="0">
            <a:spAutoFit/>
          </a:bodyPr>
          <a:lstStyle/>
          <a:p>
            <a:r>
              <a:rPr lang="en-US" dirty="0"/>
              <a:t>Defining a Method</a:t>
            </a:r>
          </a:p>
        </p:txBody>
      </p:sp>
      <p:pic>
        <p:nvPicPr>
          <p:cNvPr id="6" name="Picture 5">
            <a:extLst>
              <a:ext uri="{FF2B5EF4-FFF2-40B4-BE49-F238E27FC236}">
                <a16:creationId xmlns:a16="http://schemas.microsoft.com/office/drawing/2014/main" id="{63072B40-328A-160F-1A1F-3CCE56C47B1E}"/>
              </a:ext>
            </a:extLst>
          </p:cNvPr>
          <p:cNvPicPr>
            <a:picLocks noChangeAspect="1"/>
          </p:cNvPicPr>
          <p:nvPr/>
        </p:nvPicPr>
        <p:blipFill>
          <a:blip r:embed="rId2"/>
          <a:stretch>
            <a:fillRect/>
          </a:stretch>
        </p:blipFill>
        <p:spPr>
          <a:xfrm>
            <a:off x="118009" y="2886075"/>
            <a:ext cx="11955982" cy="3127375"/>
          </a:xfrm>
          <a:prstGeom prst="rect">
            <a:avLst/>
          </a:prstGeom>
        </p:spPr>
      </p:pic>
      <p:sp>
        <p:nvSpPr>
          <p:cNvPr id="8" name="TextBox 7">
            <a:extLst>
              <a:ext uri="{FF2B5EF4-FFF2-40B4-BE49-F238E27FC236}">
                <a16:creationId xmlns:a16="http://schemas.microsoft.com/office/drawing/2014/main" id="{D07A9A01-AD5C-4CAB-4E4B-BE86CE59D1C9}"/>
              </a:ext>
            </a:extLst>
          </p:cNvPr>
          <p:cNvSpPr txBox="1"/>
          <p:nvPr/>
        </p:nvSpPr>
        <p:spPr>
          <a:xfrm rot="18876978">
            <a:off x="2172790" y="1240118"/>
            <a:ext cx="3365024" cy="646331"/>
          </a:xfrm>
          <a:prstGeom prst="rect">
            <a:avLst/>
          </a:prstGeom>
          <a:noFill/>
        </p:spPr>
        <p:txBody>
          <a:bodyPr wrap="none" rtlCol="0">
            <a:spAutoFit/>
          </a:bodyPr>
          <a:lstStyle/>
          <a:p>
            <a:r>
              <a:rPr lang="en-US" sz="3600" dirty="0"/>
              <a:t>Access Modifier</a:t>
            </a:r>
          </a:p>
        </p:txBody>
      </p:sp>
      <p:sp>
        <p:nvSpPr>
          <p:cNvPr id="9" name="TextBox 8">
            <a:extLst>
              <a:ext uri="{FF2B5EF4-FFF2-40B4-BE49-F238E27FC236}">
                <a16:creationId xmlns:a16="http://schemas.microsoft.com/office/drawing/2014/main" id="{0B4C77C2-04BD-E924-367F-4C1F4E360508}"/>
              </a:ext>
            </a:extLst>
          </p:cNvPr>
          <p:cNvSpPr txBox="1"/>
          <p:nvPr/>
        </p:nvSpPr>
        <p:spPr>
          <a:xfrm rot="18876978">
            <a:off x="3467707" y="1526862"/>
            <a:ext cx="2480166" cy="646331"/>
          </a:xfrm>
          <a:prstGeom prst="rect">
            <a:avLst/>
          </a:prstGeom>
          <a:noFill/>
        </p:spPr>
        <p:txBody>
          <a:bodyPr wrap="none" rtlCol="0">
            <a:spAutoFit/>
          </a:bodyPr>
          <a:lstStyle/>
          <a:p>
            <a:r>
              <a:rPr lang="en-US" sz="3600" dirty="0"/>
              <a:t>Return type</a:t>
            </a:r>
          </a:p>
        </p:txBody>
      </p:sp>
      <p:sp>
        <p:nvSpPr>
          <p:cNvPr id="10" name="TextBox 9">
            <a:extLst>
              <a:ext uri="{FF2B5EF4-FFF2-40B4-BE49-F238E27FC236}">
                <a16:creationId xmlns:a16="http://schemas.microsoft.com/office/drawing/2014/main" id="{93C718F8-D100-AC48-A7B6-7D7A1F7770A2}"/>
              </a:ext>
            </a:extLst>
          </p:cNvPr>
          <p:cNvSpPr txBox="1"/>
          <p:nvPr/>
        </p:nvSpPr>
        <p:spPr>
          <a:xfrm rot="18876978">
            <a:off x="4199710" y="1401804"/>
            <a:ext cx="3013967" cy="646331"/>
          </a:xfrm>
          <a:prstGeom prst="rect">
            <a:avLst/>
          </a:prstGeom>
          <a:noFill/>
        </p:spPr>
        <p:txBody>
          <a:bodyPr wrap="none" rtlCol="0">
            <a:spAutoFit/>
          </a:bodyPr>
          <a:lstStyle/>
          <a:p>
            <a:r>
              <a:rPr lang="en-US" sz="3600" dirty="0"/>
              <a:t>Method Name</a:t>
            </a:r>
          </a:p>
        </p:txBody>
      </p:sp>
      <p:sp>
        <p:nvSpPr>
          <p:cNvPr id="11" name="TextBox 10">
            <a:extLst>
              <a:ext uri="{FF2B5EF4-FFF2-40B4-BE49-F238E27FC236}">
                <a16:creationId xmlns:a16="http://schemas.microsoft.com/office/drawing/2014/main" id="{814B4345-3261-7E55-7276-5E54875C316C}"/>
              </a:ext>
            </a:extLst>
          </p:cNvPr>
          <p:cNvSpPr txBox="1"/>
          <p:nvPr/>
        </p:nvSpPr>
        <p:spPr>
          <a:xfrm rot="18876978">
            <a:off x="5067010" y="1427680"/>
            <a:ext cx="2465740" cy="646331"/>
          </a:xfrm>
          <a:prstGeom prst="rect">
            <a:avLst/>
          </a:prstGeom>
          <a:noFill/>
        </p:spPr>
        <p:txBody>
          <a:bodyPr wrap="none" rtlCol="0">
            <a:spAutoFit/>
          </a:bodyPr>
          <a:lstStyle/>
          <a:p>
            <a:r>
              <a:rPr lang="en-US" sz="3600" dirty="0"/>
              <a:t>Parameters</a:t>
            </a:r>
          </a:p>
        </p:txBody>
      </p:sp>
      <p:sp>
        <p:nvSpPr>
          <p:cNvPr id="12" name="TextBox 11">
            <a:extLst>
              <a:ext uri="{FF2B5EF4-FFF2-40B4-BE49-F238E27FC236}">
                <a16:creationId xmlns:a16="http://schemas.microsoft.com/office/drawing/2014/main" id="{068EB4D7-E272-01C9-2217-C92475B49331}"/>
              </a:ext>
            </a:extLst>
          </p:cNvPr>
          <p:cNvSpPr txBox="1"/>
          <p:nvPr/>
        </p:nvSpPr>
        <p:spPr>
          <a:xfrm rot="18876978">
            <a:off x="5729552" y="1675534"/>
            <a:ext cx="1969770" cy="400110"/>
          </a:xfrm>
          <a:prstGeom prst="rect">
            <a:avLst/>
          </a:prstGeom>
          <a:noFill/>
        </p:spPr>
        <p:txBody>
          <a:bodyPr wrap="none" rtlCol="0">
            <a:spAutoFit/>
          </a:bodyPr>
          <a:lstStyle/>
          <a:p>
            <a:r>
              <a:rPr lang="en-US" sz="2000" dirty="0"/>
              <a:t>(There are none)</a:t>
            </a:r>
          </a:p>
        </p:txBody>
      </p:sp>
    </p:spTree>
    <p:extLst>
      <p:ext uri="{BB962C8B-B14F-4D97-AF65-F5344CB8AC3E}">
        <p14:creationId xmlns:p14="http://schemas.microsoft.com/office/powerpoint/2010/main" val="1326904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E61B2-1D4A-379A-C37A-5514DB0D1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1D82B7-9CED-6DD0-E000-8FA41B79EEB7}"/>
              </a:ext>
            </a:extLst>
          </p:cNvPr>
          <p:cNvSpPr>
            <a:spLocks noGrp="1"/>
          </p:cNvSpPr>
          <p:nvPr>
            <p:ph type="title"/>
          </p:nvPr>
        </p:nvSpPr>
        <p:spPr>
          <a:xfrm>
            <a:off x="0" y="-377826"/>
            <a:ext cx="10515600" cy="1325563"/>
          </a:xfrm>
        </p:spPr>
        <p:txBody>
          <a:bodyPr>
            <a:normAutofit/>
          </a:bodyPr>
          <a:lstStyle/>
          <a:p>
            <a:r>
              <a:rPr lang="en-US" dirty="0"/>
              <a:t>Instance Variables</a:t>
            </a:r>
            <a:endParaRPr lang="en-US" sz="3600" dirty="0"/>
          </a:p>
        </p:txBody>
      </p:sp>
      <p:sp>
        <p:nvSpPr>
          <p:cNvPr id="4" name="Slide Number Placeholder 3">
            <a:extLst>
              <a:ext uri="{FF2B5EF4-FFF2-40B4-BE49-F238E27FC236}">
                <a16:creationId xmlns:a16="http://schemas.microsoft.com/office/drawing/2014/main" id="{F194C9F3-DD93-FE7B-7B1F-E6D216BEA5E3}"/>
              </a:ext>
            </a:extLst>
          </p:cNvPr>
          <p:cNvSpPr>
            <a:spLocks noGrp="1"/>
          </p:cNvSpPr>
          <p:nvPr>
            <p:ph type="sldNum" sz="quarter" idx="12"/>
          </p:nvPr>
        </p:nvSpPr>
        <p:spPr/>
        <p:txBody>
          <a:bodyPr/>
          <a:lstStyle/>
          <a:p>
            <a:fld id="{545C6241-0FFB-0A47-90CD-D7CEEB6F00AC}" type="slidenum">
              <a:rPr lang="en-US" smtClean="0"/>
              <a:t>14</a:t>
            </a:fld>
            <a:endParaRPr lang="en-US" dirty="0"/>
          </a:p>
        </p:txBody>
      </p:sp>
      <p:sp>
        <p:nvSpPr>
          <p:cNvPr id="3" name="TextBox 2">
            <a:extLst>
              <a:ext uri="{FF2B5EF4-FFF2-40B4-BE49-F238E27FC236}">
                <a16:creationId xmlns:a16="http://schemas.microsoft.com/office/drawing/2014/main" id="{AB6E8D56-A772-F4B2-6938-3615ED582612}"/>
              </a:ext>
            </a:extLst>
          </p:cNvPr>
          <p:cNvSpPr txBox="1"/>
          <p:nvPr/>
        </p:nvSpPr>
        <p:spPr>
          <a:xfrm>
            <a:off x="0" y="6488668"/>
            <a:ext cx="4395730" cy="369332"/>
          </a:xfrm>
          <a:prstGeom prst="rect">
            <a:avLst/>
          </a:prstGeom>
          <a:noFill/>
        </p:spPr>
        <p:txBody>
          <a:bodyPr wrap="square" rtlCol="0">
            <a:spAutoFit/>
          </a:bodyPr>
          <a:lstStyle/>
          <a:p>
            <a:r>
              <a:rPr lang="en-US" dirty="0"/>
              <a:t>Class members and instance variables</a:t>
            </a:r>
          </a:p>
        </p:txBody>
      </p:sp>
      <p:sp>
        <p:nvSpPr>
          <p:cNvPr id="6" name="TextBox 5">
            <a:extLst>
              <a:ext uri="{FF2B5EF4-FFF2-40B4-BE49-F238E27FC236}">
                <a16:creationId xmlns:a16="http://schemas.microsoft.com/office/drawing/2014/main" id="{0A716101-9D7F-E556-5E84-04081D61480F}"/>
              </a:ext>
            </a:extLst>
          </p:cNvPr>
          <p:cNvSpPr txBox="1"/>
          <p:nvPr/>
        </p:nvSpPr>
        <p:spPr>
          <a:xfrm>
            <a:off x="5757411" y="181345"/>
            <a:ext cx="2537298" cy="1200329"/>
          </a:xfrm>
          <a:prstGeom prst="rect">
            <a:avLst/>
          </a:prstGeom>
          <a:noFill/>
        </p:spPr>
        <p:txBody>
          <a:bodyPr wrap="none" rtlCol="0">
            <a:spAutoFit/>
          </a:bodyPr>
          <a:lstStyle/>
          <a:p>
            <a:r>
              <a:rPr lang="en-US" dirty="0"/>
              <a:t>Laws of Encapsulation: </a:t>
            </a:r>
          </a:p>
          <a:p>
            <a:r>
              <a:rPr lang="en-US" dirty="0"/>
              <a:t>(Better than Coffee)</a:t>
            </a:r>
          </a:p>
          <a:p>
            <a:endParaRPr lang="en-US" dirty="0"/>
          </a:p>
          <a:p>
            <a:endParaRPr lang="en-US" dirty="0"/>
          </a:p>
        </p:txBody>
      </p:sp>
      <p:graphicFrame>
        <p:nvGraphicFramePr>
          <p:cNvPr id="10" name="Table 9">
            <a:extLst>
              <a:ext uri="{FF2B5EF4-FFF2-40B4-BE49-F238E27FC236}">
                <a16:creationId xmlns:a16="http://schemas.microsoft.com/office/drawing/2014/main" id="{1A4336B9-1362-1B2C-DBC7-C6F53540B663}"/>
              </a:ext>
            </a:extLst>
          </p:cNvPr>
          <p:cNvGraphicFramePr>
            <a:graphicFrameLocks noGrp="1"/>
          </p:cNvGraphicFramePr>
          <p:nvPr>
            <p:extLst>
              <p:ext uri="{D42A27DB-BD31-4B8C-83A1-F6EECF244321}">
                <p14:modId xmlns:p14="http://schemas.microsoft.com/office/powerpoint/2010/main" val="719481415"/>
              </p:ext>
            </p:extLst>
          </p:nvPr>
        </p:nvGraphicFramePr>
        <p:xfrm>
          <a:off x="2228850" y="781510"/>
          <a:ext cx="8105775" cy="5501640"/>
        </p:xfrm>
        <a:graphic>
          <a:graphicData uri="http://schemas.openxmlformats.org/drawingml/2006/table">
            <a:tbl>
              <a:tblPr bandRow="1">
                <a:tableStyleId>{5C22544A-7EE6-4342-B048-85BDC9FD1C3A}</a:tableStyleId>
              </a:tblPr>
              <a:tblGrid>
                <a:gridCol w="2486011">
                  <a:extLst>
                    <a:ext uri="{9D8B030D-6E8A-4147-A177-3AD203B41FA5}">
                      <a16:colId xmlns:a16="http://schemas.microsoft.com/office/drawing/2014/main" val="2003677669"/>
                    </a:ext>
                  </a:extLst>
                </a:gridCol>
                <a:gridCol w="5619764">
                  <a:extLst>
                    <a:ext uri="{9D8B030D-6E8A-4147-A177-3AD203B41FA5}">
                      <a16:colId xmlns:a16="http://schemas.microsoft.com/office/drawing/2014/main" val="2690472380"/>
                    </a:ext>
                  </a:extLst>
                </a:gridCol>
              </a:tblGrid>
              <a:tr h="533400">
                <a:tc>
                  <a:txBody>
                    <a:bodyPr/>
                    <a:lstStyle/>
                    <a:p>
                      <a:r>
                        <a:rPr lang="en-US" sz="1600" b="1" dirty="0"/>
                        <a:t>Declare instance variables as private:</a:t>
                      </a:r>
                      <a:r>
                        <a:rPr lang="en-US" sz="1600"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This prevents direct access from outside the class, thus hiding the internal state of the object.</a:t>
                      </a:r>
                      <a:endParaRPr lang="en-US" sz="1600" dirty="0">
                        <a:effectLst/>
                      </a:endParaRPr>
                    </a:p>
                  </a:txBody>
                  <a:tcPr/>
                </a:tc>
                <a:extLst>
                  <a:ext uri="{0D108BD9-81ED-4DB2-BD59-A6C34878D82A}">
                    <a16:rowId xmlns:a16="http://schemas.microsoft.com/office/drawing/2014/main" val="3008768841"/>
                  </a:ext>
                </a:extLst>
              </a:tr>
              <a:tr h="76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Provide public getter methods:</a:t>
                      </a:r>
                      <a:r>
                        <a:rPr lang="en-US" sz="1600"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These methods, named get{VariableName}(), allow controlled read-only access to the private instance variables.</a:t>
                      </a:r>
                      <a:endParaRPr lang="en-US" sz="1600" dirty="0">
                        <a:effectLst/>
                      </a:endParaRPr>
                    </a:p>
                  </a:txBody>
                  <a:tcPr/>
                </a:tc>
                <a:extLst>
                  <a:ext uri="{0D108BD9-81ED-4DB2-BD59-A6C34878D82A}">
                    <a16:rowId xmlns:a16="http://schemas.microsoft.com/office/drawing/2014/main" val="1884450604"/>
                  </a:ext>
                </a:extLst>
              </a:tr>
              <a:tr h="990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Provide public setter methods:</a:t>
                      </a:r>
                      <a:r>
                        <a:rPr lang="en-US" sz="1600" dirty="0"/>
                        <a:t> </a:t>
                      </a:r>
                    </a:p>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These methods, named set{VariableName}(), allow controlled modification of the private instance variables. They can include validation logic to ensure data integrity.</a:t>
                      </a:r>
                      <a:endParaRPr lang="en-US" sz="1600" dirty="0">
                        <a:effectLst/>
                      </a:endParaRPr>
                    </a:p>
                  </a:txBody>
                  <a:tcPr/>
                </a:tc>
                <a:extLst>
                  <a:ext uri="{0D108BD9-81ED-4DB2-BD59-A6C34878D82A}">
                    <a16:rowId xmlns:a16="http://schemas.microsoft.com/office/drawing/2014/main" val="3581227903"/>
                  </a:ext>
                </a:extLst>
              </a:tr>
              <a:tr h="76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Consider making classes immutable:</a:t>
                      </a:r>
                      <a:r>
                        <a:rPr lang="en-US" sz="1600"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If the object's state should not change after creation, avoid providing setter methods. This enhances security and simplifies concurrent programming. Use Final too!</a:t>
                      </a:r>
                      <a:endParaRPr lang="en-US" sz="1600" dirty="0">
                        <a:effectLst/>
                      </a:endParaRPr>
                    </a:p>
                  </a:txBody>
                  <a:tcPr/>
                </a:tc>
                <a:extLst>
                  <a:ext uri="{0D108BD9-81ED-4DB2-BD59-A6C34878D82A}">
                    <a16:rowId xmlns:a16="http://schemas.microsoft.com/office/drawing/2014/main" val="19527430"/>
                  </a:ext>
                </a:extLst>
              </a:tr>
              <a:tr h="76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Implement validation logic in setter methods:</a:t>
                      </a:r>
                      <a:r>
                        <a:rPr lang="en-US" sz="1600"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Ensure that the data being assigned to the object's properties is valid and maintains the object's state consistency.</a:t>
                      </a:r>
                      <a:endParaRPr lang="en-US" sz="1600" dirty="0">
                        <a:effectLst/>
                      </a:endParaRPr>
                    </a:p>
                  </a:txBody>
                  <a:tcPr/>
                </a:tc>
                <a:extLst>
                  <a:ext uri="{0D108BD9-81ED-4DB2-BD59-A6C34878D82A}">
                    <a16:rowId xmlns:a16="http://schemas.microsoft.com/office/drawing/2014/main" val="1483644327"/>
                  </a:ext>
                </a:extLst>
              </a:tr>
              <a:tr h="533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Follow the principle of least privilege:</a:t>
                      </a:r>
                      <a:r>
                        <a:rPr lang="en-US" sz="1600"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An object should only have access to the information and resources </a:t>
                      </a:r>
                      <a:r>
                        <a:rPr lang="en-US" sz="1600" b="1" dirty="0"/>
                        <a:t>necessary</a:t>
                      </a:r>
                      <a:r>
                        <a:rPr lang="en-US" sz="1600" dirty="0"/>
                        <a:t> for its function strictly deny any access if not needed.</a:t>
                      </a:r>
                      <a:endParaRPr lang="en-US" sz="1600" dirty="0">
                        <a:effectLst/>
                      </a:endParaRPr>
                    </a:p>
                  </a:txBody>
                  <a:tcPr/>
                </a:tc>
                <a:extLst>
                  <a:ext uri="{0D108BD9-81ED-4DB2-BD59-A6C34878D82A}">
                    <a16:rowId xmlns:a16="http://schemas.microsoft.com/office/drawing/2014/main" val="2057535695"/>
                  </a:ext>
                </a:extLst>
              </a:tr>
              <a:tr h="76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Use access modifiers appropriately:</a:t>
                      </a:r>
                      <a:r>
                        <a:rPr lang="en-US" sz="1600"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ALWAYS use private, public, or protected access modifiers based on the required level of accessibility for class members.</a:t>
                      </a:r>
                      <a:endParaRPr lang="en-US" sz="1600" dirty="0">
                        <a:effectLst/>
                      </a:endParaRPr>
                    </a:p>
                  </a:txBody>
                  <a:tcPr/>
                </a:tc>
                <a:extLst>
                  <a:ext uri="{0D108BD9-81ED-4DB2-BD59-A6C34878D82A}">
                    <a16:rowId xmlns:a16="http://schemas.microsoft.com/office/drawing/2014/main" val="1408799"/>
                  </a:ext>
                </a:extLst>
              </a:tr>
            </a:tbl>
          </a:graphicData>
        </a:graphic>
      </p:graphicFrame>
    </p:spTree>
    <p:extLst>
      <p:ext uri="{BB962C8B-B14F-4D97-AF65-F5344CB8AC3E}">
        <p14:creationId xmlns:p14="http://schemas.microsoft.com/office/powerpoint/2010/main" val="4167793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10082-BE1E-774D-EC2E-CDFB639ADD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6A64B8-A487-D4FB-FEFF-5C19215C1E1F}"/>
              </a:ext>
            </a:extLst>
          </p:cNvPr>
          <p:cNvSpPr>
            <a:spLocks noGrp="1"/>
          </p:cNvSpPr>
          <p:nvPr>
            <p:ph type="title"/>
          </p:nvPr>
        </p:nvSpPr>
        <p:spPr>
          <a:xfrm>
            <a:off x="0" y="-377826"/>
            <a:ext cx="10515600" cy="1325563"/>
          </a:xfrm>
        </p:spPr>
        <p:txBody>
          <a:bodyPr>
            <a:normAutofit/>
          </a:bodyPr>
          <a:lstStyle/>
          <a:p>
            <a:r>
              <a:rPr lang="en-US" dirty="0"/>
              <a:t>Instance Variables</a:t>
            </a:r>
            <a:endParaRPr lang="en-US" sz="3600" dirty="0"/>
          </a:p>
        </p:txBody>
      </p:sp>
      <p:sp>
        <p:nvSpPr>
          <p:cNvPr id="4" name="Slide Number Placeholder 3">
            <a:extLst>
              <a:ext uri="{FF2B5EF4-FFF2-40B4-BE49-F238E27FC236}">
                <a16:creationId xmlns:a16="http://schemas.microsoft.com/office/drawing/2014/main" id="{8605A8E7-AA52-42A3-C7DC-A59D019A8060}"/>
              </a:ext>
            </a:extLst>
          </p:cNvPr>
          <p:cNvSpPr>
            <a:spLocks noGrp="1"/>
          </p:cNvSpPr>
          <p:nvPr>
            <p:ph type="sldNum" sz="quarter" idx="12"/>
          </p:nvPr>
        </p:nvSpPr>
        <p:spPr/>
        <p:txBody>
          <a:bodyPr/>
          <a:lstStyle/>
          <a:p>
            <a:fld id="{545C6241-0FFB-0A47-90CD-D7CEEB6F00AC}" type="slidenum">
              <a:rPr lang="en-US" smtClean="0"/>
              <a:t>15</a:t>
            </a:fld>
            <a:endParaRPr lang="en-US" dirty="0"/>
          </a:p>
        </p:txBody>
      </p:sp>
      <p:sp>
        <p:nvSpPr>
          <p:cNvPr id="3" name="TextBox 2">
            <a:extLst>
              <a:ext uri="{FF2B5EF4-FFF2-40B4-BE49-F238E27FC236}">
                <a16:creationId xmlns:a16="http://schemas.microsoft.com/office/drawing/2014/main" id="{4ECC737F-8CC4-B438-00B8-93447BAB24C0}"/>
              </a:ext>
            </a:extLst>
          </p:cNvPr>
          <p:cNvSpPr txBox="1"/>
          <p:nvPr/>
        </p:nvSpPr>
        <p:spPr>
          <a:xfrm>
            <a:off x="0" y="6488668"/>
            <a:ext cx="4395730" cy="369332"/>
          </a:xfrm>
          <a:prstGeom prst="rect">
            <a:avLst/>
          </a:prstGeom>
          <a:noFill/>
        </p:spPr>
        <p:txBody>
          <a:bodyPr wrap="square" rtlCol="0">
            <a:spAutoFit/>
          </a:bodyPr>
          <a:lstStyle/>
          <a:p>
            <a:r>
              <a:rPr lang="en-US" dirty="0"/>
              <a:t>Class members and instance variables</a:t>
            </a:r>
          </a:p>
        </p:txBody>
      </p:sp>
      <p:pic>
        <p:nvPicPr>
          <p:cNvPr id="5" name="Picture 4" descr="A screen shot of a computer program&#10;&#10;AI-generated content may be incorrect.">
            <a:extLst>
              <a:ext uri="{FF2B5EF4-FFF2-40B4-BE49-F238E27FC236}">
                <a16:creationId xmlns:a16="http://schemas.microsoft.com/office/drawing/2014/main" id="{825518DC-0798-5C6B-A37C-2192DD99FAD0}"/>
              </a:ext>
            </a:extLst>
          </p:cNvPr>
          <p:cNvPicPr>
            <a:picLocks noChangeAspect="1"/>
          </p:cNvPicPr>
          <p:nvPr/>
        </p:nvPicPr>
        <p:blipFill>
          <a:blip r:embed="rId2"/>
          <a:stretch>
            <a:fillRect/>
          </a:stretch>
        </p:blipFill>
        <p:spPr>
          <a:xfrm>
            <a:off x="93595" y="673100"/>
            <a:ext cx="6959600" cy="5511800"/>
          </a:xfrm>
          <a:prstGeom prst="rect">
            <a:avLst/>
          </a:prstGeom>
        </p:spPr>
      </p:pic>
      <p:sp>
        <p:nvSpPr>
          <p:cNvPr id="7" name="TextBox 6">
            <a:extLst>
              <a:ext uri="{FF2B5EF4-FFF2-40B4-BE49-F238E27FC236}">
                <a16:creationId xmlns:a16="http://schemas.microsoft.com/office/drawing/2014/main" id="{FF8196D4-37AF-DE75-41ED-9556BB20339D}"/>
              </a:ext>
            </a:extLst>
          </p:cNvPr>
          <p:cNvSpPr txBox="1"/>
          <p:nvPr/>
        </p:nvSpPr>
        <p:spPr>
          <a:xfrm>
            <a:off x="7053195" y="947737"/>
            <a:ext cx="4610814" cy="646331"/>
          </a:xfrm>
          <a:prstGeom prst="rect">
            <a:avLst/>
          </a:prstGeom>
          <a:noFill/>
        </p:spPr>
        <p:txBody>
          <a:bodyPr wrap="none" rtlCol="0">
            <a:spAutoFit/>
          </a:bodyPr>
          <a:lstStyle/>
          <a:p>
            <a:r>
              <a:rPr lang="en-US" dirty="0"/>
              <a:t>Note that b should also have setters / getters</a:t>
            </a:r>
          </a:p>
          <a:p>
            <a:r>
              <a:rPr lang="en-US" dirty="0"/>
              <a:t> and c is missing a getter. </a:t>
            </a:r>
          </a:p>
        </p:txBody>
      </p:sp>
      <p:sp>
        <p:nvSpPr>
          <p:cNvPr id="8" name="TextBox 7">
            <a:extLst>
              <a:ext uri="{FF2B5EF4-FFF2-40B4-BE49-F238E27FC236}">
                <a16:creationId xmlns:a16="http://schemas.microsoft.com/office/drawing/2014/main" id="{A0555196-1D05-309B-1758-988F6C920B6C}"/>
              </a:ext>
            </a:extLst>
          </p:cNvPr>
          <p:cNvSpPr txBox="1"/>
          <p:nvPr/>
        </p:nvSpPr>
        <p:spPr>
          <a:xfrm rot="21354571">
            <a:off x="1880447" y="2614565"/>
            <a:ext cx="2610266" cy="369332"/>
          </a:xfrm>
          <a:prstGeom prst="rect">
            <a:avLst/>
          </a:prstGeom>
          <a:noFill/>
        </p:spPr>
        <p:txBody>
          <a:bodyPr wrap="none" rtlCol="0">
            <a:spAutoFit/>
          </a:bodyPr>
          <a:lstStyle/>
          <a:p>
            <a:r>
              <a:rPr lang="en-US" dirty="0">
                <a:solidFill>
                  <a:schemeClr val="bg1"/>
                </a:solidFill>
              </a:rPr>
              <a:t>Example of a parameter!</a:t>
            </a:r>
          </a:p>
        </p:txBody>
      </p:sp>
    </p:spTree>
    <p:extLst>
      <p:ext uri="{BB962C8B-B14F-4D97-AF65-F5344CB8AC3E}">
        <p14:creationId xmlns:p14="http://schemas.microsoft.com/office/powerpoint/2010/main" val="4130580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FC490-3BA2-7337-BDAB-A653C26CEA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E7997-884D-A2D7-1E27-6A8E04BB3962}"/>
              </a:ext>
            </a:extLst>
          </p:cNvPr>
          <p:cNvSpPr>
            <a:spLocks noGrp="1"/>
          </p:cNvSpPr>
          <p:nvPr>
            <p:ph type="title"/>
          </p:nvPr>
        </p:nvSpPr>
        <p:spPr>
          <a:xfrm>
            <a:off x="0" y="-377826"/>
            <a:ext cx="10515600" cy="1325563"/>
          </a:xfrm>
        </p:spPr>
        <p:txBody>
          <a:bodyPr>
            <a:normAutofit/>
          </a:bodyPr>
          <a:lstStyle/>
          <a:p>
            <a:r>
              <a:rPr lang="en-US" dirty="0"/>
              <a:t>The Constructor</a:t>
            </a:r>
            <a:endParaRPr lang="en-US" sz="3600" dirty="0"/>
          </a:p>
        </p:txBody>
      </p:sp>
      <p:sp>
        <p:nvSpPr>
          <p:cNvPr id="4" name="Slide Number Placeholder 3">
            <a:extLst>
              <a:ext uri="{FF2B5EF4-FFF2-40B4-BE49-F238E27FC236}">
                <a16:creationId xmlns:a16="http://schemas.microsoft.com/office/drawing/2014/main" id="{0175C8B0-2E31-2398-84BA-AC8263643787}"/>
              </a:ext>
            </a:extLst>
          </p:cNvPr>
          <p:cNvSpPr>
            <a:spLocks noGrp="1"/>
          </p:cNvSpPr>
          <p:nvPr>
            <p:ph type="sldNum" sz="quarter" idx="12"/>
          </p:nvPr>
        </p:nvSpPr>
        <p:spPr/>
        <p:txBody>
          <a:bodyPr/>
          <a:lstStyle/>
          <a:p>
            <a:fld id="{545C6241-0FFB-0A47-90CD-D7CEEB6F00AC}" type="slidenum">
              <a:rPr lang="en-US" smtClean="0"/>
              <a:t>16</a:t>
            </a:fld>
            <a:endParaRPr lang="en-US" dirty="0"/>
          </a:p>
        </p:txBody>
      </p:sp>
      <p:sp>
        <p:nvSpPr>
          <p:cNvPr id="3" name="TextBox 2">
            <a:extLst>
              <a:ext uri="{FF2B5EF4-FFF2-40B4-BE49-F238E27FC236}">
                <a16:creationId xmlns:a16="http://schemas.microsoft.com/office/drawing/2014/main" id="{AFAE317F-0D55-5DAC-6FB1-EA78A35B6278}"/>
              </a:ext>
            </a:extLst>
          </p:cNvPr>
          <p:cNvSpPr txBox="1"/>
          <p:nvPr/>
        </p:nvSpPr>
        <p:spPr>
          <a:xfrm>
            <a:off x="0" y="6488668"/>
            <a:ext cx="4395730" cy="369332"/>
          </a:xfrm>
          <a:prstGeom prst="rect">
            <a:avLst/>
          </a:prstGeom>
          <a:noFill/>
        </p:spPr>
        <p:txBody>
          <a:bodyPr wrap="square" rtlCol="0">
            <a:spAutoFit/>
          </a:bodyPr>
          <a:lstStyle/>
          <a:p>
            <a:r>
              <a:rPr lang="en-US" dirty="0"/>
              <a:t>Class members and instance variables</a:t>
            </a:r>
          </a:p>
        </p:txBody>
      </p:sp>
      <p:pic>
        <p:nvPicPr>
          <p:cNvPr id="6" name="Picture 5">
            <a:extLst>
              <a:ext uri="{FF2B5EF4-FFF2-40B4-BE49-F238E27FC236}">
                <a16:creationId xmlns:a16="http://schemas.microsoft.com/office/drawing/2014/main" id="{8C7AAC1C-FDE9-E642-07E6-0DAB05DF92FF}"/>
              </a:ext>
            </a:extLst>
          </p:cNvPr>
          <p:cNvPicPr>
            <a:picLocks noChangeAspect="1"/>
          </p:cNvPicPr>
          <p:nvPr/>
        </p:nvPicPr>
        <p:blipFill>
          <a:blip r:embed="rId2"/>
          <a:stretch>
            <a:fillRect/>
          </a:stretch>
        </p:blipFill>
        <p:spPr>
          <a:xfrm>
            <a:off x="217487" y="671512"/>
            <a:ext cx="6934483" cy="3984625"/>
          </a:xfrm>
          <a:prstGeom prst="rect">
            <a:avLst/>
          </a:prstGeom>
        </p:spPr>
      </p:pic>
      <p:sp>
        <p:nvSpPr>
          <p:cNvPr id="9" name="TextBox 8">
            <a:extLst>
              <a:ext uri="{FF2B5EF4-FFF2-40B4-BE49-F238E27FC236}">
                <a16:creationId xmlns:a16="http://schemas.microsoft.com/office/drawing/2014/main" id="{79764EB6-138D-AE75-4623-42BF5C3C024A}"/>
              </a:ext>
            </a:extLst>
          </p:cNvPr>
          <p:cNvSpPr txBox="1"/>
          <p:nvPr/>
        </p:nvSpPr>
        <p:spPr>
          <a:xfrm>
            <a:off x="7429501" y="1157288"/>
            <a:ext cx="4545012" cy="4247317"/>
          </a:xfrm>
          <a:prstGeom prst="rect">
            <a:avLst/>
          </a:prstGeom>
          <a:noFill/>
        </p:spPr>
        <p:txBody>
          <a:bodyPr wrap="square" rtlCol="0">
            <a:spAutoFit/>
          </a:bodyPr>
          <a:lstStyle/>
          <a:p>
            <a:r>
              <a:rPr lang="en-US" dirty="0"/>
              <a:t>A constructor is a special method used to </a:t>
            </a:r>
            <a:r>
              <a:rPr lang="en-US" b="1" dirty="0"/>
              <a:t>initialize</a:t>
            </a:r>
            <a:r>
              <a:rPr lang="en-US" dirty="0"/>
              <a:t> objects of a class. </a:t>
            </a:r>
          </a:p>
          <a:p>
            <a:endParaRPr lang="en-US" dirty="0"/>
          </a:p>
          <a:p>
            <a:r>
              <a:rPr lang="en-US" dirty="0"/>
              <a:t>It </a:t>
            </a:r>
            <a:r>
              <a:rPr lang="en-US" b="1" dirty="0"/>
              <a:t>must</a:t>
            </a:r>
            <a:r>
              <a:rPr lang="en-US" dirty="0"/>
              <a:t> have the same name as the class and is invoked automatically when an object is created using the new keyword.</a:t>
            </a:r>
          </a:p>
          <a:p>
            <a:endParaRPr lang="en-US" dirty="0"/>
          </a:p>
          <a:p>
            <a:endParaRPr lang="en-US" dirty="0"/>
          </a:p>
          <a:p>
            <a:r>
              <a:rPr lang="en-US" dirty="0"/>
              <a:t>Constructors </a:t>
            </a:r>
            <a:r>
              <a:rPr lang="en-US" b="1" dirty="0"/>
              <a:t>do not </a:t>
            </a:r>
            <a:r>
              <a:rPr lang="en-US" dirty="0"/>
              <a:t>have a return type, not even void. </a:t>
            </a:r>
          </a:p>
          <a:p>
            <a:endParaRPr lang="en-US" dirty="0"/>
          </a:p>
          <a:p>
            <a:r>
              <a:rPr lang="en-US" dirty="0"/>
              <a:t>Their primary purpose is to set the initial state of an object by assigning values to its instance variables or performing other setup tasks. </a:t>
            </a:r>
          </a:p>
        </p:txBody>
      </p:sp>
      <p:sp>
        <p:nvSpPr>
          <p:cNvPr id="10" name="TextBox 9">
            <a:extLst>
              <a:ext uri="{FF2B5EF4-FFF2-40B4-BE49-F238E27FC236}">
                <a16:creationId xmlns:a16="http://schemas.microsoft.com/office/drawing/2014/main" id="{2868D1BA-0A4E-246B-5268-3ADE0E76E2EB}"/>
              </a:ext>
            </a:extLst>
          </p:cNvPr>
          <p:cNvSpPr txBox="1"/>
          <p:nvPr/>
        </p:nvSpPr>
        <p:spPr>
          <a:xfrm>
            <a:off x="528639" y="4829175"/>
            <a:ext cx="6100762" cy="1754326"/>
          </a:xfrm>
          <a:prstGeom prst="rect">
            <a:avLst/>
          </a:prstGeom>
          <a:noFill/>
        </p:spPr>
        <p:txBody>
          <a:bodyPr wrap="square" rtlCol="0">
            <a:spAutoFit/>
          </a:bodyPr>
          <a:lstStyle/>
          <a:p>
            <a:r>
              <a:rPr lang="en-US" dirty="0"/>
              <a:t>A class can have multiple constructors with different parameter lists (Constructor Overloading), allowing objects to be initialized in various ways. You only use one constructor but any are allowed. They cannot use the same parameter types in the same order </a:t>
            </a:r>
          </a:p>
          <a:p>
            <a:r>
              <a:rPr lang="en-US" dirty="0"/>
              <a:t>(See bad overload on next slide)</a:t>
            </a:r>
            <a:endParaRPr lang="en-US" dirty="0">
              <a:effectLst/>
            </a:endParaRPr>
          </a:p>
        </p:txBody>
      </p:sp>
    </p:spTree>
    <p:extLst>
      <p:ext uri="{BB962C8B-B14F-4D97-AF65-F5344CB8AC3E}">
        <p14:creationId xmlns:p14="http://schemas.microsoft.com/office/powerpoint/2010/main" val="2260597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DE882-831C-31A8-A24D-494D3DC788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01B40-6F67-778E-673D-242B34F256C0}"/>
              </a:ext>
            </a:extLst>
          </p:cNvPr>
          <p:cNvSpPr>
            <a:spLocks noGrp="1"/>
          </p:cNvSpPr>
          <p:nvPr>
            <p:ph type="title"/>
          </p:nvPr>
        </p:nvSpPr>
        <p:spPr>
          <a:xfrm>
            <a:off x="0" y="-377826"/>
            <a:ext cx="10515600" cy="1325563"/>
          </a:xfrm>
        </p:spPr>
        <p:txBody>
          <a:bodyPr>
            <a:normAutofit/>
          </a:bodyPr>
          <a:lstStyle/>
          <a:p>
            <a:r>
              <a:rPr lang="en-US" dirty="0"/>
              <a:t>The Constructor</a:t>
            </a:r>
            <a:endParaRPr lang="en-US" sz="3600" dirty="0"/>
          </a:p>
        </p:txBody>
      </p:sp>
      <p:sp>
        <p:nvSpPr>
          <p:cNvPr id="4" name="Slide Number Placeholder 3">
            <a:extLst>
              <a:ext uri="{FF2B5EF4-FFF2-40B4-BE49-F238E27FC236}">
                <a16:creationId xmlns:a16="http://schemas.microsoft.com/office/drawing/2014/main" id="{30DFC0A5-55E3-6DB9-86B1-A4C07D786B69}"/>
              </a:ext>
            </a:extLst>
          </p:cNvPr>
          <p:cNvSpPr>
            <a:spLocks noGrp="1"/>
          </p:cNvSpPr>
          <p:nvPr>
            <p:ph type="sldNum" sz="quarter" idx="12"/>
          </p:nvPr>
        </p:nvSpPr>
        <p:spPr/>
        <p:txBody>
          <a:bodyPr/>
          <a:lstStyle/>
          <a:p>
            <a:fld id="{545C6241-0FFB-0A47-90CD-D7CEEB6F00AC}" type="slidenum">
              <a:rPr lang="en-US" smtClean="0"/>
              <a:t>17</a:t>
            </a:fld>
            <a:endParaRPr lang="en-US" dirty="0"/>
          </a:p>
        </p:txBody>
      </p:sp>
      <p:sp>
        <p:nvSpPr>
          <p:cNvPr id="3" name="TextBox 2">
            <a:extLst>
              <a:ext uri="{FF2B5EF4-FFF2-40B4-BE49-F238E27FC236}">
                <a16:creationId xmlns:a16="http://schemas.microsoft.com/office/drawing/2014/main" id="{5C42B3C7-A9B4-6072-D7F3-1AF3510B1AE2}"/>
              </a:ext>
            </a:extLst>
          </p:cNvPr>
          <p:cNvSpPr txBox="1"/>
          <p:nvPr/>
        </p:nvSpPr>
        <p:spPr>
          <a:xfrm>
            <a:off x="0" y="6488668"/>
            <a:ext cx="4395730" cy="369332"/>
          </a:xfrm>
          <a:prstGeom prst="rect">
            <a:avLst/>
          </a:prstGeom>
          <a:noFill/>
        </p:spPr>
        <p:txBody>
          <a:bodyPr wrap="square" rtlCol="0">
            <a:spAutoFit/>
          </a:bodyPr>
          <a:lstStyle/>
          <a:p>
            <a:r>
              <a:rPr lang="en-US" dirty="0"/>
              <a:t>Class members and instance variables</a:t>
            </a:r>
          </a:p>
        </p:txBody>
      </p:sp>
      <p:sp>
        <p:nvSpPr>
          <p:cNvPr id="10" name="TextBox 9">
            <a:extLst>
              <a:ext uri="{FF2B5EF4-FFF2-40B4-BE49-F238E27FC236}">
                <a16:creationId xmlns:a16="http://schemas.microsoft.com/office/drawing/2014/main" id="{3A162D1C-7F33-E43C-BF19-277AFDDE8F71}"/>
              </a:ext>
            </a:extLst>
          </p:cNvPr>
          <p:cNvSpPr txBox="1"/>
          <p:nvPr/>
        </p:nvSpPr>
        <p:spPr>
          <a:xfrm>
            <a:off x="108744" y="947737"/>
            <a:ext cx="6100762" cy="1477328"/>
          </a:xfrm>
          <a:prstGeom prst="rect">
            <a:avLst/>
          </a:prstGeom>
          <a:noFill/>
        </p:spPr>
        <p:txBody>
          <a:bodyPr wrap="square" rtlCol="0">
            <a:spAutoFit/>
          </a:bodyPr>
          <a:lstStyle/>
          <a:p>
            <a:r>
              <a:rPr lang="en-US" dirty="0"/>
              <a:t>A class can have multiple constructors with different parameter lists (Constructor Overloading), allowing objects to be initialized in various ways. You only use one constructor but any are allowed. They cannot use the same parameter types in the same order </a:t>
            </a:r>
          </a:p>
        </p:txBody>
      </p:sp>
      <p:pic>
        <p:nvPicPr>
          <p:cNvPr id="5" name="Picture 4">
            <a:extLst>
              <a:ext uri="{FF2B5EF4-FFF2-40B4-BE49-F238E27FC236}">
                <a16:creationId xmlns:a16="http://schemas.microsoft.com/office/drawing/2014/main" id="{572E7928-3610-858B-B025-BF2B5F08B36C}"/>
              </a:ext>
            </a:extLst>
          </p:cNvPr>
          <p:cNvPicPr>
            <a:picLocks noChangeAspect="1"/>
          </p:cNvPicPr>
          <p:nvPr/>
        </p:nvPicPr>
        <p:blipFill>
          <a:blip r:embed="rId2"/>
          <a:stretch>
            <a:fillRect/>
          </a:stretch>
        </p:blipFill>
        <p:spPr>
          <a:xfrm>
            <a:off x="6096000" y="53975"/>
            <a:ext cx="6108700" cy="6667500"/>
          </a:xfrm>
          <a:prstGeom prst="rect">
            <a:avLst/>
          </a:prstGeom>
        </p:spPr>
      </p:pic>
    </p:spTree>
    <p:extLst>
      <p:ext uri="{BB962C8B-B14F-4D97-AF65-F5344CB8AC3E}">
        <p14:creationId xmlns:p14="http://schemas.microsoft.com/office/powerpoint/2010/main" val="2254864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D3522-FF37-ED3D-9608-893BB01767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DD73D-0985-D879-3159-A6D64E348D55}"/>
              </a:ext>
            </a:extLst>
          </p:cNvPr>
          <p:cNvSpPr>
            <a:spLocks noGrp="1"/>
          </p:cNvSpPr>
          <p:nvPr>
            <p:ph type="title"/>
          </p:nvPr>
        </p:nvSpPr>
        <p:spPr>
          <a:xfrm>
            <a:off x="0" y="-377826"/>
            <a:ext cx="10515600" cy="1325563"/>
          </a:xfrm>
        </p:spPr>
        <p:txBody>
          <a:bodyPr>
            <a:normAutofit/>
          </a:bodyPr>
          <a:lstStyle/>
          <a:p>
            <a:r>
              <a:rPr lang="en-US" dirty="0"/>
              <a:t>Example Class – Any Questions??</a:t>
            </a:r>
            <a:endParaRPr lang="en-US" sz="3600" dirty="0"/>
          </a:p>
        </p:txBody>
      </p:sp>
      <p:sp>
        <p:nvSpPr>
          <p:cNvPr id="4" name="Slide Number Placeholder 3">
            <a:extLst>
              <a:ext uri="{FF2B5EF4-FFF2-40B4-BE49-F238E27FC236}">
                <a16:creationId xmlns:a16="http://schemas.microsoft.com/office/drawing/2014/main" id="{613CD215-B375-8491-6079-E491B3821EE7}"/>
              </a:ext>
            </a:extLst>
          </p:cNvPr>
          <p:cNvSpPr>
            <a:spLocks noGrp="1"/>
          </p:cNvSpPr>
          <p:nvPr>
            <p:ph type="sldNum" sz="quarter" idx="12"/>
          </p:nvPr>
        </p:nvSpPr>
        <p:spPr/>
        <p:txBody>
          <a:bodyPr/>
          <a:lstStyle/>
          <a:p>
            <a:fld id="{545C6241-0FFB-0A47-90CD-D7CEEB6F00AC}" type="slidenum">
              <a:rPr lang="en-US" smtClean="0"/>
              <a:t>18</a:t>
            </a:fld>
            <a:endParaRPr lang="en-US" dirty="0"/>
          </a:p>
        </p:txBody>
      </p:sp>
      <p:sp>
        <p:nvSpPr>
          <p:cNvPr id="3" name="TextBox 2">
            <a:extLst>
              <a:ext uri="{FF2B5EF4-FFF2-40B4-BE49-F238E27FC236}">
                <a16:creationId xmlns:a16="http://schemas.microsoft.com/office/drawing/2014/main" id="{B263E8F5-8706-C5DB-4E9E-B1CC3A70FF4F}"/>
              </a:ext>
            </a:extLst>
          </p:cNvPr>
          <p:cNvSpPr txBox="1"/>
          <p:nvPr/>
        </p:nvSpPr>
        <p:spPr>
          <a:xfrm>
            <a:off x="0" y="6488668"/>
            <a:ext cx="4395730" cy="369332"/>
          </a:xfrm>
          <a:prstGeom prst="rect">
            <a:avLst/>
          </a:prstGeom>
          <a:noFill/>
        </p:spPr>
        <p:txBody>
          <a:bodyPr wrap="square" rtlCol="0">
            <a:spAutoFit/>
          </a:bodyPr>
          <a:lstStyle/>
          <a:p>
            <a:r>
              <a:rPr lang="en-US" dirty="0"/>
              <a:t>Class members and instance variables</a:t>
            </a:r>
          </a:p>
        </p:txBody>
      </p:sp>
      <p:pic>
        <p:nvPicPr>
          <p:cNvPr id="7" name="Picture 6">
            <a:extLst>
              <a:ext uri="{FF2B5EF4-FFF2-40B4-BE49-F238E27FC236}">
                <a16:creationId xmlns:a16="http://schemas.microsoft.com/office/drawing/2014/main" id="{164E7649-D4D6-3C4D-69C2-62D6C16098C6}"/>
              </a:ext>
            </a:extLst>
          </p:cNvPr>
          <p:cNvPicPr>
            <a:picLocks noChangeAspect="1"/>
          </p:cNvPicPr>
          <p:nvPr/>
        </p:nvPicPr>
        <p:blipFill>
          <a:blip r:embed="rId2"/>
          <a:stretch>
            <a:fillRect/>
          </a:stretch>
        </p:blipFill>
        <p:spPr>
          <a:xfrm>
            <a:off x="161159" y="555625"/>
            <a:ext cx="4770781" cy="5800725"/>
          </a:xfrm>
          <a:prstGeom prst="rect">
            <a:avLst/>
          </a:prstGeom>
        </p:spPr>
      </p:pic>
      <p:pic>
        <p:nvPicPr>
          <p:cNvPr id="8" name="Picture 7">
            <a:extLst>
              <a:ext uri="{FF2B5EF4-FFF2-40B4-BE49-F238E27FC236}">
                <a16:creationId xmlns:a16="http://schemas.microsoft.com/office/drawing/2014/main" id="{A368FB26-DFFE-BF26-EFDC-80FD38B84DBC}"/>
              </a:ext>
            </a:extLst>
          </p:cNvPr>
          <p:cNvPicPr>
            <a:picLocks noChangeAspect="1"/>
          </p:cNvPicPr>
          <p:nvPr/>
        </p:nvPicPr>
        <p:blipFill>
          <a:blip r:embed="rId3"/>
          <a:stretch>
            <a:fillRect/>
          </a:stretch>
        </p:blipFill>
        <p:spPr>
          <a:xfrm>
            <a:off x="4931940" y="1847024"/>
            <a:ext cx="7260060" cy="4237100"/>
          </a:xfrm>
          <a:prstGeom prst="rect">
            <a:avLst/>
          </a:prstGeom>
        </p:spPr>
      </p:pic>
      <p:sp>
        <p:nvSpPr>
          <p:cNvPr id="9" name="TextBox 8">
            <a:extLst>
              <a:ext uri="{FF2B5EF4-FFF2-40B4-BE49-F238E27FC236}">
                <a16:creationId xmlns:a16="http://schemas.microsoft.com/office/drawing/2014/main" id="{FC6B8DA5-A268-952B-C6AD-D4A38E122986}"/>
              </a:ext>
            </a:extLst>
          </p:cNvPr>
          <p:cNvSpPr txBox="1"/>
          <p:nvPr/>
        </p:nvSpPr>
        <p:spPr>
          <a:xfrm>
            <a:off x="4991693" y="1035297"/>
            <a:ext cx="4996048" cy="369332"/>
          </a:xfrm>
          <a:prstGeom prst="rect">
            <a:avLst/>
          </a:prstGeom>
          <a:noFill/>
        </p:spPr>
        <p:txBody>
          <a:bodyPr wrap="none" rtlCol="0">
            <a:spAutoFit/>
          </a:bodyPr>
          <a:lstStyle/>
          <a:p>
            <a:r>
              <a:rPr lang="en-US" dirty="0"/>
              <a:t>See Example Class and an implementation for it!</a:t>
            </a:r>
          </a:p>
        </p:txBody>
      </p:sp>
    </p:spTree>
    <p:extLst>
      <p:ext uri="{BB962C8B-B14F-4D97-AF65-F5344CB8AC3E}">
        <p14:creationId xmlns:p14="http://schemas.microsoft.com/office/powerpoint/2010/main" val="49169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BE83F-9C5D-3D12-D6C2-1E7599EFA2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40363-7283-3B97-BE4E-20278176D5A3}"/>
              </a:ext>
            </a:extLst>
          </p:cNvPr>
          <p:cNvSpPr>
            <a:spLocks noGrp="1"/>
          </p:cNvSpPr>
          <p:nvPr>
            <p:ph type="ctrTitle"/>
          </p:nvPr>
        </p:nvSpPr>
        <p:spPr/>
        <p:txBody>
          <a:bodyPr/>
          <a:lstStyle/>
          <a:p>
            <a:r>
              <a:rPr lang="en-US" dirty="0"/>
              <a:t>Gamepad Controls</a:t>
            </a:r>
          </a:p>
        </p:txBody>
      </p:sp>
      <p:sp>
        <p:nvSpPr>
          <p:cNvPr id="3" name="Subtitle 2">
            <a:extLst>
              <a:ext uri="{FF2B5EF4-FFF2-40B4-BE49-F238E27FC236}">
                <a16:creationId xmlns:a16="http://schemas.microsoft.com/office/drawing/2014/main" id="{2DAA5303-161C-62DE-A4D1-31D0784E6BBD}"/>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EF692819-55B4-3FCC-8DF0-DF11C07C95F3}"/>
              </a:ext>
            </a:extLst>
          </p:cNvPr>
          <p:cNvSpPr>
            <a:spLocks noGrp="1"/>
          </p:cNvSpPr>
          <p:nvPr>
            <p:ph type="sldNum" sz="quarter" idx="12"/>
          </p:nvPr>
        </p:nvSpPr>
        <p:spPr/>
        <p:txBody>
          <a:bodyPr/>
          <a:lstStyle/>
          <a:p>
            <a:fld id="{545C6241-0FFB-0A47-90CD-D7CEEB6F00AC}" type="slidenum">
              <a:rPr lang="en-US" smtClean="0"/>
              <a:t>19</a:t>
            </a:fld>
            <a:endParaRPr lang="en-US" dirty="0"/>
          </a:p>
        </p:txBody>
      </p:sp>
    </p:spTree>
    <p:extLst>
      <p:ext uri="{BB962C8B-B14F-4D97-AF65-F5344CB8AC3E}">
        <p14:creationId xmlns:p14="http://schemas.microsoft.com/office/powerpoint/2010/main" val="341348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A4CE1-A6CD-A780-9251-1D10079D4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FFC3C5-B77F-1323-59EC-3C1AF06447BC}"/>
              </a:ext>
            </a:extLst>
          </p:cNvPr>
          <p:cNvSpPr>
            <a:spLocks noGrp="1"/>
          </p:cNvSpPr>
          <p:nvPr>
            <p:ph type="title"/>
          </p:nvPr>
        </p:nvSpPr>
        <p:spPr>
          <a:xfrm>
            <a:off x="656738" y="0"/>
            <a:ext cx="10515600" cy="1325563"/>
          </a:xfrm>
        </p:spPr>
        <p:txBody>
          <a:bodyPr>
            <a:normAutofit/>
          </a:bodyPr>
          <a:lstStyle/>
          <a:p>
            <a:r>
              <a:rPr lang="en-US" dirty="0"/>
              <a:t>The Gamepad</a:t>
            </a:r>
            <a:endParaRPr lang="en-US" sz="3600" dirty="0"/>
          </a:p>
        </p:txBody>
      </p:sp>
      <p:sp>
        <p:nvSpPr>
          <p:cNvPr id="4" name="Slide Number Placeholder 3">
            <a:extLst>
              <a:ext uri="{FF2B5EF4-FFF2-40B4-BE49-F238E27FC236}">
                <a16:creationId xmlns:a16="http://schemas.microsoft.com/office/drawing/2014/main" id="{B266E732-EABF-084A-C9E2-3E833FB671A6}"/>
              </a:ext>
            </a:extLst>
          </p:cNvPr>
          <p:cNvSpPr>
            <a:spLocks noGrp="1"/>
          </p:cNvSpPr>
          <p:nvPr>
            <p:ph type="sldNum" sz="quarter" idx="12"/>
          </p:nvPr>
        </p:nvSpPr>
        <p:spPr/>
        <p:txBody>
          <a:bodyPr/>
          <a:lstStyle/>
          <a:p>
            <a:fld id="{545C6241-0FFB-0A47-90CD-D7CEEB6F00AC}" type="slidenum">
              <a:rPr lang="en-US" smtClean="0"/>
              <a:t>20</a:t>
            </a:fld>
            <a:endParaRPr lang="en-US" dirty="0"/>
          </a:p>
        </p:txBody>
      </p:sp>
      <p:sp>
        <p:nvSpPr>
          <p:cNvPr id="3" name="TextBox 2">
            <a:extLst>
              <a:ext uri="{FF2B5EF4-FFF2-40B4-BE49-F238E27FC236}">
                <a16:creationId xmlns:a16="http://schemas.microsoft.com/office/drawing/2014/main" id="{8F03073F-8E77-0E52-3E5F-95F84B53B6EF}"/>
              </a:ext>
            </a:extLst>
          </p:cNvPr>
          <p:cNvSpPr txBox="1"/>
          <p:nvPr/>
        </p:nvSpPr>
        <p:spPr>
          <a:xfrm>
            <a:off x="0" y="6488668"/>
            <a:ext cx="4395730" cy="369332"/>
          </a:xfrm>
          <a:prstGeom prst="rect">
            <a:avLst/>
          </a:prstGeom>
          <a:noFill/>
        </p:spPr>
        <p:txBody>
          <a:bodyPr wrap="square" rtlCol="0">
            <a:spAutoFit/>
          </a:bodyPr>
          <a:lstStyle/>
          <a:p>
            <a:r>
              <a:rPr lang="en-US" dirty="0"/>
              <a:t>Gamepad Controls</a:t>
            </a:r>
          </a:p>
        </p:txBody>
      </p:sp>
      <p:sp>
        <p:nvSpPr>
          <p:cNvPr id="5" name="TextBox 4">
            <a:extLst>
              <a:ext uri="{FF2B5EF4-FFF2-40B4-BE49-F238E27FC236}">
                <a16:creationId xmlns:a16="http://schemas.microsoft.com/office/drawing/2014/main" id="{A53AD544-FA0E-8DEC-C1FE-E452B14DE861}"/>
              </a:ext>
            </a:extLst>
          </p:cNvPr>
          <p:cNvSpPr txBox="1"/>
          <p:nvPr/>
        </p:nvSpPr>
        <p:spPr>
          <a:xfrm>
            <a:off x="300717" y="964263"/>
            <a:ext cx="11227643" cy="5693866"/>
          </a:xfrm>
          <a:prstGeom prst="rect">
            <a:avLst/>
          </a:prstGeom>
          <a:noFill/>
        </p:spPr>
        <p:txBody>
          <a:bodyPr wrap="square" rtlCol="0">
            <a:spAutoFit/>
          </a:bodyPr>
          <a:lstStyle/>
          <a:p>
            <a:r>
              <a:rPr lang="en-US" sz="2800" dirty="0"/>
              <a:t>Since there are two of them, they are called </a:t>
            </a:r>
            <a:r>
              <a:rPr lang="en-US" sz="2800" b="1" dirty="0"/>
              <a:t>gamepad1</a:t>
            </a:r>
            <a:r>
              <a:rPr lang="en-US" sz="2800" dirty="0"/>
              <a:t> and </a:t>
            </a:r>
            <a:r>
              <a:rPr lang="en-US" sz="2800" b="1" dirty="0"/>
              <a:t>gamepad2</a:t>
            </a:r>
            <a:r>
              <a:rPr lang="en-US" sz="2800" dirty="0"/>
              <a:t>. </a:t>
            </a:r>
          </a:p>
          <a:p>
            <a:endParaRPr lang="en-US" sz="2800" dirty="0"/>
          </a:p>
          <a:p>
            <a:r>
              <a:rPr lang="en-US" sz="2800" dirty="0"/>
              <a:t>The buttons on the gamepad are </a:t>
            </a:r>
            <a:r>
              <a:rPr lang="en-US" sz="2800" b="1" dirty="0"/>
              <a:t>all</a:t>
            </a:r>
            <a:r>
              <a:rPr lang="en-US" sz="2800" dirty="0"/>
              <a:t> </a:t>
            </a:r>
            <a:r>
              <a:rPr lang="en-US" sz="2800" dirty="0" err="1"/>
              <a:t>boolean</a:t>
            </a:r>
            <a:r>
              <a:rPr lang="en-US" sz="2800" dirty="0"/>
              <a:t> (true if they are pressed, false if they aren’t). </a:t>
            </a:r>
          </a:p>
          <a:p>
            <a:endParaRPr lang="en-US" sz="2800" dirty="0"/>
          </a:p>
          <a:p>
            <a:r>
              <a:rPr lang="en-US" sz="2800" b="1" dirty="0"/>
              <a:t>The d-pad is exposed as four buttons. </a:t>
            </a:r>
          </a:p>
          <a:p>
            <a:endParaRPr lang="en-US" sz="2800" dirty="0"/>
          </a:p>
          <a:p>
            <a:r>
              <a:rPr lang="en-US" sz="2800" dirty="0"/>
              <a:t>The </a:t>
            </a:r>
            <a:r>
              <a:rPr lang="en-US" sz="2800" b="1" dirty="0"/>
              <a:t>joysticks</a:t>
            </a:r>
            <a:r>
              <a:rPr lang="en-US" sz="2800" dirty="0"/>
              <a:t> are double with values between </a:t>
            </a:r>
            <a:r>
              <a:rPr lang="en-US" sz="2800" b="1" dirty="0"/>
              <a:t>-1.0 and 1.0</a:t>
            </a:r>
            <a:r>
              <a:rPr lang="en-US" sz="2800" dirty="0"/>
              <a:t> (0.0 means in the center). There is one for each x (side to side) and one for each y (up and down). </a:t>
            </a:r>
          </a:p>
          <a:p>
            <a:endParaRPr lang="en-US" sz="2800" dirty="0"/>
          </a:p>
          <a:p>
            <a:r>
              <a:rPr lang="en-US" sz="2800" dirty="0"/>
              <a:t>The left </a:t>
            </a:r>
            <a:r>
              <a:rPr lang="en-US" sz="2800" b="1" dirty="0"/>
              <a:t>trigger</a:t>
            </a:r>
            <a:r>
              <a:rPr lang="en-US" sz="2800" dirty="0"/>
              <a:t> and right </a:t>
            </a:r>
            <a:r>
              <a:rPr lang="en-US" sz="2800" b="1" dirty="0"/>
              <a:t>trigger</a:t>
            </a:r>
            <a:r>
              <a:rPr lang="en-US" sz="2800" dirty="0"/>
              <a:t> are also </a:t>
            </a:r>
            <a:r>
              <a:rPr lang="en-US" sz="2800" b="1" dirty="0"/>
              <a:t>double</a:t>
            </a:r>
            <a:r>
              <a:rPr lang="en-US" sz="2800" dirty="0"/>
              <a:t> with values between 0.0 and 1.0 (0.0 means not pressed, 1.0 means fully pressed).</a:t>
            </a:r>
          </a:p>
        </p:txBody>
      </p:sp>
    </p:spTree>
    <p:extLst>
      <p:ext uri="{BB962C8B-B14F-4D97-AF65-F5344CB8AC3E}">
        <p14:creationId xmlns:p14="http://schemas.microsoft.com/office/powerpoint/2010/main" val="25306207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435FD-F6D7-61FB-7E0D-16F779E55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EB3D6D-23BA-63F4-F988-87BE54BDDD40}"/>
              </a:ext>
            </a:extLst>
          </p:cNvPr>
          <p:cNvSpPr>
            <a:spLocks noGrp="1"/>
          </p:cNvSpPr>
          <p:nvPr>
            <p:ph type="title"/>
          </p:nvPr>
        </p:nvSpPr>
        <p:spPr>
          <a:xfrm>
            <a:off x="656738" y="0"/>
            <a:ext cx="10515600" cy="1325563"/>
          </a:xfrm>
        </p:spPr>
        <p:txBody>
          <a:bodyPr>
            <a:normAutofit/>
          </a:bodyPr>
          <a:lstStyle/>
          <a:p>
            <a:r>
              <a:rPr lang="en-US" dirty="0"/>
              <a:t>The Gamepad</a:t>
            </a:r>
            <a:endParaRPr lang="en-US" sz="3600" dirty="0"/>
          </a:p>
        </p:txBody>
      </p:sp>
      <p:sp>
        <p:nvSpPr>
          <p:cNvPr id="4" name="Slide Number Placeholder 3">
            <a:extLst>
              <a:ext uri="{FF2B5EF4-FFF2-40B4-BE49-F238E27FC236}">
                <a16:creationId xmlns:a16="http://schemas.microsoft.com/office/drawing/2014/main" id="{20282247-0789-B99A-FBCC-08A2DD783A5A}"/>
              </a:ext>
            </a:extLst>
          </p:cNvPr>
          <p:cNvSpPr>
            <a:spLocks noGrp="1"/>
          </p:cNvSpPr>
          <p:nvPr>
            <p:ph type="sldNum" sz="quarter" idx="12"/>
          </p:nvPr>
        </p:nvSpPr>
        <p:spPr/>
        <p:txBody>
          <a:bodyPr/>
          <a:lstStyle/>
          <a:p>
            <a:fld id="{545C6241-0FFB-0A47-90CD-D7CEEB6F00AC}" type="slidenum">
              <a:rPr lang="en-US" smtClean="0"/>
              <a:t>21</a:t>
            </a:fld>
            <a:endParaRPr lang="en-US" dirty="0"/>
          </a:p>
        </p:txBody>
      </p:sp>
      <p:sp>
        <p:nvSpPr>
          <p:cNvPr id="3" name="TextBox 2">
            <a:extLst>
              <a:ext uri="{FF2B5EF4-FFF2-40B4-BE49-F238E27FC236}">
                <a16:creationId xmlns:a16="http://schemas.microsoft.com/office/drawing/2014/main" id="{9C1FD8FF-D3A2-AF30-A9F0-80C325927BA6}"/>
              </a:ext>
            </a:extLst>
          </p:cNvPr>
          <p:cNvSpPr txBox="1"/>
          <p:nvPr/>
        </p:nvSpPr>
        <p:spPr>
          <a:xfrm>
            <a:off x="0" y="6488668"/>
            <a:ext cx="4395730" cy="369332"/>
          </a:xfrm>
          <a:prstGeom prst="rect">
            <a:avLst/>
          </a:prstGeom>
          <a:noFill/>
        </p:spPr>
        <p:txBody>
          <a:bodyPr wrap="square" rtlCol="0">
            <a:spAutoFit/>
          </a:bodyPr>
          <a:lstStyle/>
          <a:p>
            <a:r>
              <a:rPr lang="en-US" dirty="0"/>
              <a:t>Gamepad Controls</a:t>
            </a:r>
          </a:p>
        </p:txBody>
      </p:sp>
      <p:pic>
        <p:nvPicPr>
          <p:cNvPr id="6" name="Picture 5">
            <a:extLst>
              <a:ext uri="{FF2B5EF4-FFF2-40B4-BE49-F238E27FC236}">
                <a16:creationId xmlns:a16="http://schemas.microsoft.com/office/drawing/2014/main" id="{BE58763B-47D2-8424-5A8A-180CCDD2474D}"/>
              </a:ext>
            </a:extLst>
          </p:cNvPr>
          <p:cNvPicPr>
            <a:picLocks noChangeAspect="1"/>
          </p:cNvPicPr>
          <p:nvPr/>
        </p:nvPicPr>
        <p:blipFill>
          <a:blip r:embed="rId2"/>
          <a:stretch>
            <a:fillRect/>
          </a:stretch>
        </p:blipFill>
        <p:spPr>
          <a:xfrm>
            <a:off x="322432" y="996299"/>
            <a:ext cx="11869568" cy="5291252"/>
          </a:xfrm>
          <a:prstGeom prst="rect">
            <a:avLst/>
          </a:prstGeom>
        </p:spPr>
      </p:pic>
      <p:sp>
        <p:nvSpPr>
          <p:cNvPr id="7" name="TextBox 6">
            <a:extLst>
              <a:ext uri="{FF2B5EF4-FFF2-40B4-BE49-F238E27FC236}">
                <a16:creationId xmlns:a16="http://schemas.microsoft.com/office/drawing/2014/main" id="{0B5624E6-715B-DC50-45D6-6969677C309A}"/>
              </a:ext>
            </a:extLst>
          </p:cNvPr>
          <p:cNvSpPr txBox="1"/>
          <p:nvPr/>
        </p:nvSpPr>
        <p:spPr>
          <a:xfrm>
            <a:off x="9833204" y="201116"/>
            <a:ext cx="2310633" cy="923330"/>
          </a:xfrm>
          <a:prstGeom prst="rect">
            <a:avLst/>
          </a:prstGeom>
          <a:noFill/>
        </p:spPr>
        <p:txBody>
          <a:bodyPr wrap="none" rtlCol="0">
            <a:spAutoFit/>
          </a:bodyPr>
          <a:lstStyle/>
          <a:p>
            <a:r>
              <a:rPr lang="en-US" dirty="0"/>
              <a:t>*Bold is double</a:t>
            </a:r>
          </a:p>
          <a:p>
            <a:endParaRPr lang="en-US" dirty="0"/>
          </a:p>
          <a:p>
            <a:r>
              <a:rPr lang="en-US" dirty="0"/>
              <a:t>The rest are </a:t>
            </a:r>
            <a:r>
              <a:rPr lang="en-US" dirty="0" err="1"/>
              <a:t>booleans</a:t>
            </a:r>
            <a:endParaRPr lang="en-US" dirty="0"/>
          </a:p>
        </p:txBody>
      </p:sp>
    </p:spTree>
    <p:extLst>
      <p:ext uri="{BB962C8B-B14F-4D97-AF65-F5344CB8AC3E}">
        <p14:creationId xmlns:p14="http://schemas.microsoft.com/office/powerpoint/2010/main" val="1656654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D0C22-9776-E73C-F2EA-090F750EA3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51E14-62D3-3DFA-C022-ACE2D7B0297D}"/>
              </a:ext>
            </a:extLst>
          </p:cNvPr>
          <p:cNvSpPr>
            <a:spLocks noGrp="1"/>
          </p:cNvSpPr>
          <p:nvPr>
            <p:ph type="title"/>
          </p:nvPr>
        </p:nvSpPr>
        <p:spPr>
          <a:xfrm>
            <a:off x="130777" y="136525"/>
            <a:ext cx="10515600" cy="1325563"/>
          </a:xfrm>
        </p:spPr>
        <p:txBody>
          <a:bodyPr>
            <a:normAutofit/>
          </a:bodyPr>
          <a:lstStyle/>
          <a:p>
            <a:r>
              <a:rPr lang="en-US" dirty="0"/>
              <a:t>Reading analog inputs</a:t>
            </a:r>
            <a:endParaRPr lang="en-US" sz="3600" dirty="0"/>
          </a:p>
        </p:txBody>
      </p:sp>
      <p:sp>
        <p:nvSpPr>
          <p:cNvPr id="4" name="Slide Number Placeholder 3">
            <a:extLst>
              <a:ext uri="{FF2B5EF4-FFF2-40B4-BE49-F238E27FC236}">
                <a16:creationId xmlns:a16="http://schemas.microsoft.com/office/drawing/2014/main" id="{4EC04B04-EC82-7D58-CF0A-4EE06FCA6C20}"/>
              </a:ext>
            </a:extLst>
          </p:cNvPr>
          <p:cNvSpPr>
            <a:spLocks noGrp="1"/>
          </p:cNvSpPr>
          <p:nvPr>
            <p:ph type="sldNum" sz="quarter" idx="12"/>
          </p:nvPr>
        </p:nvSpPr>
        <p:spPr/>
        <p:txBody>
          <a:bodyPr/>
          <a:lstStyle/>
          <a:p>
            <a:fld id="{545C6241-0FFB-0A47-90CD-D7CEEB6F00AC}" type="slidenum">
              <a:rPr lang="en-US" smtClean="0"/>
              <a:t>22</a:t>
            </a:fld>
            <a:endParaRPr lang="en-US" dirty="0"/>
          </a:p>
        </p:txBody>
      </p:sp>
      <p:sp>
        <p:nvSpPr>
          <p:cNvPr id="3" name="TextBox 2">
            <a:extLst>
              <a:ext uri="{FF2B5EF4-FFF2-40B4-BE49-F238E27FC236}">
                <a16:creationId xmlns:a16="http://schemas.microsoft.com/office/drawing/2014/main" id="{8890427C-3C27-F583-4315-3194F822CF1B}"/>
              </a:ext>
            </a:extLst>
          </p:cNvPr>
          <p:cNvSpPr txBox="1"/>
          <p:nvPr/>
        </p:nvSpPr>
        <p:spPr>
          <a:xfrm>
            <a:off x="0" y="6488668"/>
            <a:ext cx="4395730" cy="369332"/>
          </a:xfrm>
          <a:prstGeom prst="rect">
            <a:avLst/>
          </a:prstGeom>
          <a:noFill/>
        </p:spPr>
        <p:txBody>
          <a:bodyPr wrap="square" rtlCol="0">
            <a:spAutoFit/>
          </a:bodyPr>
          <a:lstStyle/>
          <a:p>
            <a:r>
              <a:rPr lang="en-US" dirty="0"/>
              <a:t>Gamepad Controls</a:t>
            </a:r>
          </a:p>
        </p:txBody>
      </p:sp>
      <p:pic>
        <p:nvPicPr>
          <p:cNvPr id="7" name="Picture 6" descr="A screenshot of a computer code&#10;&#10;AI-generated content may be incorrect.">
            <a:extLst>
              <a:ext uri="{FF2B5EF4-FFF2-40B4-BE49-F238E27FC236}">
                <a16:creationId xmlns:a16="http://schemas.microsoft.com/office/drawing/2014/main" id="{52E35B94-742E-0C86-8291-5F006950BED3}"/>
              </a:ext>
            </a:extLst>
          </p:cNvPr>
          <p:cNvPicPr>
            <a:picLocks noChangeAspect="1"/>
          </p:cNvPicPr>
          <p:nvPr/>
        </p:nvPicPr>
        <p:blipFill>
          <a:blip r:embed="rId2"/>
          <a:srcRect t="4759" b="2425"/>
          <a:stretch/>
        </p:blipFill>
        <p:spPr>
          <a:xfrm>
            <a:off x="581345" y="1067936"/>
            <a:ext cx="11029310" cy="5079094"/>
          </a:xfrm>
          <a:prstGeom prst="rect">
            <a:avLst/>
          </a:prstGeom>
        </p:spPr>
      </p:pic>
      <p:sp>
        <p:nvSpPr>
          <p:cNvPr id="8" name="Left Arrow 7">
            <a:extLst>
              <a:ext uri="{FF2B5EF4-FFF2-40B4-BE49-F238E27FC236}">
                <a16:creationId xmlns:a16="http://schemas.microsoft.com/office/drawing/2014/main" id="{373E4E4F-20D5-234E-4A0C-D4DEE4C5CB77}"/>
              </a:ext>
            </a:extLst>
          </p:cNvPr>
          <p:cNvSpPr/>
          <p:nvPr/>
        </p:nvSpPr>
        <p:spPr>
          <a:xfrm>
            <a:off x="8791460" y="4516916"/>
            <a:ext cx="2390660" cy="82626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Double</a:t>
            </a:r>
          </a:p>
        </p:txBody>
      </p:sp>
      <p:sp>
        <p:nvSpPr>
          <p:cNvPr id="9" name="Left Arrow 8">
            <a:extLst>
              <a:ext uri="{FF2B5EF4-FFF2-40B4-BE49-F238E27FC236}">
                <a16:creationId xmlns:a16="http://schemas.microsoft.com/office/drawing/2014/main" id="{DDBF3395-A024-1208-55E3-A1AF685166AA}"/>
              </a:ext>
            </a:extLst>
          </p:cNvPr>
          <p:cNvSpPr/>
          <p:nvPr/>
        </p:nvSpPr>
        <p:spPr>
          <a:xfrm rot="1075078">
            <a:off x="6949807" y="5424466"/>
            <a:ext cx="2390660" cy="82626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Boolean</a:t>
            </a:r>
          </a:p>
        </p:txBody>
      </p:sp>
    </p:spTree>
    <p:extLst>
      <p:ext uri="{BB962C8B-B14F-4D97-AF65-F5344CB8AC3E}">
        <p14:creationId xmlns:p14="http://schemas.microsoft.com/office/powerpoint/2010/main" val="18736481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3BA90-1A21-1FE8-4061-A422E51B0A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BD090-C993-9E52-7B1A-81C06BF806BA}"/>
              </a:ext>
            </a:extLst>
          </p:cNvPr>
          <p:cNvSpPr>
            <a:spLocks noGrp="1"/>
          </p:cNvSpPr>
          <p:nvPr>
            <p:ph type="title"/>
          </p:nvPr>
        </p:nvSpPr>
        <p:spPr>
          <a:xfrm>
            <a:off x="130777" y="136525"/>
            <a:ext cx="10515600" cy="1325563"/>
          </a:xfrm>
        </p:spPr>
        <p:txBody>
          <a:bodyPr>
            <a:normAutofit/>
          </a:bodyPr>
          <a:lstStyle/>
          <a:p>
            <a:r>
              <a:rPr lang="en-US" dirty="0"/>
              <a:t>Reading Inputs</a:t>
            </a:r>
            <a:endParaRPr lang="en-US" sz="3600" dirty="0"/>
          </a:p>
        </p:txBody>
      </p:sp>
      <p:sp>
        <p:nvSpPr>
          <p:cNvPr id="4" name="Slide Number Placeholder 3">
            <a:extLst>
              <a:ext uri="{FF2B5EF4-FFF2-40B4-BE49-F238E27FC236}">
                <a16:creationId xmlns:a16="http://schemas.microsoft.com/office/drawing/2014/main" id="{FD43EF07-A339-FEFF-2B50-90A4232E7D1D}"/>
              </a:ext>
            </a:extLst>
          </p:cNvPr>
          <p:cNvSpPr>
            <a:spLocks noGrp="1"/>
          </p:cNvSpPr>
          <p:nvPr>
            <p:ph type="sldNum" sz="quarter" idx="12"/>
          </p:nvPr>
        </p:nvSpPr>
        <p:spPr/>
        <p:txBody>
          <a:bodyPr/>
          <a:lstStyle/>
          <a:p>
            <a:fld id="{545C6241-0FFB-0A47-90CD-D7CEEB6F00AC}" type="slidenum">
              <a:rPr lang="en-US" smtClean="0"/>
              <a:t>23</a:t>
            </a:fld>
            <a:endParaRPr lang="en-US" dirty="0"/>
          </a:p>
        </p:txBody>
      </p:sp>
      <p:sp>
        <p:nvSpPr>
          <p:cNvPr id="3" name="TextBox 2">
            <a:extLst>
              <a:ext uri="{FF2B5EF4-FFF2-40B4-BE49-F238E27FC236}">
                <a16:creationId xmlns:a16="http://schemas.microsoft.com/office/drawing/2014/main" id="{BF922393-3A68-D948-0F16-01C162A679F9}"/>
              </a:ext>
            </a:extLst>
          </p:cNvPr>
          <p:cNvSpPr txBox="1"/>
          <p:nvPr/>
        </p:nvSpPr>
        <p:spPr>
          <a:xfrm>
            <a:off x="0" y="6488668"/>
            <a:ext cx="4395730" cy="369332"/>
          </a:xfrm>
          <a:prstGeom prst="rect">
            <a:avLst/>
          </a:prstGeom>
          <a:noFill/>
        </p:spPr>
        <p:txBody>
          <a:bodyPr wrap="square" rtlCol="0">
            <a:spAutoFit/>
          </a:bodyPr>
          <a:lstStyle/>
          <a:p>
            <a:r>
              <a:rPr lang="en-US" dirty="0"/>
              <a:t>Gamepad Controls</a:t>
            </a:r>
          </a:p>
        </p:txBody>
      </p:sp>
      <p:pic>
        <p:nvPicPr>
          <p:cNvPr id="5" name="Picture 4">
            <a:extLst>
              <a:ext uri="{FF2B5EF4-FFF2-40B4-BE49-F238E27FC236}">
                <a16:creationId xmlns:a16="http://schemas.microsoft.com/office/drawing/2014/main" id="{8211CA60-4ED8-E7BC-3C76-7678D0B378D6}"/>
              </a:ext>
            </a:extLst>
          </p:cNvPr>
          <p:cNvPicPr>
            <a:picLocks noChangeAspect="1"/>
          </p:cNvPicPr>
          <p:nvPr/>
        </p:nvPicPr>
        <p:blipFill>
          <a:blip r:embed="rId2"/>
          <a:stretch>
            <a:fillRect/>
          </a:stretch>
        </p:blipFill>
        <p:spPr>
          <a:xfrm>
            <a:off x="1165341" y="1202098"/>
            <a:ext cx="4470400" cy="4635500"/>
          </a:xfrm>
          <a:prstGeom prst="rect">
            <a:avLst/>
          </a:prstGeom>
        </p:spPr>
      </p:pic>
      <p:sp>
        <p:nvSpPr>
          <p:cNvPr id="6" name="TextBox 5">
            <a:extLst>
              <a:ext uri="{FF2B5EF4-FFF2-40B4-BE49-F238E27FC236}">
                <a16:creationId xmlns:a16="http://schemas.microsoft.com/office/drawing/2014/main" id="{B94B943F-0058-E849-09CC-2E4130A7DF03}"/>
              </a:ext>
            </a:extLst>
          </p:cNvPr>
          <p:cNvSpPr txBox="1"/>
          <p:nvPr/>
        </p:nvSpPr>
        <p:spPr>
          <a:xfrm>
            <a:off x="5530468" y="728279"/>
            <a:ext cx="5719451" cy="369332"/>
          </a:xfrm>
          <a:prstGeom prst="rect">
            <a:avLst/>
          </a:prstGeom>
          <a:noFill/>
        </p:spPr>
        <p:txBody>
          <a:bodyPr wrap="none" rtlCol="0">
            <a:spAutoFit/>
          </a:bodyPr>
          <a:lstStyle/>
          <a:p>
            <a:r>
              <a:rPr lang="en-US" dirty="0"/>
              <a:t>This is what it might look like in the robot container loop!</a:t>
            </a:r>
          </a:p>
        </p:txBody>
      </p:sp>
    </p:spTree>
    <p:extLst>
      <p:ext uri="{BB962C8B-B14F-4D97-AF65-F5344CB8AC3E}">
        <p14:creationId xmlns:p14="http://schemas.microsoft.com/office/powerpoint/2010/main" val="954275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B72FE-9D04-99D0-4458-0C6E4A329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BB62C5-C8F4-A1F8-AD3B-CCE72421F17D}"/>
              </a:ext>
            </a:extLst>
          </p:cNvPr>
          <p:cNvSpPr>
            <a:spLocks noGrp="1"/>
          </p:cNvSpPr>
          <p:nvPr>
            <p:ph type="ctrTitle"/>
          </p:nvPr>
        </p:nvSpPr>
        <p:spPr/>
        <p:txBody>
          <a:bodyPr/>
          <a:lstStyle/>
          <a:p>
            <a:r>
              <a:rPr lang="en-US" dirty="0"/>
              <a:t>Building Your </a:t>
            </a:r>
            <a:r>
              <a:rPr lang="en-US" b="1" i="1" dirty="0"/>
              <a:t>FIRST </a:t>
            </a:r>
            <a:r>
              <a:rPr lang="en-US" baseline="30000" dirty="0"/>
              <a:t>®</a:t>
            </a:r>
            <a:r>
              <a:rPr lang="en-US" dirty="0"/>
              <a:t> Interactive Program</a:t>
            </a:r>
          </a:p>
        </p:txBody>
      </p:sp>
      <p:sp>
        <p:nvSpPr>
          <p:cNvPr id="3" name="Subtitle 2">
            <a:extLst>
              <a:ext uri="{FF2B5EF4-FFF2-40B4-BE49-F238E27FC236}">
                <a16:creationId xmlns:a16="http://schemas.microsoft.com/office/drawing/2014/main" id="{C2B5CB9A-FDB5-B982-CEE5-2CA9566FB51E}"/>
              </a:ext>
            </a:extLst>
          </p:cNvPr>
          <p:cNvSpPr>
            <a:spLocks noGrp="1"/>
          </p:cNvSpPr>
          <p:nvPr>
            <p:ph type="subTitle" idx="1"/>
          </p:nvPr>
        </p:nvSpPr>
        <p:spPr/>
        <p:txBody>
          <a:bodyPr/>
          <a:lstStyle/>
          <a:p>
            <a:r>
              <a:rPr lang="en-US" dirty="0"/>
              <a:t>*</a:t>
            </a:r>
            <a:r>
              <a:rPr lang="en-US" i="1" dirty="0"/>
              <a:t>Fight for Me </a:t>
            </a:r>
            <a:r>
              <a:rPr lang="en-US" dirty="0"/>
              <a:t>Opening Moment* </a:t>
            </a:r>
          </a:p>
          <a:p>
            <a:r>
              <a:rPr lang="en-US" sz="1400" dirty="0"/>
              <a:t>(</a:t>
            </a:r>
            <a:r>
              <a:rPr lang="en-US" sz="1400" dirty="0">
                <a:effectLst/>
              </a:rPr>
              <a:t>Waters, Daniel. </a:t>
            </a:r>
            <a:r>
              <a:rPr lang="en-US" sz="1400" i="1" dirty="0">
                <a:effectLst/>
              </a:rPr>
              <a:t>Heathers : The Musical</a:t>
            </a:r>
            <a:r>
              <a:rPr lang="en-US" sz="1400" dirty="0">
                <a:effectLst/>
              </a:rPr>
              <a:t>. Samuel French, 2015.</a:t>
            </a:r>
            <a:r>
              <a:rPr lang="en-US" sz="1400" dirty="0"/>
              <a:t>)</a:t>
            </a:r>
          </a:p>
        </p:txBody>
      </p:sp>
      <p:sp>
        <p:nvSpPr>
          <p:cNvPr id="4" name="Slide Number Placeholder 3">
            <a:extLst>
              <a:ext uri="{FF2B5EF4-FFF2-40B4-BE49-F238E27FC236}">
                <a16:creationId xmlns:a16="http://schemas.microsoft.com/office/drawing/2014/main" id="{BE7B5184-87BB-E7C8-2098-0B7CF3F1DF02}"/>
              </a:ext>
            </a:extLst>
          </p:cNvPr>
          <p:cNvSpPr>
            <a:spLocks noGrp="1"/>
          </p:cNvSpPr>
          <p:nvPr>
            <p:ph type="sldNum" sz="quarter" idx="12"/>
          </p:nvPr>
        </p:nvSpPr>
        <p:spPr/>
        <p:txBody>
          <a:bodyPr/>
          <a:lstStyle/>
          <a:p>
            <a:fld id="{545C6241-0FFB-0A47-90CD-D7CEEB6F00AC}" type="slidenum">
              <a:rPr lang="en-US" smtClean="0"/>
              <a:t>24</a:t>
            </a:fld>
            <a:endParaRPr lang="en-US" dirty="0"/>
          </a:p>
        </p:txBody>
      </p:sp>
    </p:spTree>
    <p:extLst>
      <p:ext uri="{BB962C8B-B14F-4D97-AF65-F5344CB8AC3E}">
        <p14:creationId xmlns:p14="http://schemas.microsoft.com/office/powerpoint/2010/main" val="3431369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EDBB2-208D-8DB9-6FA3-F64BA6284D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AA90E-5126-4F07-F525-820EECFD7099}"/>
              </a:ext>
            </a:extLst>
          </p:cNvPr>
          <p:cNvSpPr>
            <a:spLocks noGrp="1"/>
          </p:cNvSpPr>
          <p:nvPr>
            <p:ph type="title"/>
          </p:nvPr>
        </p:nvSpPr>
        <p:spPr>
          <a:xfrm>
            <a:off x="130777" y="136525"/>
            <a:ext cx="10515600" cy="1325563"/>
          </a:xfrm>
        </p:spPr>
        <p:txBody>
          <a:bodyPr>
            <a:normAutofit/>
          </a:bodyPr>
          <a:lstStyle/>
          <a:p>
            <a:r>
              <a:rPr lang="en-US" dirty="0"/>
              <a:t>Creating a gamepad test program</a:t>
            </a:r>
            <a:endParaRPr lang="en-US" sz="3600" dirty="0"/>
          </a:p>
        </p:txBody>
      </p:sp>
      <p:sp>
        <p:nvSpPr>
          <p:cNvPr id="4" name="Slide Number Placeholder 3">
            <a:extLst>
              <a:ext uri="{FF2B5EF4-FFF2-40B4-BE49-F238E27FC236}">
                <a16:creationId xmlns:a16="http://schemas.microsoft.com/office/drawing/2014/main" id="{80FB5CFF-85E7-0B1A-6A93-5674729AF44F}"/>
              </a:ext>
            </a:extLst>
          </p:cNvPr>
          <p:cNvSpPr>
            <a:spLocks noGrp="1"/>
          </p:cNvSpPr>
          <p:nvPr>
            <p:ph type="sldNum" sz="quarter" idx="12"/>
          </p:nvPr>
        </p:nvSpPr>
        <p:spPr/>
        <p:txBody>
          <a:bodyPr/>
          <a:lstStyle/>
          <a:p>
            <a:fld id="{545C6241-0FFB-0A47-90CD-D7CEEB6F00AC}" type="slidenum">
              <a:rPr lang="en-US" smtClean="0"/>
              <a:t>25</a:t>
            </a:fld>
            <a:endParaRPr lang="en-US" dirty="0"/>
          </a:p>
        </p:txBody>
      </p:sp>
      <p:sp>
        <p:nvSpPr>
          <p:cNvPr id="3" name="TextBox 2">
            <a:extLst>
              <a:ext uri="{FF2B5EF4-FFF2-40B4-BE49-F238E27FC236}">
                <a16:creationId xmlns:a16="http://schemas.microsoft.com/office/drawing/2014/main" id="{F942D4F2-F4CE-FCB2-FB39-EDE7F832A77B}"/>
              </a:ext>
            </a:extLst>
          </p:cNvPr>
          <p:cNvSpPr txBox="1"/>
          <p:nvPr/>
        </p:nvSpPr>
        <p:spPr>
          <a:xfrm>
            <a:off x="0" y="6488668"/>
            <a:ext cx="4395730" cy="369332"/>
          </a:xfrm>
          <a:prstGeom prst="rect">
            <a:avLst/>
          </a:prstGeom>
          <a:noFill/>
        </p:spPr>
        <p:txBody>
          <a:bodyPr wrap="square" rtlCol="0">
            <a:spAutoFit/>
          </a:bodyPr>
          <a:lstStyle/>
          <a:p>
            <a:r>
              <a:rPr lang="en-US" dirty="0"/>
              <a:t>Building Your First Interactive Program</a:t>
            </a:r>
          </a:p>
        </p:txBody>
      </p:sp>
      <p:sp>
        <p:nvSpPr>
          <p:cNvPr id="7" name="TextBox 6">
            <a:extLst>
              <a:ext uri="{FF2B5EF4-FFF2-40B4-BE49-F238E27FC236}">
                <a16:creationId xmlns:a16="http://schemas.microsoft.com/office/drawing/2014/main" id="{1A8FB2BF-4645-ECFF-7F8B-FE896E23BB77}"/>
              </a:ext>
            </a:extLst>
          </p:cNvPr>
          <p:cNvSpPr txBox="1"/>
          <p:nvPr/>
        </p:nvSpPr>
        <p:spPr>
          <a:xfrm>
            <a:off x="130777" y="1318868"/>
            <a:ext cx="11348799" cy="4524315"/>
          </a:xfrm>
          <a:prstGeom prst="rect">
            <a:avLst/>
          </a:prstGeom>
          <a:noFill/>
        </p:spPr>
        <p:txBody>
          <a:bodyPr wrap="square" rtlCol="0">
            <a:spAutoFit/>
          </a:bodyPr>
          <a:lstStyle/>
          <a:p>
            <a:r>
              <a:rPr lang="en-US" sz="3200" dirty="0"/>
              <a:t>Can you do the following?</a:t>
            </a:r>
          </a:p>
          <a:p>
            <a:endParaRPr lang="en-US" sz="3200" dirty="0"/>
          </a:p>
          <a:p>
            <a:pPr marL="514350" indent="-514350">
              <a:buFont typeface="+mj-lt"/>
              <a:buAutoNum type="arabicPeriod"/>
            </a:pPr>
            <a:r>
              <a:rPr lang="en-US" sz="3200" dirty="0"/>
              <a:t>Add telemetry to show the right stick of gamepad1.</a:t>
            </a:r>
          </a:p>
          <a:p>
            <a:pPr marL="514350" indent="-514350">
              <a:buFont typeface="+mj-lt"/>
              <a:buAutoNum type="arabicPeriod"/>
            </a:pPr>
            <a:r>
              <a:rPr lang="en-US" sz="3200" dirty="0"/>
              <a:t>Add telemetry to show whether the b button is pressed on gamepad1.</a:t>
            </a:r>
          </a:p>
          <a:p>
            <a:pPr marL="514350" indent="-514350">
              <a:buFont typeface="+mj-lt"/>
              <a:buAutoNum type="arabicPeriod"/>
            </a:pPr>
            <a:r>
              <a:rPr lang="en-US" sz="3200" dirty="0"/>
              <a:t>Report to the user the difference between the left joystick y and the right joystick y on gamepad1.</a:t>
            </a:r>
          </a:p>
          <a:p>
            <a:pPr marL="514350" indent="-514350">
              <a:buFont typeface="+mj-lt"/>
              <a:buAutoNum type="arabicPeriod"/>
            </a:pPr>
            <a:r>
              <a:rPr lang="en-US" sz="3200" dirty="0"/>
              <a:t>Report to the user the sum of the left and right triggers on gamepad1.</a:t>
            </a:r>
          </a:p>
        </p:txBody>
      </p:sp>
    </p:spTree>
    <p:extLst>
      <p:ext uri="{BB962C8B-B14F-4D97-AF65-F5344CB8AC3E}">
        <p14:creationId xmlns:p14="http://schemas.microsoft.com/office/powerpoint/2010/main" val="12523256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5C9EC-56F6-CCF0-9D2A-F96DE5108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F585BE-F3FB-3832-718E-2C3B5DD60217}"/>
              </a:ext>
            </a:extLst>
          </p:cNvPr>
          <p:cNvSpPr>
            <a:spLocks noGrp="1"/>
          </p:cNvSpPr>
          <p:nvPr>
            <p:ph type="title"/>
          </p:nvPr>
        </p:nvSpPr>
        <p:spPr>
          <a:xfrm>
            <a:off x="130777" y="-156097"/>
            <a:ext cx="10515600" cy="1325563"/>
          </a:xfrm>
        </p:spPr>
        <p:txBody>
          <a:bodyPr>
            <a:normAutofit/>
          </a:bodyPr>
          <a:lstStyle/>
          <a:p>
            <a:r>
              <a:rPr lang="en-US" dirty="0"/>
              <a:t>(Answers) Creating a gamepad test program</a:t>
            </a:r>
            <a:endParaRPr lang="en-US" sz="3600" dirty="0"/>
          </a:p>
        </p:txBody>
      </p:sp>
      <p:sp>
        <p:nvSpPr>
          <p:cNvPr id="4" name="Slide Number Placeholder 3">
            <a:extLst>
              <a:ext uri="{FF2B5EF4-FFF2-40B4-BE49-F238E27FC236}">
                <a16:creationId xmlns:a16="http://schemas.microsoft.com/office/drawing/2014/main" id="{5608503B-2F87-0B24-7B58-45842C7D0DB5}"/>
              </a:ext>
            </a:extLst>
          </p:cNvPr>
          <p:cNvSpPr>
            <a:spLocks noGrp="1"/>
          </p:cNvSpPr>
          <p:nvPr>
            <p:ph type="sldNum" sz="quarter" idx="12"/>
          </p:nvPr>
        </p:nvSpPr>
        <p:spPr/>
        <p:txBody>
          <a:bodyPr/>
          <a:lstStyle/>
          <a:p>
            <a:fld id="{545C6241-0FFB-0A47-90CD-D7CEEB6F00AC}" type="slidenum">
              <a:rPr lang="en-US" smtClean="0"/>
              <a:t>26</a:t>
            </a:fld>
            <a:endParaRPr lang="en-US" dirty="0"/>
          </a:p>
        </p:txBody>
      </p:sp>
      <p:sp>
        <p:nvSpPr>
          <p:cNvPr id="3" name="TextBox 2">
            <a:extLst>
              <a:ext uri="{FF2B5EF4-FFF2-40B4-BE49-F238E27FC236}">
                <a16:creationId xmlns:a16="http://schemas.microsoft.com/office/drawing/2014/main" id="{7B35AF0C-464E-C527-5603-1B0216BF5634}"/>
              </a:ext>
            </a:extLst>
          </p:cNvPr>
          <p:cNvSpPr txBox="1"/>
          <p:nvPr/>
        </p:nvSpPr>
        <p:spPr>
          <a:xfrm>
            <a:off x="0" y="6488668"/>
            <a:ext cx="4395730" cy="369332"/>
          </a:xfrm>
          <a:prstGeom prst="rect">
            <a:avLst/>
          </a:prstGeom>
          <a:noFill/>
        </p:spPr>
        <p:txBody>
          <a:bodyPr wrap="square" rtlCol="0">
            <a:spAutoFit/>
          </a:bodyPr>
          <a:lstStyle/>
          <a:p>
            <a:r>
              <a:rPr lang="en-US" dirty="0"/>
              <a:t>Building Your First Interactive Program</a:t>
            </a:r>
          </a:p>
        </p:txBody>
      </p:sp>
      <p:pic>
        <p:nvPicPr>
          <p:cNvPr id="5" name="Picture 4">
            <a:extLst>
              <a:ext uri="{FF2B5EF4-FFF2-40B4-BE49-F238E27FC236}">
                <a16:creationId xmlns:a16="http://schemas.microsoft.com/office/drawing/2014/main" id="{2A9BF247-FD82-C196-7D13-8E84534C0DEA}"/>
              </a:ext>
            </a:extLst>
          </p:cNvPr>
          <p:cNvPicPr>
            <a:picLocks noChangeAspect="1"/>
          </p:cNvPicPr>
          <p:nvPr/>
        </p:nvPicPr>
        <p:blipFill>
          <a:blip r:embed="rId2"/>
          <a:stretch>
            <a:fillRect/>
          </a:stretch>
        </p:blipFill>
        <p:spPr>
          <a:xfrm>
            <a:off x="678455" y="1121076"/>
            <a:ext cx="7772400" cy="5078556"/>
          </a:xfrm>
          <a:prstGeom prst="rect">
            <a:avLst/>
          </a:prstGeom>
        </p:spPr>
      </p:pic>
    </p:spTree>
    <p:extLst>
      <p:ext uri="{BB962C8B-B14F-4D97-AF65-F5344CB8AC3E}">
        <p14:creationId xmlns:p14="http://schemas.microsoft.com/office/powerpoint/2010/main" val="27099015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2D437-16DA-E095-456E-A6DDDF456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1F7F3A-7526-1DFD-C1A0-469BB425C508}"/>
              </a:ext>
            </a:extLst>
          </p:cNvPr>
          <p:cNvSpPr>
            <a:spLocks noGrp="1"/>
          </p:cNvSpPr>
          <p:nvPr>
            <p:ph type="ctrTitle"/>
          </p:nvPr>
        </p:nvSpPr>
        <p:spPr/>
        <p:txBody>
          <a:bodyPr/>
          <a:lstStyle/>
          <a:p>
            <a:r>
              <a:rPr lang="en-US" dirty="0"/>
              <a:t>Sending (your) Code to the Robot Controller</a:t>
            </a:r>
          </a:p>
        </p:txBody>
      </p:sp>
      <p:sp>
        <p:nvSpPr>
          <p:cNvPr id="4" name="Slide Number Placeholder 3">
            <a:extLst>
              <a:ext uri="{FF2B5EF4-FFF2-40B4-BE49-F238E27FC236}">
                <a16:creationId xmlns:a16="http://schemas.microsoft.com/office/drawing/2014/main" id="{CF01479E-22C0-8515-E6DE-2265481018E1}"/>
              </a:ext>
            </a:extLst>
          </p:cNvPr>
          <p:cNvSpPr>
            <a:spLocks noGrp="1"/>
          </p:cNvSpPr>
          <p:nvPr>
            <p:ph type="sldNum" sz="quarter" idx="12"/>
          </p:nvPr>
        </p:nvSpPr>
        <p:spPr/>
        <p:txBody>
          <a:bodyPr/>
          <a:lstStyle/>
          <a:p>
            <a:fld id="{545C6241-0FFB-0A47-90CD-D7CEEB6F00AC}" type="slidenum">
              <a:rPr lang="en-US" smtClean="0"/>
              <a:t>27</a:t>
            </a:fld>
            <a:endParaRPr lang="en-US" dirty="0"/>
          </a:p>
        </p:txBody>
      </p:sp>
      <p:sp>
        <p:nvSpPr>
          <p:cNvPr id="6" name="Subtitle 5">
            <a:extLst>
              <a:ext uri="{FF2B5EF4-FFF2-40B4-BE49-F238E27FC236}">
                <a16:creationId xmlns:a16="http://schemas.microsoft.com/office/drawing/2014/main" id="{F70CAE23-8976-80F9-FD24-3AD4AF81166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24849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EFF3D-3810-1AFB-C47D-612265A2D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6FD67C-3FE2-0314-9034-1DAC862CDE43}"/>
              </a:ext>
            </a:extLst>
          </p:cNvPr>
          <p:cNvSpPr>
            <a:spLocks noGrp="1"/>
          </p:cNvSpPr>
          <p:nvPr>
            <p:ph type="title"/>
          </p:nvPr>
        </p:nvSpPr>
        <p:spPr>
          <a:xfrm>
            <a:off x="130777" y="136525"/>
            <a:ext cx="10515600" cy="1325563"/>
          </a:xfrm>
        </p:spPr>
        <p:txBody>
          <a:bodyPr>
            <a:normAutofit/>
          </a:bodyPr>
          <a:lstStyle/>
          <a:p>
            <a:r>
              <a:rPr lang="en-US" dirty="0"/>
              <a:t>Creating a gamepad test program</a:t>
            </a:r>
            <a:endParaRPr lang="en-US" sz="3600" dirty="0"/>
          </a:p>
        </p:txBody>
      </p:sp>
      <p:sp>
        <p:nvSpPr>
          <p:cNvPr id="4" name="Slide Number Placeholder 3">
            <a:extLst>
              <a:ext uri="{FF2B5EF4-FFF2-40B4-BE49-F238E27FC236}">
                <a16:creationId xmlns:a16="http://schemas.microsoft.com/office/drawing/2014/main" id="{5C3A162E-5F3A-789B-E8D4-681DD5E7EF6C}"/>
              </a:ext>
            </a:extLst>
          </p:cNvPr>
          <p:cNvSpPr>
            <a:spLocks noGrp="1"/>
          </p:cNvSpPr>
          <p:nvPr>
            <p:ph type="sldNum" sz="quarter" idx="12"/>
          </p:nvPr>
        </p:nvSpPr>
        <p:spPr/>
        <p:txBody>
          <a:bodyPr/>
          <a:lstStyle/>
          <a:p>
            <a:fld id="{545C6241-0FFB-0A47-90CD-D7CEEB6F00AC}" type="slidenum">
              <a:rPr lang="en-US" smtClean="0"/>
              <a:t>28</a:t>
            </a:fld>
            <a:endParaRPr lang="en-US" dirty="0"/>
          </a:p>
        </p:txBody>
      </p:sp>
      <p:sp>
        <p:nvSpPr>
          <p:cNvPr id="3" name="TextBox 2">
            <a:extLst>
              <a:ext uri="{FF2B5EF4-FFF2-40B4-BE49-F238E27FC236}">
                <a16:creationId xmlns:a16="http://schemas.microsoft.com/office/drawing/2014/main" id="{9D3C74CB-3EFF-EF6B-E62B-772CF631E7B9}"/>
              </a:ext>
            </a:extLst>
          </p:cNvPr>
          <p:cNvSpPr txBox="1"/>
          <p:nvPr/>
        </p:nvSpPr>
        <p:spPr>
          <a:xfrm>
            <a:off x="0" y="6488668"/>
            <a:ext cx="4395730" cy="369332"/>
          </a:xfrm>
          <a:prstGeom prst="rect">
            <a:avLst/>
          </a:prstGeom>
          <a:noFill/>
        </p:spPr>
        <p:txBody>
          <a:bodyPr wrap="square" rtlCol="0">
            <a:spAutoFit/>
          </a:bodyPr>
          <a:lstStyle/>
          <a:p>
            <a:r>
              <a:rPr lang="en-US" dirty="0"/>
              <a:t>Building Your First Interactive Program</a:t>
            </a:r>
          </a:p>
        </p:txBody>
      </p:sp>
      <p:sp>
        <p:nvSpPr>
          <p:cNvPr id="7" name="TextBox 6">
            <a:extLst>
              <a:ext uri="{FF2B5EF4-FFF2-40B4-BE49-F238E27FC236}">
                <a16:creationId xmlns:a16="http://schemas.microsoft.com/office/drawing/2014/main" id="{B57F282B-32BB-16C2-85B0-283E1CC40E3E}"/>
              </a:ext>
            </a:extLst>
          </p:cNvPr>
          <p:cNvSpPr txBox="1"/>
          <p:nvPr/>
        </p:nvSpPr>
        <p:spPr>
          <a:xfrm>
            <a:off x="130777" y="1318868"/>
            <a:ext cx="11348799" cy="4031873"/>
          </a:xfrm>
          <a:prstGeom prst="rect">
            <a:avLst/>
          </a:prstGeom>
          <a:noFill/>
        </p:spPr>
        <p:txBody>
          <a:bodyPr wrap="square" rtlCol="0">
            <a:spAutoFit/>
          </a:bodyPr>
          <a:lstStyle/>
          <a:p>
            <a:r>
              <a:rPr lang="en-US" sz="3200" dirty="0"/>
              <a:t>Turn on and connect to the robot. </a:t>
            </a:r>
          </a:p>
          <a:p>
            <a:r>
              <a:rPr lang="en-US" sz="3200" dirty="0"/>
              <a:t>Then go to </a:t>
            </a:r>
            <a:r>
              <a:rPr lang="en-US" sz="3200" b="1" u="sng" dirty="0">
                <a:solidFill>
                  <a:schemeClr val="tx2">
                    <a:lumMod val="50000"/>
                    <a:lumOff val="50000"/>
                  </a:schemeClr>
                </a:solidFill>
                <a:hlinkClick r:id="rId2"/>
              </a:rPr>
              <a:t>http://192.168.43.1:8080</a:t>
            </a:r>
            <a:endParaRPr lang="en-US" sz="3200" b="1" u="sng" dirty="0">
              <a:solidFill>
                <a:schemeClr val="tx2">
                  <a:lumMod val="50000"/>
                  <a:lumOff val="50000"/>
                </a:schemeClr>
              </a:solidFill>
            </a:endParaRPr>
          </a:p>
          <a:p>
            <a:endParaRPr lang="en-US" sz="3200" b="1" u="sng" dirty="0">
              <a:solidFill>
                <a:schemeClr val="tx2">
                  <a:lumMod val="50000"/>
                  <a:lumOff val="50000"/>
                </a:schemeClr>
              </a:solidFill>
            </a:endParaRPr>
          </a:p>
          <a:p>
            <a:r>
              <a:rPr lang="en-US" sz="3200" dirty="0"/>
              <a:t>Go to </a:t>
            </a:r>
            <a:r>
              <a:rPr lang="en-US" sz="3200" dirty="0" err="1"/>
              <a:t>OnBotJava</a:t>
            </a:r>
            <a:r>
              <a:rPr lang="en-US" sz="3200" dirty="0"/>
              <a:t> and upload your new file. </a:t>
            </a:r>
          </a:p>
          <a:p>
            <a:r>
              <a:rPr lang="en-US" sz="3200" dirty="0"/>
              <a:t>Build it.</a:t>
            </a:r>
          </a:p>
          <a:p>
            <a:endParaRPr lang="en-US" sz="3200" dirty="0"/>
          </a:p>
          <a:p>
            <a:r>
              <a:rPr lang="en-US" sz="3200" dirty="0"/>
              <a:t>Go to the robot controller and select your program. </a:t>
            </a:r>
          </a:p>
          <a:p>
            <a:r>
              <a:rPr lang="en-US" sz="3200" dirty="0"/>
              <a:t>Init, Enable, and test!</a:t>
            </a:r>
          </a:p>
        </p:txBody>
      </p:sp>
    </p:spTree>
    <p:extLst>
      <p:ext uri="{BB962C8B-B14F-4D97-AF65-F5344CB8AC3E}">
        <p14:creationId xmlns:p14="http://schemas.microsoft.com/office/powerpoint/2010/main" val="3849103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BBFB0-260D-CDFC-CCC8-377620179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EACDF-2E8D-9278-5462-50CCA7AA1311}"/>
              </a:ext>
            </a:extLst>
          </p:cNvPr>
          <p:cNvSpPr>
            <a:spLocks noGrp="1"/>
          </p:cNvSpPr>
          <p:nvPr>
            <p:ph type="ctrTitle"/>
          </p:nvPr>
        </p:nvSpPr>
        <p:spPr/>
        <p:txBody>
          <a:bodyPr/>
          <a:lstStyle/>
          <a:p>
            <a:r>
              <a:rPr lang="en-US" dirty="0"/>
              <a:t>GitHub</a:t>
            </a:r>
          </a:p>
        </p:txBody>
      </p:sp>
      <p:sp>
        <p:nvSpPr>
          <p:cNvPr id="4" name="Slide Number Placeholder 3">
            <a:extLst>
              <a:ext uri="{FF2B5EF4-FFF2-40B4-BE49-F238E27FC236}">
                <a16:creationId xmlns:a16="http://schemas.microsoft.com/office/drawing/2014/main" id="{DC28426C-3A9E-F316-CD9A-B409DF00C0EC}"/>
              </a:ext>
            </a:extLst>
          </p:cNvPr>
          <p:cNvSpPr>
            <a:spLocks noGrp="1"/>
          </p:cNvSpPr>
          <p:nvPr>
            <p:ph type="sldNum" sz="quarter" idx="12"/>
          </p:nvPr>
        </p:nvSpPr>
        <p:spPr/>
        <p:txBody>
          <a:bodyPr/>
          <a:lstStyle/>
          <a:p>
            <a:fld id="{545C6241-0FFB-0A47-90CD-D7CEEB6F00AC}" type="slidenum">
              <a:rPr lang="en-US" smtClean="0"/>
              <a:t>29</a:t>
            </a:fld>
            <a:endParaRPr lang="en-US" dirty="0"/>
          </a:p>
        </p:txBody>
      </p:sp>
      <p:sp>
        <p:nvSpPr>
          <p:cNvPr id="6" name="Subtitle 5">
            <a:extLst>
              <a:ext uri="{FF2B5EF4-FFF2-40B4-BE49-F238E27FC236}">
                <a16:creationId xmlns:a16="http://schemas.microsoft.com/office/drawing/2014/main" id="{7348C5C3-703C-939D-8D12-8246D52C7843}"/>
              </a:ext>
            </a:extLst>
          </p:cNvPr>
          <p:cNvSpPr>
            <a:spLocks noGrp="1"/>
          </p:cNvSpPr>
          <p:nvPr>
            <p:ph type="subTitle" idx="1"/>
          </p:nvPr>
        </p:nvSpPr>
        <p:spPr/>
        <p:txBody>
          <a:bodyPr/>
          <a:lstStyle/>
          <a:p>
            <a:r>
              <a:rPr lang="en-US" dirty="0"/>
              <a:t>Git good or git out</a:t>
            </a:r>
          </a:p>
        </p:txBody>
      </p:sp>
    </p:spTree>
    <p:extLst>
      <p:ext uri="{BB962C8B-B14F-4D97-AF65-F5344CB8AC3E}">
        <p14:creationId xmlns:p14="http://schemas.microsoft.com/office/powerpoint/2010/main" val="1016990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A894E-6DF0-75F9-D082-FCDF4223D2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D272FD-8B88-AEC1-00F8-9B138F0B5E5A}"/>
              </a:ext>
            </a:extLst>
          </p:cNvPr>
          <p:cNvSpPr>
            <a:spLocks noGrp="1"/>
          </p:cNvSpPr>
          <p:nvPr>
            <p:ph type="title"/>
          </p:nvPr>
        </p:nvSpPr>
        <p:spPr>
          <a:xfrm>
            <a:off x="340097" y="-83812"/>
            <a:ext cx="10515600" cy="1325563"/>
          </a:xfrm>
        </p:spPr>
        <p:txBody>
          <a:bodyPr>
            <a:normAutofit/>
          </a:bodyPr>
          <a:lstStyle/>
          <a:p>
            <a:r>
              <a:rPr lang="en-US" dirty="0"/>
              <a:t>Git and GitHub</a:t>
            </a:r>
            <a:endParaRPr lang="en-US" sz="3600" dirty="0"/>
          </a:p>
        </p:txBody>
      </p:sp>
      <p:sp>
        <p:nvSpPr>
          <p:cNvPr id="4" name="Slide Number Placeholder 3">
            <a:extLst>
              <a:ext uri="{FF2B5EF4-FFF2-40B4-BE49-F238E27FC236}">
                <a16:creationId xmlns:a16="http://schemas.microsoft.com/office/drawing/2014/main" id="{8C6C4474-1B2B-AB96-F9F4-3940C93A2DF1}"/>
              </a:ext>
            </a:extLst>
          </p:cNvPr>
          <p:cNvSpPr>
            <a:spLocks noGrp="1"/>
          </p:cNvSpPr>
          <p:nvPr>
            <p:ph type="sldNum" sz="quarter" idx="12"/>
          </p:nvPr>
        </p:nvSpPr>
        <p:spPr/>
        <p:txBody>
          <a:bodyPr/>
          <a:lstStyle/>
          <a:p>
            <a:fld id="{545C6241-0FFB-0A47-90CD-D7CEEB6F00AC}" type="slidenum">
              <a:rPr lang="en-US" smtClean="0"/>
              <a:t>30</a:t>
            </a:fld>
            <a:endParaRPr lang="en-US" dirty="0"/>
          </a:p>
        </p:txBody>
      </p:sp>
      <p:sp>
        <p:nvSpPr>
          <p:cNvPr id="3" name="TextBox 2">
            <a:extLst>
              <a:ext uri="{FF2B5EF4-FFF2-40B4-BE49-F238E27FC236}">
                <a16:creationId xmlns:a16="http://schemas.microsoft.com/office/drawing/2014/main" id="{BAEB4DF2-727F-BC9D-F41D-70FF82065C28}"/>
              </a:ext>
            </a:extLst>
          </p:cNvPr>
          <p:cNvSpPr txBox="1"/>
          <p:nvPr/>
        </p:nvSpPr>
        <p:spPr>
          <a:xfrm>
            <a:off x="0" y="6488668"/>
            <a:ext cx="4395730" cy="369332"/>
          </a:xfrm>
          <a:prstGeom prst="rect">
            <a:avLst/>
          </a:prstGeom>
          <a:noFill/>
        </p:spPr>
        <p:txBody>
          <a:bodyPr wrap="square" rtlCol="0">
            <a:spAutoFit/>
          </a:bodyPr>
          <a:lstStyle/>
          <a:p>
            <a:r>
              <a:rPr lang="en-US" dirty="0"/>
              <a:t>GitHub</a:t>
            </a:r>
          </a:p>
        </p:txBody>
      </p:sp>
      <p:sp>
        <p:nvSpPr>
          <p:cNvPr id="7" name="TextBox 6">
            <a:extLst>
              <a:ext uri="{FF2B5EF4-FFF2-40B4-BE49-F238E27FC236}">
                <a16:creationId xmlns:a16="http://schemas.microsoft.com/office/drawing/2014/main" id="{75D4AF41-C926-5CB7-65ED-64C754ADB77A}"/>
              </a:ext>
            </a:extLst>
          </p:cNvPr>
          <p:cNvSpPr txBox="1"/>
          <p:nvPr/>
        </p:nvSpPr>
        <p:spPr>
          <a:xfrm>
            <a:off x="130777" y="1029712"/>
            <a:ext cx="11348799" cy="5509200"/>
          </a:xfrm>
          <a:prstGeom prst="rect">
            <a:avLst/>
          </a:prstGeom>
          <a:noFill/>
        </p:spPr>
        <p:txBody>
          <a:bodyPr wrap="square" rtlCol="0">
            <a:spAutoFit/>
          </a:bodyPr>
          <a:lstStyle/>
          <a:p>
            <a:pPr>
              <a:buNone/>
            </a:pPr>
            <a:r>
              <a:rPr lang="en-US" sz="3200" dirty="0">
                <a:effectLst/>
              </a:rPr>
              <a:t>Git is the system that takes care of your project history, GitHub is one of many online repository hosting platforms utilizing Git. Everyone uses GitHub, if you know GitHub you are set.  </a:t>
            </a:r>
          </a:p>
          <a:p>
            <a:endParaRPr lang="en-US" sz="3200" dirty="0">
              <a:effectLst/>
            </a:endParaRPr>
          </a:p>
          <a:p>
            <a:r>
              <a:rPr lang="en-US" sz="3200" b="1" dirty="0">
                <a:effectLst/>
              </a:rPr>
              <a:t>GitHub is to Git what Steam is for your PC games. </a:t>
            </a:r>
          </a:p>
          <a:p>
            <a:r>
              <a:rPr lang="en-US" sz="3200" b="1" dirty="0">
                <a:effectLst/>
              </a:rPr>
              <a:t>GitHub is to Git what Spotify is for your Songs. </a:t>
            </a:r>
          </a:p>
          <a:p>
            <a:r>
              <a:rPr lang="en-US" sz="3200" b="1" dirty="0">
                <a:effectLst/>
              </a:rPr>
              <a:t>GitHub is to Git what Messenger is for your texting apps. </a:t>
            </a:r>
          </a:p>
          <a:p>
            <a:r>
              <a:rPr lang="en-US" sz="3200" b="1" dirty="0">
                <a:effectLst/>
              </a:rPr>
              <a:t>GitHub is to Git what YouTube is for videos. </a:t>
            </a:r>
          </a:p>
          <a:p>
            <a:r>
              <a:rPr lang="en-US" sz="3200" b="1" dirty="0">
                <a:effectLst/>
              </a:rPr>
              <a:t>GitHub is to Git what Gmail is for your emails. </a:t>
            </a:r>
          </a:p>
          <a:p>
            <a:r>
              <a:rPr lang="en-US" sz="3200" b="1" dirty="0">
                <a:effectLst/>
              </a:rPr>
              <a:t>GitHub is to Git what Google Drive is for your documents. </a:t>
            </a:r>
          </a:p>
          <a:p>
            <a:r>
              <a:rPr lang="en-US" sz="3200" b="1" dirty="0">
                <a:effectLst/>
              </a:rPr>
              <a:t>GitHub is to Git what Finder is for your files. </a:t>
            </a:r>
          </a:p>
        </p:txBody>
      </p:sp>
      <p:sp>
        <p:nvSpPr>
          <p:cNvPr id="5" name="TextBox 4">
            <a:extLst>
              <a:ext uri="{FF2B5EF4-FFF2-40B4-BE49-F238E27FC236}">
                <a16:creationId xmlns:a16="http://schemas.microsoft.com/office/drawing/2014/main" id="{2707EE65-D391-EBC5-9D32-3A3538915692}"/>
              </a:ext>
            </a:extLst>
          </p:cNvPr>
          <p:cNvSpPr txBox="1"/>
          <p:nvPr/>
        </p:nvSpPr>
        <p:spPr>
          <a:xfrm>
            <a:off x="5410611" y="6329124"/>
            <a:ext cx="1852751" cy="369332"/>
          </a:xfrm>
          <a:prstGeom prst="rect">
            <a:avLst/>
          </a:prstGeom>
          <a:noFill/>
        </p:spPr>
        <p:txBody>
          <a:bodyPr wrap="none" rtlCol="0">
            <a:spAutoFit/>
          </a:bodyPr>
          <a:lstStyle/>
          <a:p>
            <a:r>
              <a:rPr lang="en-US" dirty="0"/>
              <a:t>Get the idea yet?</a:t>
            </a:r>
          </a:p>
        </p:txBody>
      </p:sp>
      <p:sp>
        <p:nvSpPr>
          <p:cNvPr id="6" name="TextBox 5">
            <a:extLst>
              <a:ext uri="{FF2B5EF4-FFF2-40B4-BE49-F238E27FC236}">
                <a16:creationId xmlns:a16="http://schemas.microsoft.com/office/drawing/2014/main" id="{85F81A33-7B87-E626-6D36-2068CA8394A5}"/>
              </a:ext>
            </a:extLst>
          </p:cNvPr>
          <p:cNvSpPr txBox="1"/>
          <p:nvPr/>
        </p:nvSpPr>
        <p:spPr>
          <a:xfrm>
            <a:off x="8909951" y="2432394"/>
            <a:ext cx="2144498" cy="307777"/>
          </a:xfrm>
          <a:prstGeom prst="rect">
            <a:avLst/>
          </a:prstGeom>
          <a:noFill/>
        </p:spPr>
        <p:txBody>
          <a:bodyPr wrap="none" rtlCol="0">
            <a:spAutoFit/>
          </a:bodyPr>
          <a:lstStyle/>
          <a:p>
            <a:r>
              <a:rPr lang="en-US" sz="1400" dirty="0"/>
              <a:t>My dad uses Bitbucket 🤮</a:t>
            </a:r>
          </a:p>
        </p:txBody>
      </p:sp>
    </p:spTree>
    <p:extLst>
      <p:ext uri="{BB962C8B-B14F-4D97-AF65-F5344CB8AC3E}">
        <p14:creationId xmlns:p14="http://schemas.microsoft.com/office/powerpoint/2010/main" val="14787911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20C9D-5850-6EDF-A243-164483D33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3FECAF-46EF-7495-1A5C-0F7C440B4E17}"/>
              </a:ext>
            </a:extLst>
          </p:cNvPr>
          <p:cNvSpPr>
            <a:spLocks noGrp="1"/>
          </p:cNvSpPr>
          <p:nvPr>
            <p:ph type="title"/>
          </p:nvPr>
        </p:nvSpPr>
        <p:spPr>
          <a:xfrm>
            <a:off x="340097" y="-83812"/>
            <a:ext cx="10515600" cy="1325563"/>
          </a:xfrm>
        </p:spPr>
        <p:txBody>
          <a:bodyPr>
            <a:normAutofit/>
          </a:bodyPr>
          <a:lstStyle/>
          <a:p>
            <a:r>
              <a:rPr lang="en-US" dirty="0"/>
              <a:t>Creating a Repo (Demonstration)</a:t>
            </a:r>
            <a:endParaRPr lang="en-US" sz="3600" dirty="0"/>
          </a:p>
        </p:txBody>
      </p:sp>
      <p:sp>
        <p:nvSpPr>
          <p:cNvPr id="4" name="Slide Number Placeholder 3">
            <a:extLst>
              <a:ext uri="{FF2B5EF4-FFF2-40B4-BE49-F238E27FC236}">
                <a16:creationId xmlns:a16="http://schemas.microsoft.com/office/drawing/2014/main" id="{0E6238CB-17D2-3844-4B75-ADAE38172B25}"/>
              </a:ext>
            </a:extLst>
          </p:cNvPr>
          <p:cNvSpPr>
            <a:spLocks noGrp="1"/>
          </p:cNvSpPr>
          <p:nvPr>
            <p:ph type="sldNum" sz="quarter" idx="12"/>
          </p:nvPr>
        </p:nvSpPr>
        <p:spPr/>
        <p:txBody>
          <a:bodyPr/>
          <a:lstStyle/>
          <a:p>
            <a:fld id="{545C6241-0FFB-0A47-90CD-D7CEEB6F00AC}" type="slidenum">
              <a:rPr lang="en-US" smtClean="0"/>
              <a:t>31</a:t>
            </a:fld>
            <a:endParaRPr lang="en-US" dirty="0"/>
          </a:p>
        </p:txBody>
      </p:sp>
      <p:sp>
        <p:nvSpPr>
          <p:cNvPr id="3" name="TextBox 2">
            <a:extLst>
              <a:ext uri="{FF2B5EF4-FFF2-40B4-BE49-F238E27FC236}">
                <a16:creationId xmlns:a16="http://schemas.microsoft.com/office/drawing/2014/main" id="{9F7CBC4D-ADA1-A35A-D318-556303720A98}"/>
              </a:ext>
            </a:extLst>
          </p:cNvPr>
          <p:cNvSpPr txBox="1"/>
          <p:nvPr/>
        </p:nvSpPr>
        <p:spPr>
          <a:xfrm>
            <a:off x="0" y="6488668"/>
            <a:ext cx="4395730" cy="369332"/>
          </a:xfrm>
          <a:prstGeom prst="rect">
            <a:avLst/>
          </a:prstGeom>
          <a:noFill/>
        </p:spPr>
        <p:txBody>
          <a:bodyPr wrap="square" rtlCol="0">
            <a:spAutoFit/>
          </a:bodyPr>
          <a:lstStyle/>
          <a:p>
            <a:r>
              <a:rPr lang="en-US" dirty="0"/>
              <a:t>GitHub</a:t>
            </a:r>
          </a:p>
        </p:txBody>
      </p:sp>
      <p:sp>
        <p:nvSpPr>
          <p:cNvPr id="8" name="TextBox 7">
            <a:extLst>
              <a:ext uri="{FF2B5EF4-FFF2-40B4-BE49-F238E27FC236}">
                <a16:creationId xmlns:a16="http://schemas.microsoft.com/office/drawing/2014/main" id="{632C1C3E-A855-CB06-D1D6-3C052F29388F}"/>
              </a:ext>
            </a:extLst>
          </p:cNvPr>
          <p:cNvSpPr txBox="1"/>
          <p:nvPr/>
        </p:nvSpPr>
        <p:spPr>
          <a:xfrm>
            <a:off x="340097" y="1241751"/>
            <a:ext cx="2996461" cy="369332"/>
          </a:xfrm>
          <a:prstGeom prst="rect">
            <a:avLst/>
          </a:prstGeom>
          <a:noFill/>
        </p:spPr>
        <p:txBody>
          <a:bodyPr wrap="none" rtlCol="0">
            <a:spAutoFit/>
          </a:bodyPr>
          <a:lstStyle/>
          <a:p>
            <a:r>
              <a:rPr lang="en-US" dirty="0"/>
              <a:t>Make one for your program </a:t>
            </a:r>
            <a:r>
              <a:rPr lang="en-US" dirty="0">
                <a:sym typeface="Wingdings" pitchFamily="2" charset="2"/>
              </a:rPr>
              <a:t>:)</a:t>
            </a:r>
            <a:endParaRPr lang="en-US" dirty="0"/>
          </a:p>
        </p:txBody>
      </p:sp>
    </p:spTree>
    <p:extLst>
      <p:ext uri="{BB962C8B-B14F-4D97-AF65-F5344CB8AC3E}">
        <p14:creationId xmlns:p14="http://schemas.microsoft.com/office/powerpoint/2010/main" val="41315307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F6EA7-214A-2D87-9228-90DF83F6CC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15089D-2D07-504C-EABA-D6A9F8B7249E}"/>
              </a:ext>
            </a:extLst>
          </p:cNvPr>
          <p:cNvSpPr>
            <a:spLocks noGrp="1"/>
          </p:cNvSpPr>
          <p:nvPr>
            <p:ph type="title"/>
          </p:nvPr>
        </p:nvSpPr>
        <p:spPr>
          <a:xfrm>
            <a:off x="340097" y="97699"/>
            <a:ext cx="10515600" cy="1325563"/>
          </a:xfrm>
        </p:spPr>
        <p:txBody>
          <a:bodyPr>
            <a:normAutofit/>
          </a:bodyPr>
          <a:lstStyle/>
          <a:p>
            <a:r>
              <a:rPr lang="en-US" dirty="0"/>
              <a:t>Making Branches, PR’s, Commits, Pulls/Pushes</a:t>
            </a:r>
            <a:endParaRPr lang="en-US" sz="3600" dirty="0"/>
          </a:p>
        </p:txBody>
      </p:sp>
      <p:sp>
        <p:nvSpPr>
          <p:cNvPr id="4" name="Slide Number Placeholder 3">
            <a:extLst>
              <a:ext uri="{FF2B5EF4-FFF2-40B4-BE49-F238E27FC236}">
                <a16:creationId xmlns:a16="http://schemas.microsoft.com/office/drawing/2014/main" id="{7B67E2E6-30D1-BF1E-4ADF-8657EFB82527}"/>
              </a:ext>
            </a:extLst>
          </p:cNvPr>
          <p:cNvSpPr>
            <a:spLocks noGrp="1"/>
          </p:cNvSpPr>
          <p:nvPr>
            <p:ph type="sldNum" sz="quarter" idx="12"/>
          </p:nvPr>
        </p:nvSpPr>
        <p:spPr/>
        <p:txBody>
          <a:bodyPr/>
          <a:lstStyle/>
          <a:p>
            <a:fld id="{545C6241-0FFB-0A47-90CD-D7CEEB6F00AC}" type="slidenum">
              <a:rPr lang="en-US" smtClean="0"/>
              <a:t>32</a:t>
            </a:fld>
            <a:endParaRPr lang="en-US" dirty="0"/>
          </a:p>
        </p:txBody>
      </p:sp>
      <p:sp>
        <p:nvSpPr>
          <p:cNvPr id="3" name="TextBox 2">
            <a:extLst>
              <a:ext uri="{FF2B5EF4-FFF2-40B4-BE49-F238E27FC236}">
                <a16:creationId xmlns:a16="http://schemas.microsoft.com/office/drawing/2014/main" id="{B84D9FEB-4080-36A9-6EB7-00497A84AC9F}"/>
              </a:ext>
            </a:extLst>
          </p:cNvPr>
          <p:cNvSpPr txBox="1"/>
          <p:nvPr/>
        </p:nvSpPr>
        <p:spPr>
          <a:xfrm>
            <a:off x="0" y="6488668"/>
            <a:ext cx="4395730" cy="369332"/>
          </a:xfrm>
          <a:prstGeom prst="rect">
            <a:avLst/>
          </a:prstGeom>
          <a:noFill/>
        </p:spPr>
        <p:txBody>
          <a:bodyPr wrap="square" rtlCol="0">
            <a:spAutoFit/>
          </a:bodyPr>
          <a:lstStyle/>
          <a:p>
            <a:r>
              <a:rPr lang="en-US" dirty="0"/>
              <a:t>GitHub</a:t>
            </a:r>
          </a:p>
        </p:txBody>
      </p:sp>
      <p:sp>
        <p:nvSpPr>
          <p:cNvPr id="8" name="TextBox 7">
            <a:extLst>
              <a:ext uri="{FF2B5EF4-FFF2-40B4-BE49-F238E27FC236}">
                <a16:creationId xmlns:a16="http://schemas.microsoft.com/office/drawing/2014/main" id="{3187C374-36CF-72F5-78E7-EAE7EF7DB44C}"/>
              </a:ext>
            </a:extLst>
          </p:cNvPr>
          <p:cNvSpPr txBox="1"/>
          <p:nvPr/>
        </p:nvSpPr>
        <p:spPr>
          <a:xfrm>
            <a:off x="421064" y="1538672"/>
            <a:ext cx="3553602" cy="369332"/>
          </a:xfrm>
          <a:prstGeom prst="rect">
            <a:avLst/>
          </a:prstGeom>
          <a:noFill/>
        </p:spPr>
        <p:txBody>
          <a:bodyPr wrap="none" rtlCol="0">
            <a:spAutoFit/>
          </a:bodyPr>
          <a:lstStyle/>
          <a:p>
            <a:r>
              <a:rPr lang="en-US" dirty="0"/>
              <a:t>Demonstration but you can do too</a:t>
            </a:r>
          </a:p>
        </p:txBody>
      </p:sp>
    </p:spTree>
    <p:extLst>
      <p:ext uri="{BB962C8B-B14F-4D97-AF65-F5344CB8AC3E}">
        <p14:creationId xmlns:p14="http://schemas.microsoft.com/office/powerpoint/2010/main" val="3035336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513F5-32BD-4330-D04F-061C80E0B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3AD16-2677-87D8-721A-79AA1603630F}"/>
              </a:ext>
            </a:extLst>
          </p:cNvPr>
          <p:cNvSpPr>
            <a:spLocks noGrp="1"/>
          </p:cNvSpPr>
          <p:nvPr>
            <p:ph type="title"/>
          </p:nvPr>
        </p:nvSpPr>
        <p:spPr>
          <a:xfrm>
            <a:off x="340097" y="97699"/>
            <a:ext cx="10515600" cy="1325563"/>
          </a:xfrm>
        </p:spPr>
        <p:txBody>
          <a:bodyPr>
            <a:normAutofit/>
          </a:bodyPr>
          <a:lstStyle/>
          <a:p>
            <a:r>
              <a:rPr lang="en-US" dirty="0"/>
              <a:t>Good Commits / Comments</a:t>
            </a:r>
            <a:endParaRPr lang="en-US" sz="3600" dirty="0"/>
          </a:p>
        </p:txBody>
      </p:sp>
      <p:sp>
        <p:nvSpPr>
          <p:cNvPr id="4" name="Slide Number Placeholder 3">
            <a:extLst>
              <a:ext uri="{FF2B5EF4-FFF2-40B4-BE49-F238E27FC236}">
                <a16:creationId xmlns:a16="http://schemas.microsoft.com/office/drawing/2014/main" id="{6E11A0E2-58CA-B9E8-FB86-004648D95BBB}"/>
              </a:ext>
            </a:extLst>
          </p:cNvPr>
          <p:cNvSpPr>
            <a:spLocks noGrp="1"/>
          </p:cNvSpPr>
          <p:nvPr>
            <p:ph type="sldNum" sz="quarter" idx="12"/>
          </p:nvPr>
        </p:nvSpPr>
        <p:spPr/>
        <p:txBody>
          <a:bodyPr/>
          <a:lstStyle/>
          <a:p>
            <a:fld id="{545C6241-0FFB-0A47-90CD-D7CEEB6F00AC}" type="slidenum">
              <a:rPr lang="en-US" smtClean="0"/>
              <a:t>33</a:t>
            </a:fld>
            <a:endParaRPr lang="en-US" dirty="0"/>
          </a:p>
        </p:txBody>
      </p:sp>
      <p:sp>
        <p:nvSpPr>
          <p:cNvPr id="3" name="TextBox 2">
            <a:extLst>
              <a:ext uri="{FF2B5EF4-FFF2-40B4-BE49-F238E27FC236}">
                <a16:creationId xmlns:a16="http://schemas.microsoft.com/office/drawing/2014/main" id="{35D2B7B9-6004-F42E-88D0-4B8E46C69B5E}"/>
              </a:ext>
            </a:extLst>
          </p:cNvPr>
          <p:cNvSpPr txBox="1"/>
          <p:nvPr/>
        </p:nvSpPr>
        <p:spPr>
          <a:xfrm>
            <a:off x="0" y="6488668"/>
            <a:ext cx="4395730" cy="369332"/>
          </a:xfrm>
          <a:prstGeom prst="rect">
            <a:avLst/>
          </a:prstGeom>
          <a:noFill/>
        </p:spPr>
        <p:txBody>
          <a:bodyPr wrap="square" rtlCol="0">
            <a:spAutoFit/>
          </a:bodyPr>
          <a:lstStyle/>
          <a:p>
            <a:r>
              <a:rPr lang="en-US" dirty="0"/>
              <a:t>GitHub</a:t>
            </a:r>
          </a:p>
        </p:txBody>
      </p:sp>
      <p:sp>
        <p:nvSpPr>
          <p:cNvPr id="8" name="TextBox 7">
            <a:extLst>
              <a:ext uri="{FF2B5EF4-FFF2-40B4-BE49-F238E27FC236}">
                <a16:creationId xmlns:a16="http://schemas.microsoft.com/office/drawing/2014/main" id="{B5FBF4B3-26DF-C846-9B50-5BF0C36DEB1F}"/>
              </a:ext>
            </a:extLst>
          </p:cNvPr>
          <p:cNvSpPr txBox="1"/>
          <p:nvPr/>
        </p:nvSpPr>
        <p:spPr>
          <a:xfrm>
            <a:off x="421064" y="1538672"/>
            <a:ext cx="3553602" cy="369332"/>
          </a:xfrm>
          <a:prstGeom prst="rect">
            <a:avLst/>
          </a:prstGeom>
          <a:noFill/>
        </p:spPr>
        <p:txBody>
          <a:bodyPr wrap="none" rtlCol="0">
            <a:spAutoFit/>
          </a:bodyPr>
          <a:lstStyle/>
          <a:p>
            <a:r>
              <a:rPr lang="en-US" dirty="0"/>
              <a:t>Demonstration but you can do too</a:t>
            </a:r>
          </a:p>
        </p:txBody>
      </p:sp>
    </p:spTree>
    <p:extLst>
      <p:ext uri="{BB962C8B-B14F-4D97-AF65-F5344CB8AC3E}">
        <p14:creationId xmlns:p14="http://schemas.microsoft.com/office/powerpoint/2010/main" val="3659813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1347</TotalTime>
  <Words>1771</Words>
  <Application>Microsoft Macintosh PowerPoint</Application>
  <PresentationFormat>Widescreen</PresentationFormat>
  <Paragraphs>265</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Arial</vt:lpstr>
      <vt:lpstr>Wingdings</vt:lpstr>
      <vt:lpstr>Office Theme</vt:lpstr>
      <vt:lpstr>Java for FTC 101 </vt:lpstr>
      <vt:lpstr>Overview</vt:lpstr>
      <vt:lpstr>Recap Session 1</vt:lpstr>
      <vt:lpstr>Primitive data types </vt:lpstr>
      <vt:lpstr>(Other) Variables and Data Types</vt:lpstr>
      <vt:lpstr>Inline Math</vt:lpstr>
      <vt:lpstr>Inline Math++</vt:lpstr>
      <vt:lpstr>Understanding OpMode structure</vt:lpstr>
      <vt:lpstr>Start Downloading GitHub Desktop and Android Studio (with FTC SDK) now if not already done</vt:lpstr>
      <vt:lpstr>Classes and Methods </vt:lpstr>
      <vt:lpstr>Class members and instance variables</vt:lpstr>
      <vt:lpstr>Example Class</vt:lpstr>
      <vt:lpstr>Defining a Method</vt:lpstr>
      <vt:lpstr>Instance Variables</vt:lpstr>
      <vt:lpstr>Instance Variables</vt:lpstr>
      <vt:lpstr>The Constructor</vt:lpstr>
      <vt:lpstr>The Constructor</vt:lpstr>
      <vt:lpstr>Example Class – Any Questions??</vt:lpstr>
      <vt:lpstr>Gamepad Controls</vt:lpstr>
      <vt:lpstr>The Gamepad</vt:lpstr>
      <vt:lpstr>The Gamepad</vt:lpstr>
      <vt:lpstr>Reading analog inputs</vt:lpstr>
      <vt:lpstr>Reading Inputs</vt:lpstr>
      <vt:lpstr>Building Your FIRST ® Interactive Program</vt:lpstr>
      <vt:lpstr>Creating a gamepad test program</vt:lpstr>
      <vt:lpstr>(Answers) Creating a gamepad test program</vt:lpstr>
      <vt:lpstr>Sending (your) Code to the Robot Controller</vt:lpstr>
      <vt:lpstr>Creating a gamepad test program</vt:lpstr>
      <vt:lpstr>GitHub</vt:lpstr>
      <vt:lpstr>Git and GitHub</vt:lpstr>
      <vt:lpstr>Creating a Repo (Demonstration)</vt:lpstr>
      <vt:lpstr>Making Branches, PR’s, Commits, Pulls/Pushes</vt:lpstr>
      <vt:lpstr>Good Commits / Comments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Allen, Matthew</dc:creator>
  <cp:lastModifiedBy>Allen, Matthew</cp:lastModifiedBy>
  <cp:revision>65</cp:revision>
  <dcterms:created xsi:type="dcterms:W3CDTF">2025-03-03T17:48:21Z</dcterms:created>
  <dcterms:modified xsi:type="dcterms:W3CDTF">2025-04-14T18:10:33Z</dcterms:modified>
</cp:coreProperties>
</file>