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6" r:id="rId4"/>
    <p:sldId id="271" r:id="rId5"/>
    <p:sldId id="272" r:id="rId6"/>
    <p:sldId id="273" r:id="rId7"/>
    <p:sldId id="274" r:id="rId8"/>
    <p:sldId id="319" r:id="rId9"/>
    <p:sldId id="317" r:id="rId10"/>
    <p:sldId id="318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6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73"/>
    <p:restoredTop sz="94633"/>
  </p:normalViewPr>
  <p:slideViewPr>
    <p:cSldViewPr snapToGrid="0">
      <p:cViewPr>
        <p:scale>
          <a:sx n="74" d="100"/>
          <a:sy n="74" d="100"/>
        </p:scale>
        <p:origin x="592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5F4CB-0278-9F44-B9E9-81B157B7B4ED}" type="datetimeFigureOut">
              <a:rPr lang="en-US" smtClean="0"/>
              <a:t>4/21/25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A2F56-73F2-E24D-8920-A1C8445030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6855-3990-4A92-9C26-81DFE04F3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05939-BF58-B59D-AD9C-1BA816C30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6FED1-8268-3F30-393C-4E53F654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EC2F-9E6E-F946-9C69-3B6C525DE0FF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A34BD-529A-0DA1-56FC-492BA4E9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6A6E7-4C78-BA15-769D-ED1A85EB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4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2CA0-ABDD-CF92-F5BF-E973231D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673C7-65BF-2074-7DDD-D9FFF5B74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43E3A-7086-FAE4-5C2A-C3B8AB62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1ACD-34BE-AA4B-ACD5-1672EC57E1D8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86422-1D0C-3019-444F-FF708E25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DEE60-0E53-C7BA-BA9A-152966C4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2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E490-2670-1C39-44A8-BE94171E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05B6C-337C-B060-9D27-4E747BDF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68E39-EFB5-4954-7735-FB9CAFC9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C0ED-5257-9E4A-BFF2-C26014F0D24E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9E57D-0FFE-3A63-75C0-8E3283E3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CFE24-0F60-B520-D9A6-BD90B30F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12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381E-0DF0-BAFC-4E8F-3E06BEEF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D8B88-8633-880F-E3F5-3DBB4563A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F9402-D36B-D067-A431-24F497DDC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3CF6A-2D73-5F8E-2752-0241096A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DCC0-8B6E-614A-B76F-8D957F932626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50B20-8CEE-FD3B-96C8-2DC67F56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A6B1-107C-B592-C23F-36EFD027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9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51A1-905A-DA37-904E-F5D4F0CC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65CD2-620F-587F-FA66-41ED128C6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DD9F2-0F6A-0452-CE44-CDF44D2C0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D8C24-9E79-220F-D0A0-9EA1B0A5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097047-9C91-207D-E663-A12504676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D0527-8637-84C2-CDE4-20CCCDAD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9748-401C-2B47-9454-7456364B524B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614B9-7D20-871F-F96C-35391A47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5186E-2AB7-324E-AE3F-246B4085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2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36B9-7C5B-0D2E-AE05-8DB94BED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9B2AF-0DC0-BEFF-81B6-65B58CDC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B9D1-482C-EA49-B7D7-44D33DABA1A1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61D39-E8B6-11B1-862F-AF7DA936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FBCC1-4729-1C07-9C49-221D7AF7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71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D9141-6F36-CF8E-0FBE-E4356B42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02CE-140F-F448-9043-77595DF7D7FF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7328D-A985-46EF-1C0E-67FFACAB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C4240-2307-437D-BC9B-4D05299B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44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E0AA-133E-2A18-B91F-2BA50145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EA981-AE7A-96AD-B9D6-D818CDE40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5D0C3-A75E-41B4-1F6A-C3CD08B84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96029-3CED-1F0A-CC2E-0FB7853D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667F-83E4-E949-9982-2F5B12D86D09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7D9E8-B6FD-EB01-DC5C-A2A61177B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CDE32-B248-77E7-C340-04E435C4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5ACF-E119-E2EF-5AF9-E7C562B7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2C2F4-7E9A-F55D-236C-4D2C1131F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23E8F-AA6F-EF64-5389-597CA5E8A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B7ADB-F4FB-6287-993E-B65CD4472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F7725-F5B9-6D4D-BEC8-D188841C7AE7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D06DE-1C1E-5CFF-A4EA-98CB0AF6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E1D51-A940-A713-9688-5BB49C21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51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9A71-50C1-5649-961C-F9F547ED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05845-273F-A518-F262-8BA695932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015FA-36C3-1CD7-B9E3-F92C9D43A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CBD-DC20-A943-8218-3EA4090BEF4D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EC4C9-8269-4479-62AC-3E8FA8E2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9211E-A92D-6C0E-6531-17519E76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2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FE97D-14EC-9436-994D-28A57585A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3B45B-E480-2271-5B88-89438E605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A106-0EF8-4F5A-3E5B-C20DA3AF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7FB8-6074-7D45-BE7B-175B0DF567DF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4818A-10D7-4AB5-B02A-A16D62CC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D94B8-8E49-435B-6BF0-C40859F2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2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49BEBD-4DE9-EF3C-53A2-D8CC9D33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BEFF1-75A7-57D9-3B95-11252BC0C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6AF33-0EDE-C447-2C60-9EE577496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293C7-F963-2547-AE4C-B4B31A8C0419}" type="datetime1">
              <a:rPr lang="en-US" smtClean="0"/>
              <a:t>4/21/25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10DFE-C85D-2A86-EA42-33AE96001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6072-AD0F-F335-7B50-BBDCA42FB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14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FB11-C0B3-28C9-4732-2B7FD399D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for FTC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708E2-47EC-D5E9-BE11-8EC596E04A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3: Class Structure and Basic Driving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2AE80-2BCC-84C5-063E-CE8708D9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4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40AE-5C2B-C142-AF43-18B6122B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57BF1-97C7-8966-417B-45DB1A3E1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Organization and Best Practices</a:t>
            </a:r>
          </a:p>
          <a:p>
            <a:r>
              <a:rPr lang="en-US" dirty="0"/>
              <a:t>Session 2 Project</a:t>
            </a:r>
          </a:p>
          <a:p>
            <a:r>
              <a:rPr lang="en-US" dirty="0"/>
              <a:t>Motor Control Fundamentals</a:t>
            </a:r>
          </a:p>
          <a:p>
            <a:r>
              <a:rPr lang="en-US" dirty="0"/>
              <a:t>Your First Driving Robot</a:t>
            </a:r>
          </a:p>
          <a:p>
            <a:r>
              <a:rPr lang="en-US" dirty="0"/>
              <a:t>Working with Servos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E3155-D779-93CA-0B3E-22DE5FA0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77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255F-8A1C-74B9-03DE-1CC30E929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Organization and </a:t>
            </a:r>
            <a:br>
              <a:rPr lang="en-US" dirty="0"/>
            </a:br>
            <a:r>
              <a:rPr lang="en-US" dirty="0"/>
              <a:t>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6B954-EB4A-300F-8B3C-2B99A9AA06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 it right or don’t do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4707F-0F75-9F2E-1F60-9181D759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2D46-A9F1-6986-D861-DF88B2E1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E7FE-2611-A89E-C64B-A508CC1C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41DCC-8E6A-D8A7-EAD0-6C8815D7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2FD20-6E7E-2A50-002B-4A88B09B4D2A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Organization and Best Practices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ACCCE-F774-3EC1-8619-C45568D552E9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CAEEFD2-6760-2306-5ED2-9B5EFAE28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322" y="1752289"/>
            <a:ext cx="966087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Java, when you create a class it always “inherits” from a class.</a:t>
            </a:r>
          </a:p>
          <a:p>
            <a:r>
              <a:rPr lang="en-US" dirty="0"/>
              <a:t>If you don’t use the extends keyword then it is inheriting from the Object class in Java.</a:t>
            </a:r>
          </a:p>
          <a:p>
            <a:r>
              <a:rPr lang="en-US" dirty="0"/>
              <a:t>You can think about inheritance as your new class containing all of the super class (parent) plus any new content.</a:t>
            </a:r>
          </a:p>
          <a:p>
            <a:pPr lvl="1"/>
            <a:r>
              <a:rPr lang="en-US" dirty="0"/>
              <a:t>If you have a class method with the exact same name and parameters, then it will replace it. </a:t>
            </a:r>
          </a:p>
          <a:p>
            <a:pPr lvl="1"/>
            <a:r>
              <a:rPr lang="en-US" dirty="0"/>
              <a:t>You should put an @Override annotation on it so that everyone knows that was intentional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85252-AB87-5E98-C804-7E974B58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6173" y="2975161"/>
            <a:ext cx="22606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3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E622-38A9-E679-EC45-A6AF0BA1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B64E-D4E4-6DFC-8B4F-5368CE99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943CA-466B-020D-0995-4166F5DC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CCA6B-778C-EF33-3180-5FA501BBECEA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Organization and Best Practices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2905CB-A5F1-F882-546B-5B2BDA7F9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16" y="1455554"/>
            <a:ext cx="5834405" cy="4109107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EF503B-65D1-B3CA-2EA9-35425A199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827" y="365125"/>
            <a:ext cx="5607174" cy="4160979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678F90-1BC7-958E-EF16-DDCE44A41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127" y="1455555"/>
            <a:ext cx="5338097" cy="5417180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DD6328-0258-3758-E0E0-895114072B07}"/>
              </a:ext>
            </a:extLst>
          </p:cNvPr>
          <p:cNvSpPr txBox="1"/>
          <p:nvPr/>
        </p:nvSpPr>
        <p:spPr>
          <a:xfrm>
            <a:off x="605927" y="5917030"/>
            <a:ext cx="594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you guess what will show up on the telemetry screen?</a:t>
            </a:r>
          </a:p>
        </p:txBody>
      </p:sp>
    </p:spTree>
    <p:extLst>
      <p:ext uri="{BB962C8B-B14F-4D97-AF65-F5344CB8AC3E}">
        <p14:creationId xmlns:p14="http://schemas.microsoft.com/office/powerpoint/2010/main" val="385352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B41F-59BC-3A7D-95C5-D2D9AE2C4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AC3C41-3E76-DF54-256D-AA03D9A27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632" y="2697021"/>
            <a:ext cx="5607174" cy="4160979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0B6B1-044C-9204-7114-09D9F496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96DF2-C5F4-DF1C-76EF-FE2D636F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7C0D3-F0EC-7A10-C87B-8A6B317258E7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Organization and Best Practices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9196B4-9610-3B76-1B28-95AA13EBA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5774"/>
            <a:ext cx="4785277" cy="4856170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D2DB3A-DE4D-697B-826F-9E184F55CB4F}"/>
              </a:ext>
            </a:extLst>
          </p:cNvPr>
          <p:cNvSpPr txBox="1"/>
          <p:nvPr/>
        </p:nvSpPr>
        <p:spPr>
          <a:xfrm>
            <a:off x="4916392" y="1745324"/>
            <a:ext cx="12493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 a: a</a:t>
            </a:r>
          </a:p>
          <a:p>
            <a:r>
              <a:rPr lang="en-US" dirty="0"/>
              <a:t>Parent b: b</a:t>
            </a:r>
          </a:p>
          <a:p>
            <a:r>
              <a:rPr lang="en-US" dirty="0"/>
              <a:t>Child a: A</a:t>
            </a:r>
          </a:p>
          <a:p>
            <a:r>
              <a:rPr lang="en-US" dirty="0"/>
              <a:t>Child b: b</a:t>
            </a:r>
          </a:p>
          <a:p>
            <a:r>
              <a:rPr lang="en-US" dirty="0"/>
              <a:t>Child c: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8B794-CFCF-E703-7192-17CA463BC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632" y="-914413"/>
            <a:ext cx="5515686" cy="3884637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2041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7327-BE63-CD5B-04A7-9EFA27FA2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1160-7E3A-45F5-6799-803A27A75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46" y="136525"/>
            <a:ext cx="10515600" cy="1325563"/>
          </a:xfrm>
        </p:spPr>
        <p:txBody>
          <a:bodyPr/>
          <a:lstStyle/>
          <a:p>
            <a:r>
              <a:rPr lang="en-US" dirty="0"/>
              <a:t>Javadoc and proper documentation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45AC0-3DDA-DA8B-D857-942B493BE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0EC1A-9FF8-9F40-4705-9303E77DEC21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Organization and Best Practices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541B5-9F59-2F2A-63BF-7A696FEB7025}"/>
              </a:ext>
            </a:extLst>
          </p:cNvPr>
          <p:cNvSpPr txBox="1"/>
          <p:nvPr/>
        </p:nvSpPr>
        <p:spPr>
          <a:xfrm>
            <a:off x="457201" y="1318437"/>
            <a:ext cx="74214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to use:</a:t>
            </a:r>
          </a:p>
          <a:p>
            <a:r>
              <a:rPr lang="en-US" dirty="0"/>
              <a:t>1. Android Studio will pick it up and give help to people using your classes</a:t>
            </a:r>
          </a:p>
          <a:p>
            <a:r>
              <a:rPr lang="en-US" dirty="0"/>
              <a:t>2. Autogenerating documentation that will amaze the judges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9689E1-70F5-4B32-CC5D-F1119E0E9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6" y="2438678"/>
            <a:ext cx="5448300" cy="1536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614495-F4FE-3044-7935-3F778CF0B8F9}"/>
              </a:ext>
            </a:extLst>
          </p:cNvPr>
          <p:cNvSpPr txBox="1"/>
          <p:nvPr/>
        </p:nvSpPr>
        <p:spPr>
          <a:xfrm>
            <a:off x="3987209" y="3062406"/>
            <a:ext cx="3345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ß"/>
            </a:pPr>
            <a:r>
              <a:rPr lang="en-US" dirty="0"/>
              <a:t>Use auto-complete because </a:t>
            </a:r>
          </a:p>
          <a:p>
            <a:pPr lvl="2"/>
            <a:r>
              <a:rPr lang="en-US" dirty="0"/>
              <a:t>that’s </a:t>
            </a:r>
            <a:r>
              <a:rPr lang="en-US" dirty="0" err="1"/>
              <a:t>hella</a:t>
            </a:r>
            <a:r>
              <a:rPr lang="en-US" dirty="0"/>
              <a:t> ugly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699C5D-BA76-C33D-0D80-923169B1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98" y="3910568"/>
            <a:ext cx="70866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2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365C-AC70-DD4A-A9C2-4C229F40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0AA34-FF6F-1FE9-C1CA-619B082363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Session 2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7CC58-FB28-81B7-8DBF-399B51D0F2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B6862-74FE-F47A-50E5-00DE8FF2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63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EDBB2-208D-8DB9-6FA3-F64BA628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A90E-5126-4F07-F525-820EECFD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Creating a gamepad test program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B5CFF-85E7-0B1A-6A93-5674729AF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2D4F2-F4CE-FCB2-FB39-EDE7F832A77B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Building Your First Interactive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FB2BF-4645-ECFF-7F8B-FE896E23BB77}"/>
              </a:ext>
            </a:extLst>
          </p:cNvPr>
          <p:cNvSpPr txBox="1"/>
          <p:nvPr/>
        </p:nvSpPr>
        <p:spPr>
          <a:xfrm>
            <a:off x="130777" y="1318868"/>
            <a:ext cx="113487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Can you do the following?</a:t>
            </a:r>
          </a:p>
          <a:p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Add telemetry to show the right stick of gamepad1.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Add telemetry to show whether the b button is pressed on gamepad1.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Report to the user the difference between the left joystick y and the right joystick y on gamepad1.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Report to the user the sum of the left and right triggers on gamepad1.</a:t>
            </a:r>
          </a:p>
        </p:txBody>
      </p:sp>
    </p:spTree>
    <p:extLst>
      <p:ext uri="{BB962C8B-B14F-4D97-AF65-F5344CB8AC3E}">
        <p14:creationId xmlns:p14="http://schemas.microsoft.com/office/powerpoint/2010/main" val="125232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5C9EC-56F6-CCF0-9D2A-F96DE510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85BE-F3FB-3832-718E-2C3B5DD6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(Answers) Creating a gamepad test program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8503B-2F87-0B24-7B58-45842C7D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5AF0C-464E-C527-5603-1B0216BF5634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Building Your First Interactive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BF247-FD82-C196-7D13-8E84534C0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55" y="1121076"/>
            <a:ext cx="7772400" cy="507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0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4CFC-03BF-9B82-3467-B6550602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BE00-954B-E999-059E-3ADD1BE2F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Motor Control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203E3-8B13-D366-942C-E31898922B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 start is less then an hour! </a:t>
            </a:r>
            <a:r>
              <a:rPr lang="en-US" dirty="0">
                <a:sym typeface="Wingdings" pitchFamily="2" charset="2"/>
              </a:rPr>
              <a:t>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463E2-8285-E245-373E-8598F128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1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71092-1865-FDDA-CD85-00D6A697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EC97-D00A-6300-8366-3F60E26F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a motor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C3983-7FBC-202B-A9CE-46A4D2FB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5240A-7E70-7241-021A-862C54C4A4B2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1AB6B91-296E-B301-CC5D-964CED392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51" y="858261"/>
            <a:ext cx="11168258" cy="297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7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E3B8-7CC8-9AFE-8101-85442A01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0B09-2848-5F56-DA72-9C0523FBF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a motor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B36A9-1901-0D27-4ADB-33D779EF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EF826-096F-51FF-908A-8E61816C9B2B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3B1F919-9EE5-AB8F-A4D4-48B783095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51" y="858261"/>
            <a:ext cx="11168258" cy="2970805"/>
          </a:xfrm>
          <a:prstGeom prst="rect">
            <a:avLst/>
          </a:prstGeom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952E173-1405-336F-8FC8-A64BD4AEA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44" y="2754391"/>
            <a:ext cx="10984165" cy="297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34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5ED2-9674-34CC-1A31-71A4F97E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6E98-B5EF-8D5F-95BF-66F487A4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a motor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A384D-AFB4-1377-0419-66D1F9B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8E523-6CD9-B75B-C065-1E0FAC255AA7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133ABD4-C7E3-FE7C-1EF2-DE19D42B7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17" y="792102"/>
            <a:ext cx="10984165" cy="2970805"/>
          </a:xfrm>
          <a:prstGeom prst="rect">
            <a:avLst/>
          </a:prstGeom>
        </p:spPr>
      </p:pic>
      <p:pic>
        <p:nvPicPr>
          <p:cNvPr id="8" name="Picture 7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E6B12256-BB75-C6C3-6C8B-75D6EB05F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738948"/>
            <a:ext cx="10745257" cy="26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66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AD18-DD1E-3561-E5D9-751E63AE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0CEC-B876-4583-9438-77C11B66E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a motor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226A5-1D74-6DA9-155F-0506C4E8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D313D-D40C-BC58-6A8E-29A92FC5FD46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8" name="Picture 7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8527F2C1-3D14-5487-F273-3ECA8D71F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71" y="780700"/>
            <a:ext cx="10745257" cy="2648300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73AEF16-F342-7F99-9CA6-3C50FD1FD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30" y="2828554"/>
            <a:ext cx="10983502" cy="301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9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F5C3-2950-9F02-7884-B8FD31AB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F94FF-1EA7-D6AD-0D05-D88629EDE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a motor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537D0-7E6C-F85C-88D1-DED8FBC3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86433-1B59-4AB3-1B4A-B34A9A90848F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E7DCE96-F63C-FEF2-E85B-321DEE6FB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49" y="752522"/>
            <a:ext cx="10983502" cy="3010386"/>
          </a:xfrm>
          <a:prstGeom prst="rect">
            <a:avLst/>
          </a:prstGeom>
        </p:spPr>
      </p:pic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9F6EAEA9-482E-4831-659A-F18AC64C3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11" y="3095092"/>
            <a:ext cx="10771340" cy="301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7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60FA-3396-49DB-2771-205005A9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B974-9D0B-DD69-ED03-7C525ECA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a motor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1BC68-1420-00A5-BC5F-143EB78B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8B723-A98F-F268-D00A-4D0D34D77E76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08994CA9-41CD-D527-8855-AC3D2C361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79" y="818681"/>
            <a:ext cx="8856398" cy="2475196"/>
          </a:xfrm>
          <a:prstGeom prst="rect">
            <a:avLst/>
          </a:prstGeom>
        </p:spPr>
      </p:pic>
      <p:pic>
        <p:nvPicPr>
          <p:cNvPr id="8" name="Picture 7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DDEDAFDE-4900-0663-90DF-39B1672A2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79" y="2645102"/>
            <a:ext cx="10035203" cy="343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1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B378-2466-EE6A-547F-E81E433A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3E35-0490-D9D8-F439-7F83C6F2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a motor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07A4F-7385-4D0D-3CB1-F1C216C9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8B5D61-CF32-5EC3-009A-D161CD14E92C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7" name="Picture 6" descr="A list of text on a white background&#10;&#10;AI-generated content may be incorrect.">
            <a:extLst>
              <a:ext uri="{FF2B5EF4-FFF2-40B4-BE49-F238E27FC236}">
                <a16:creationId xmlns:a16="http://schemas.microsoft.com/office/drawing/2014/main" id="{5D558F58-3833-3F30-C4F7-54390F1C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9466"/>
            <a:ext cx="7772400" cy="499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975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F181-AD61-1D01-FC40-17F5AF58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F8F1-3783-B882-FAEB-A86823BA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-15609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a motor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7C983-FD24-45C4-A6A0-12D6942C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9D32B-5F55-CFF1-199E-62942368583C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7" name="Picture 6" descr="A list of text on a white background&#10;&#10;AI-generated content may be incorrect.">
            <a:extLst>
              <a:ext uri="{FF2B5EF4-FFF2-40B4-BE49-F238E27FC236}">
                <a16:creationId xmlns:a16="http://schemas.microsoft.com/office/drawing/2014/main" id="{49940C8B-939E-9353-C499-8D802DD6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9466"/>
            <a:ext cx="7772400" cy="499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12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211DB-2662-B178-9587-23F02C37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F033-DD88-B0B1-BCC5-4BF793A6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DcMotor</a:t>
            </a:r>
            <a:r>
              <a:rPr lang="en-US" sz="3600" dirty="0"/>
              <a:t>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D873D-29C7-BF2D-4991-AEC7105E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19793-DD9D-B9C5-CC9D-82BBDCB2547C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E326C-53F1-901A-19B4-ADB9FF3DB70D}"/>
              </a:ext>
            </a:extLst>
          </p:cNvPr>
          <p:cNvSpPr txBox="1"/>
          <p:nvPr/>
        </p:nvSpPr>
        <p:spPr>
          <a:xfrm>
            <a:off x="947451" y="1178805"/>
            <a:ext cx="202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class variable: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275EF-2B10-7461-D85C-5D2F482C7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51" y="1453825"/>
            <a:ext cx="7772400" cy="805751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732ADF-4191-50C3-1054-956827CF8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51" y="2259576"/>
            <a:ext cx="10476914" cy="20920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E657E2-47CA-514E-D4B3-533680B8A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98" y="4264263"/>
            <a:ext cx="9581158" cy="20920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034331-6B37-9E64-14E0-EA70CA2F3C83}"/>
              </a:ext>
            </a:extLst>
          </p:cNvPr>
          <p:cNvSpPr txBox="1"/>
          <p:nvPr/>
        </p:nvSpPr>
        <p:spPr>
          <a:xfrm>
            <a:off x="1635519" y="2138799"/>
            <a:ext cx="8386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init</a:t>
            </a:r>
            <a:r>
              <a:rPr lang="en-US" dirty="0"/>
              <a:t>(): 					Note: this should NEVER be in loop()</a:t>
            </a:r>
          </a:p>
        </p:txBody>
      </p:sp>
    </p:spTree>
    <p:extLst>
      <p:ext uri="{BB962C8B-B14F-4D97-AF65-F5344CB8AC3E}">
        <p14:creationId xmlns:p14="http://schemas.microsoft.com/office/powerpoint/2010/main" val="2011712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34AE4-8D8A-5CF6-80AB-6DEFAE5B3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8DF8-DB77-BB3A-557A-ABB78BD04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DcMotor</a:t>
            </a:r>
            <a:r>
              <a:rPr lang="en-US" sz="3600" dirty="0"/>
              <a:t>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2D4FA-E4E7-DFE0-0B4B-D3D06817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D3804-0440-172A-F381-FBB8C9257FEC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E3068-0F2C-FD96-FC79-A9DBD8E6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471" y="1462088"/>
            <a:ext cx="9307906" cy="4254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B5F090-6AB1-C945-AA9B-EB5141454B55}"/>
              </a:ext>
            </a:extLst>
          </p:cNvPr>
          <p:cNvSpPr txBox="1"/>
          <p:nvPr/>
        </p:nvSpPr>
        <p:spPr>
          <a:xfrm>
            <a:off x="130777" y="3606046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Ideal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BAFE5-A9A3-38AE-5B20-ED991F37EBE4}"/>
              </a:ext>
            </a:extLst>
          </p:cNvPr>
          <p:cNvSpPr txBox="1"/>
          <p:nvPr/>
        </p:nvSpPr>
        <p:spPr>
          <a:xfrm>
            <a:off x="130777" y="204942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Ideal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1398B2-658B-D650-DBF1-078F2747B32A}"/>
              </a:ext>
            </a:extLst>
          </p:cNvPr>
          <p:cNvSpPr txBox="1"/>
          <p:nvPr/>
        </p:nvSpPr>
        <p:spPr>
          <a:xfrm>
            <a:off x="233525" y="4378049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So on</a:t>
            </a:r>
          </a:p>
        </p:txBody>
      </p:sp>
    </p:spTree>
    <p:extLst>
      <p:ext uri="{BB962C8B-B14F-4D97-AF65-F5344CB8AC3E}">
        <p14:creationId xmlns:p14="http://schemas.microsoft.com/office/powerpoint/2010/main" val="728685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531D9-DDF1-2A03-5C69-8BBA4A72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A4CC-6C6B-AC83-4CF9-35E6D7EBB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DcMotor</a:t>
            </a:r>
            <a:r>
              <a:rPr lang="en-US" sz="3600" dirty="0"/>
              <a:t>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9DD65-9649-D4C4-70DC-5DDCE1B1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D6630-831D-23AF-D0E4-A7D19F3CA644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2139D-EA50-F04D-B3A3-860C850FE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94" y="1462088"/>
            <a:ext cx="9307906" cy="4254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86DC32-A80C-67E9-1332-A4430E700BE7}"/>
              </a:ext>
            </a:extLst>
          </p:cNvPr>
          <p:cNvSpPr txBox="1"/>
          <p:nvPr/>
        </p:nvSpPr>
        <p:spPr>
          <a:xfrm>
            <a:off x="0" y="3606046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Also Ideal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BDFD7-6C6D-1EF1-CC3F-27D40CB9D196}"/>
              </a:ext>
            </a:extLst>
          </p:cNvPr>
          <p:cNvSpPr txBox="1"/>
          <p:nvPr/>
        </p:nvSpPr>
        <p:spPr>
          <a:xfrm>
            <a:off x="0" y="204942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Ideal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3A18DA-29B9-5BED-CA07-DE91E79E78FB}"/>
              </a:ext>
            </a:extLst>
          </p:cNvPr>
          <p:cNvSpPr txBox="1"/>
          <p:nvPr/>
        </p:nvSpPr>
        <p:spPr>
          <a:xfrm>
            <a:off x="0" y="4378049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as ideal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45984-0835-9224-462A-26E9C861FABD}"/>
              </a:ext>
            </a:extLst>
          </p:cNvPr>
          <p:cNvSpPr txBox="1"/>
          <p:nvPr/>
        </p:nvSpPr>
        <p:spPr>
          <a:xfrm>
            <a:off x="10371424" y="3498632"/>
            <a:ext cx="18205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 </a:t>
            </a:r>
            <a:r>
              <a:rPr lang="en-US" dirty="0"/>
              <a:t>We like this mode because if you set two motors to the same speed then they have a better chance at being at the same speed than in any other mode.</a:t>
            </a:r>
          </a:p>
        </p:txBody>
      </p:sp>
    </p:spTree>
    <p:extLst>
      <p:ext uri="{BB962C8B-B14F-4D97-AF65-F5344CB8AC3E}">
        <p14:creationId xmlns:p14="http://schemas.microsoft.com/office/powerpoint/2010/main" val="524629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7B825-D810-DD77-D4E8-D67E6B79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9707-C854-7204-3FE4-89BCEEBFF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DcMotor</a:t>
            </a:r>
            <a:r>
              <a:rPr lang="en-US" sz="3600" dirty="0"/>
              <a:t>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AFBD3-15C4-30F9-C573-15C8FCB8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E1A4B-9DD0-D5CD-F086-3462D3FE7E23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A30EDA-4AE1-047F-9D6B-DBE5FB3B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94" y="1462088"/>
            <a:ext cx="9307906" cy="4254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94F293-52C7-2FC2-56B4-43054DCCAF63}"/>
              </a:ext>
            </a:extLst>
          </p:cNvPr>
          <p:cNvSpPr txBox="1"/>
          <p:nvPr/>
        </p:nvSpPr>
        <p:spPr>
          <a:xfrm>
            <a:off x="10443512" y="2049425"/>
            <a:ext cx="1820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ß"/>
            </a:pPr>
            <a:r>
              <a:rPr lang="en-US" dirty="0"/>
              <a:t>Should we use this for driving??</a:t>
            </a:r>
          </a:p>
          <a:p>
            <a:r>
              <a:rPr lang="en-US" dirty="0"/>
              <a:t>Why or why not?</a:t>
            </a:r>
          </a:p>
        </p:txBody>
      </p:sp>
    </p:spTree>
    <p:extLst>
      <p:ext uri="{BB962C8B-B14F-4D97-AF65-F5344CB8AC3E}">
        <p14:creationId xmlns:p14="http://schemas.microsoft.com/office/powerpoint/2010/main" val="2158704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98790-7632-779A-63B5-B1AE6CE5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14F7-5D74-9DB5-56FD-2D44C96D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DcMotor</a:t>
            </a:r>
            <a:r>
              <a:rPr lang="en-US" sz="3600" dirty="0"/>
              <a:t>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CDE11-CB03-D6E2-518D-E96BFBB7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3ED24-95B8-4096-0478-776D7EF7F25F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1DA680-B107-B26D-97B8-DC3CFD0D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15" y="2103437"/>
            <a:ext cx="10897170" cy="1325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23C871-9BBD-E40A-A89A-BEFE0E8EA757}"/>
              </a:ext>
            </a:extLst>
          </p:cNvPr>
          <p:cNvSpPr txBox="1"/>
          <p:nvPr/>
        </p:nvSpPr>
        <p:spPr>
          <a:xfrm>
            <a:off x="1013552" y="3811836"/>
            <a:ext cx="498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What’s the range? What do the values mean/do? </a:t>
            </a:r>
          </a:p>
        </p:txBody>
      </p:sp>
    </p:spTree>
    <p:extLst>
      <p:ext uri="{BB962C8B-B14F-4D97-AF65-F5344CB8AC3E}">
        <p14:creationId xmlns:p14="http://schemas.microsoft.com/office/powerpoint/2010/main" val="3375915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539F-D2F3-23D9-CF62-AED76AB57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B221-EEB7-7B97-8A62-9312524A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DcMotor</a:t>
            </a:r>
            <a:r>
              <a:rPr lang="en-US" sz="3600" dirty="0"/>
              <a:t>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9B7DA-2EF1-FA6D-D914-CA46C502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1F56-224D-7F70-51DF-761685900B82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F8545-9615-A65B-84B4-1CF26C4A1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15" y="2103437"/>
            <a:ext cx="10897170" cy="1325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5DC750-1268-A319-615B-1620644D7A9A}"/>
              </a:ext>
            </a:extLst>
          </p:cNvPr>
          <p:cNvSpPr txBox="1"/>
          <p:nvPr/>
        </p:nvSpPr>
        <p:spPr>
          <a:xfrm>
            <a:off x="1013552" y="3811836"/>
            <a:ext cx="498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What’s the range? What do the values mean/do? </a:t>
            </a:r>
          </a:p>
        </p:txBody>
      </p:sp>
    </p:spTree>
    <p:extLst>
      <p:ext uri="{BB962C8B-B14F-4D97-AF65-F5344CB8AC3E}">
        <p14:creationId xmlns:p14="http://schemas.microsoft.com/office/powerpoint/2010/main" val="1684827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4CC0B-CE9A-1F20-2862-66D21FA3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292E-F82E-EAF2-3C63-2DBBB53E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9BC2B-E4BE-B8C9-4E1A-836620AE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35984-A70A-F586-3D85-2EC66FEDC485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A75FA-F27A-5D3A-EAD1-1AF17B8F1F04}"/>
              </a:ext>
            </a:extLst>
          </p:cNvPr>
          <p:cNvSpPr txBox="1"/>
          <p:nvPr/>
        </p:nvSpPr>
        <p:spPr>
          <a:xfrm>
            <a:off x="130777" y="1885340"/>
            <a:ext cx="117391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Can you make an OP Mode that will run the </a:t>
            </a:r>
            <a:r>
              <a:rPr lang="en-US" sz="2800" dirty="0" err="1"/>
              <a:t>frontLeftMotor</a:t>
            </a:r>
            <a:r>
              <a:rPr lang="en-US" sz="2800" dirty="0"/>
              <a:t> at the speed of gampad1’s left Y stick?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Hint:</a:t>
            </a:r>
          </a:p>
          <a:p>
            <a:r>
              <a:rPr lang="en-US" sz="2800" dirty="0" err="1">
                <a:effectLst/>
              </a:rPr>
              <a:t>frontLeftMotor</a:t>
            </a:r>
            <a:r>
              <a:rPr lang="en-US" sz="2800" dirty="0">
                <a:effectLst/>
              </a:rPr>
              <a:t> = </a:t>
            </a:r>
            <a:r>
              <a:rPr lang="en-US" sz="2800" dirty="0" err="1">
                <a:effectLst/>
              </a:rPr>
              <a:t>hardwareMap.dcMotor.get</a:t>
            </a:r>
            <a:r>
              <a:rPr lang="en-US" sz="2800" dirty="0">
                <a:effectLst/>
              </a:rPr>
              <a:t>("</a:t>
            </a:r>
            <a:r>
              <a:rPr lang="en-US" sz="2800" dirty="0" err="1">
                <a:effectLst/>
              </a:rPr>
              <a:t>front_left_motor</a:t>
            </a:r>
            <a:r>
              <a:rPr lang="en-US" sz="2800" dirty="0">
                <a:effectLst/>
              </a:rPr>
              <a:t>");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24182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B7BE-BD72-7467-E95A-013B87FD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F9D3-9934-ADBA-99F2-76D24859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593C9-670B-ADCD-0969-FFA17568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BC4D0-60EE-D3F4-D62D-90160B4F4CE3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007CEB-27CF-25FE-396B-8753A3D40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087" y="0"/>
            <a:ext cx="9346894" cy="63279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DCFD9A-8436-5809-0323-D55B4E75F33D}"/>
              </a:ext>
            </a:extLst>
          </p:cNvPr>
          <p:cNvSpPr txBox="1"/>
          <p:nvPr/>
        </p:nvSpPr>
        <p:spPr>
          <a:xfrm>
            <a:off x="153318" y="2170322"/>
            <a:ext cx="2044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in Robot container you should usually not affect motors directly</a:t>
            </a:r>
          </a:p>
        </p:txBody>
      </p:sp>
    </p:spTree>
    <p:extLst>
      <p:ext uri="{BB962C8B-B14F-4D97-AF65-F5344CB8AC3E}">
        <p14:creationId xmlns:p14="http://schemas.microsoft.com/office/powerpoint/2010/main" val="1293958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AA50C-509C-7FE9-CFD0-9DB4CE3C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94D5-80C1-86D8-1062-51A0718B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25478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Servo in 30 seconds (Don’t time me)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8F5E-72B5-9C67-F155-7395AC7E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35C78-F3DE-12BC-78FD-9D66F2D7FF3A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FB4C2-FE57-0D59-2D3D-0618A77596AF}"/>
              </a:ext>
            </a:extLst>
          </p:cNvPr>
          <p:cNvSpPr txBox="1"/>
          <p:nvPr/>
        </p:nvSpPr>
        <p:spPr>
          <a:xfrm>
            <a:off x="2666082" y="1138922"/>
            <a:ext cx="68176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Servos are essentially the same as motors (but small)</a:t>
            </a:r>
          </a:p>
          <a:p>
            <a:r>
              <a:rPr lang="en-US" dirty="0"/>
              <a:t>They use the “Servo” class and you call </a:t>
            </a:r>
            <a:r>
              <a:rPr lang="en-US" dirty="0" err="1"/>
              <a:t>servo.setPosition</a:t>
            </a:r>
            <a:r>
              <a:rPr lang="en-US" dirty="0"/>
              <a:t>(double)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06BDE-D2E8-E0B2-14BE-342728B366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411"/>
          <a:stretch/>
        </p:blipFill>
        <p:spPr>
          <a:xfrm>
            <a:off x="1890847" y="1999515"/>
            <a:ext cx="7772400" cy="4578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25F13D-F819-733C-C39F-FBF18CD04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847" y="2608299"/>
            <a:ext cx="7772400" cy="4578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FE1EE0-9EE8-C6E5-F76D-40FD85769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847" y="3146005"/>
            <a:ext cx="7772400" cy="817541"/>
          </a:xfrm>
          <a:prstGeom prst="rect">
            <a:avLst/>
          </a:prstGeom>
        </p:spPr>
      </p:pic>
      <p:pic>
        <p:nvPicPr>
          <p:cNvPr id="15" name="Picture 14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BFAD8EC8-1158-F003-C7E7-FDB4729E8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847" y="3974786"/>
            <a:ext cx="7772400" cy="23091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E79C33-D8B4-45F4-1D60-72CCCC540B63}"/>
              </a:ext>
            </a:extLst>
          </p:cNvPr>
          <p:cNvSpPr txBox="1"/>
          <p:nvPr/>
        </p:nvSpPr>
        <p:spPr>
          <a:xfrm>
            <a:off x="10005646" y="2602523"/>
            <a:ext cx="21863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</a:t>
            </a:r>
          </a:p>
          <a:p>
            <a:r>
              <a:rPr lang="en-US" dirty="0"/>
              <a:t>For continuous servos + is clockwise and – counterclockwise.</a:t>
            </a:r>
          </a:p>
          <a:p>
            <a:r>
              <a:rPr lang="en-US" dirty="0"/>
              <a:t> 0 is stop.</a:t>
            </a:r>
          </a:p>
        </p:txBody>
      </p:sp>
    </p:spTree>
    <p:extLst>
      <p:ext uri="{BB962C8B-B14F-4D97-AF65-F5344CB8AC3E}">
        <p14:creationId xmlns:p14="http://schemas.microsoft.com/office/powerpoint/2010/main" val="1941395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32D8-16EF-401F-5477-34EA0B0A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025A-DE92-F8B6-E127-E00C375A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7" y="25478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Servo in 30 seconds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C900D-B201-0357-BC57-21F65CDE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9841D-F6E4-5948-102E-FE6BCCF9FEAB}"/>
              </a:ext>
            </a:extLst>
          </p:cNvPr>
          <p:cNvSpPr txBox="1"/>
          <p:nvPr/>
        </p:nvSpPr>
        <p:spPr>
          <a:xfrm>
            <a:off x="0" y="6488668"/>
            <a:ext cx="439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Control Fundamentals</a:t>
            </a:r>
          </a:p>
        </p:txBody>
      </p: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C5F7AF7F-65ED-86A2-B808-77D399D4B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675" y="1709831"/>
            <a:ext cx="7772400" cy="15497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F109FB-EA63-1249-8379-FEFE34C79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3429000"/>
            <a:ext cx="3467100" cy="2565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9EA3BA-521F-6DFE-653C-2E27EB03366A}"/>
              </a:ext>
            </a:extLst>
          </p:cNvPr>
          <p:cNvSpPr txBox="1"/>
          <p:nvPr/>
        </p:nvSpPr>
        <p:spPr>
          <a:xfrm>
            <a:off x="3774845" y="4429760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Chains :O 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42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AE03-85F7-CCF1-47E3-EF9A1C02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D016-11FC-8676-34ED-4CAA168EA8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Making a Robot Oriented Drive!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D3E9C-4F2F-C8C3-7B54-B300F2727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5407E-400C-8E5B-6A1A-19CE74CF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75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24AB-9EC4-B9EC-B01C-5324D3E9D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76B6-A9CB-AA50-01D8-7A9C36669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 it.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048AE-2D97-75D0-E032-3D09B763D9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That’s all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159A6-B1E3-81B9-2D1D-739712F0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3B51A-5B3C-1ADB-B818-FD1BDD59EBFC}"/>
              </a:ext>
            </a:extLst>
          </p:cNvPr>
          <p:cNvSpPr txBox="1"/>
          <p:nvPr/>
        </p:nvSpPr>
        <p:spPr>
          <a:xfrm>
            <a:off x="3499295" y="4593828"/>
            <a:ext cx="5146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We’ll talk about practice and a constants file after.</a:t>
            </a:r>
          </a:p>
          <a:p>
            <a:pPr algn="ctr"/>
            <a:r>
              <a:rPr lang="en-US" dirty="0"/>
              <a:t>(Reverse </a:t>
            </a:r>
            <a:r>
              <a:rPr lang="en-US" dirty="0" err="1">
                <a:effectLst/>
              </a:rPr>
              <a:t>frontLeftMotor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B531A-B625-6E65-6FA3-878672DFD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992" y="1812688"/>
            <a:ext cx="4445000" cy="2006600"/>
          </a:xfrm>
          <a:prstGeom prst="rect">
            <a:avLst/>
          </a:prstGeom>
        </p:spPr>
      </p:pic>
      <p:pic>
        <p:nvPicPr>
          <p:cNvPr id="1026" name="Picture 2" descr="Driving Mecanum Wheels Omnidirectional Robots">
            <a:extLst>
              <a:ext uri="{FF2B5EF4-FFF2-40B4-BE49-F238E27FC236}">
                <a16:creationId xmlns:a16="http://schemas.microsoft.com/office/drawing/2014/main" id="{A4625B05-DBA5-A642-7873-73B027482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95" y="1122363"/>
            <a:ext cx="4899744" cy="271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CEB249-9E1F-196B-C801-AEBE78C28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647" y="5924306"/>
            <a:ext cx="7772400" cy="7971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255317-FD6D-D589-FB16-ACB035FC15D9}"/>
              </a:ext>
            </a:extLst>
          </p:cNvPr>
          <p:cNvSpPr txBox="1"/>
          <p:nvPr/>
        </p:nvSpPr>
        <p:spPr>
          <a:xfrm>
            <a:off x="232493" y="5892581"/>
            <a:ext cx="2153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might also help</a:t>
            </a:r>
          </a:p>
          <a:p>
            <a:pPr algn="r"/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556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DD2A0-671A-A19B-DF5E-2538D142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2910D-75B6-3174-7DBC-08E35DF5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32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FBEC2-8567-7F00-3223-46C0660652CF}"/>
              </a:ext>
            </a:extLst>
          </p:cNvPr>
          <p:cNvSpPr txBox="1"/>
          <p:nvPr/>
        </p:nvSpPr>
        <p:spPr>
          <a:xfrm>
            <a:off x="2479433" y="136525"/>
            <a:ext cx="723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file solution (worse but you haven’t really learned what’s better yet)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EB2353-1BDA-6B5E-A186-370FD3EA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607"/>
            <a:ext cx="6778003" cy="46161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F4DC8E-D3E0-7723-AFF2-6D6878165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058" y="852622"/>
            <a:ext cx="5465942" cy="41941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380395-7575-9D5C-2D8B-8C79A14D1CC0}"/>
              </a:ext>
            </a:extLst>
          </p:cNvPr>
          <p:cNvSpPr txBox="1"/>
          <p:nvPr/>
        </p:nvSpPr>
        <p:spPr>
          <a:xfrm>
            <a:off x="8195845" y="1815422"/>
            <a:ext cx="357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 </a:t>
            </a:r>
            <a:r>
              <a:rPr lang="en-US" dirty="0">
                <a:solidFill>
                  <a:schemeClr val="bg1"/>
                </a:solidFill>
              </a:rPr>
              <a:t>Should call </a:t>
            </a:r>
            <a:r>
              <a:rPr lang="en-US" dirty="0" err="1">
                <a:solidFill>
                  <a:schemeClr val="bg1"/>
                </a:solidFill>
              </a:rPr>
              <a:t>setPowers</a:t>
            </a:r>
            <a:r>
              <a:rPr lang="en-US" dirty="0">
                <a:solidFill>
                  <a:schemeClr val="bg1"/>
                </a:solidFill>
              </a:rPr>
              <a:t> with all 0</a:t>
            </a:r>
          </a:p>
        </p:txBody>
      </p:sp>
    </p:spTree>
    <p:extLst>
      <p:ext uri="{BB962C8B-B14F-4D97-AF65-F5344CB8AC3E}">
        <p14:creationId xmlns:p14="http://schemas.microsoft.com/office/powerpoint/2010/main" val="140396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0A7A7-F5A4-811E-5424-A6F837D0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D1D00-9847-73E9-C14A-9AB3D2F0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F1ADAF-9AC1-71A5-4B44-1BAB5B745D42}"/>
              </a:ext>
            </a:extLst>
          </p:cNvPr>
          <p:cNvSpPr txBox="1"/>
          <p:nvPr/>
        </p:nvSpPr>
        <p:spPr>
          <a:xfrm>
            <a:off x="2479433" y="136525"/>
            <a:ext cx="3593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 file solution – </a:t>
            </a:r>
            <a:r>
              <a:rPr lang="en-US" dirty="0" err="1"/>
              <a:t>Constants.java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CDE7C2-F21F-0FCC-1714-BEBF1806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857"/>
            <a:ext cx="10005646" cy="53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64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21B4-F95E-86EC-C05D-C1AEEFFD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A6F8E-69CA-E2E7-7F47-D505249F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C6EF25-AB01-D38E-59D8-6B4E77ED1F75}"/>
              </a:ext>
            </a:extLst>
          </p:cNvPr>
          <p:cNvSpPr txBox="1"/>
          <p:nvPr/>
        </p:nvSpPr>
        <p:spPr>
          <a:xfrm>
            <a:off x="2479433" y="136525"/>
            <a:ext cx="419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 file solution – </a:t>
            </a:r>
            <a:r>
              <a:rPr lang="en-US" dirty="0" err="1"/>
              <a:t>MechanumDrive.java</a:t>
            </a:r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289FE1C-5744-5757-19A6-BC8839047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505857"/>
            <a:ext cx="7772400" cy="5370021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24CCA77-944C-B2D5-E7BD-D294203A8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7570" y="505857"/>
            <a:ext cx="5462955" cy="34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02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0BC17-4BB0-215C-8D78-8C276D440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04D13-E234-EAC0-8D50-8706427E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35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A38020-B9E4-9C0B-EF62-9A941D05A3B6}"/>
              </a:ext>
            </a:extLst>
          </p:cNvPr>
          <p:cNvSpPr txBox="1"/>
          <p:nvPr/>
        </p:nvSpPr>
        <p:spPr>
          <a:xfrm>
            <a:off x="2479433" y="136525"/>
            <a:ext cx="4131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 file solution – </a:t>
            </a:r>
            <a:r>
              <a:rPr lang="en-US" dirty="0" err="1"/>
              <a:t>RobotContainer.java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B30C09-272B-F549-B348-0ED168A52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857"/>
            <a:ext cx="7772400" cy="646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79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1956</TotalTime>
  <Words>755</Words>
  <Application>Microsoft Macintosh PowerPoint</Application>
  <PresentationFormat>Widescreen</PresentationFormat>
  <Paragraphs>155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Wingdings</vt:lpstr>
      <vt:lpstr>Office Theme</vt:lpstr>
      <vt:lpstr>Java for FTC</vt:lpstr>
      <vt:lpstr>Overview</vt:lpstr>
      <vt:lpstr>Code Organization and  Best Practices</vt:lpstr>
      <vt:lpstr>Inheritance</vt:lpstr>
      <vt:lpstr>Inheritance</vt:lpstr>
      <vt:lpstr>Inheritance</vt:lpstr>
      <vt:lpstr>Javadoc and proper documentation</vt:lpstr>
      <vt:lpstr>Session 2 Project</vt:lpstr>
      <vt:lpstr>Creating a gamepad test program</vt:lpstr>
      <vt:lpstr>(Answers) Creating a gamepad test program</vt:lpstr>
      <vt:lpstr>Motor Control Fundamentals</vt:lpstr>
      <vt:lpstr>Adding a motor</vt:lpstr>
      <vt:lpstr>Adding a motor</vt:lpstr>
      <vt:lpstr>Adding a motor</vt:lpstr>
      <vt:lpstr>Adding a motor</vt:lpstr>
      <vt:lpstr>Adding a motor</vt:lpstr>
      <vt:lpstr>Adding a motor</vt:lpstr>
      <vt:lpstr>Adding a motor</vt:lpstr>
      <vt:lpstr>Adding a motor</vt:lpstr>
      <vt:lpstr>The DcMotor class</vt:lpstr>
      <vt:lpstr>The DcMotor class</vt:lpstr>
      <vt:lpstr>The DcMotor class</vt:lpstr>
      <vt:lpstr>The DcMotor class</vt:lpstr>
      <vt:lpstr>The DcMotor class</vt:lpstr>
      <vt:lpstr>The DcMotor class</vt:lpstr>
      <vt:lpstr>A program</vt:lpstr>
      <vt:lpstr>A program</vt:lpstr>
      <vt:lpstr>Servo in 30 seconds (Don’t time me)</vt:lpstr>
      <vt:lpstr>Servo in 30 seconds</vt:lpstr>
      <vt:lpstr>Making a Robot Oriented Drive!</vt:lpstr>
      <vt:lpstr>Do it.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Allen, Matthew</dc:creator>
  <cp:lastModifiedBy>Allen, Matthew</cp:lastModifiedBy>
  <cp:revision>82</cp:revision>
  <dcterms:created xsi:type="dcterms:W3CDTF">2025-03-03T17:48:21Z</dcterms:created>
  <dcterms:modified xsi:type="dcterms:W3CDTF">2025-04-21T22:49:18Z</dcterms:modified>
</cp:coreProperties>
</file>